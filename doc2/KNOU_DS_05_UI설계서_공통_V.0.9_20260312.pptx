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475" r:id="rId1"/>
  </p:sldMasterIdLst>
  <p:notesMasterIdLst>
    <p:notesMasterId r:id="rId42"/>
  </p:notesMasterIdLst>
  <p:handoutMasterIdLst>
    <p:handoutMasterId r:id="rId43"/>
  </p:handoutMasterIdLst>
  <p:sldIdLst>
    <p:sldId id="260" r:id="rId2"/>
    <p:sldId id="627" r:id="rId3"/>
    <p:sldId id="628" r:id="rId4"/>
    <p:sldId id="462" r:id="rId5"/>
    <p:sldId id="682" r:id="rId6"/>
    <p:sldId id="654" r:id="rId7"/>
    <p:sldId id="677" r:id="rId8"/>
    <p:sldId id="678" r:id="rId9"/>
    <p:sldId id="679" r:id="rId10"/>
    <p:sldId id="680" r:id="rId11"/>
    <p:sldId id="681" r:id="rId12"/>
    <p:sldId id="686" r:id="rId13"/>
    <p:sldId id="683" r:id="rId14"/>
    <p:sldId id="684" r:id="rId15"/>
    <p:sldId id="685" r:id="rId16"/>
    <p:sldId id="690" r:id="rId17"/>
    <p:sldId id="687" r:id="rId18"/>
    <p:sldId id="688" r:id="rId19"/>
    <p:sldId id="689" r:id="rId20"/>
    <p:sldId id="691" r:id="rId21"/>
    <p:sldId id="655" r:id="rId22"/>
    <p:sldId id="692" r:id="rId23"/>
    <p:sldId id="693" r:id="rId24"/>
    <p:sldId id="694" r:id="rId25"/>
    <p:sldId id="695" r:id="rId26"/>
    <p:sldId id="696" r:id="rId27"/>
    <p:sldId id="699" r:id="rId28"/>
    <p:sldId id="700" r:id="rId29"/>
    <p:sldId id="701" r:id="rId30"/>
    <p:sldId id="702" r:id="rId31"/>
    <p:sldId id="697" r:id="rId32"/>
    <p:sldId id="698" r:id="rId33"/>
    <p:sldId id="666" r:id="rId34"/>
    <p:sldId id="667" r:id="rId35"/>
    <p:sldId id="670" r:id="rId36"/>
    <p:sldId id="668" r:id="rId37"/>
    <p:sldId id="669" r:id="rId38"/>
    <p:sldId id="662" r:id="rId39"/>
    <p:sldId id="663" r:id="rId40"/>
    <p:sldId id="664" r:id="rId41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7509C5B-E23C-42F2-BF56-6FF5C9BAACA4}">
          <p14:sldIdLst>
            <p14:sldId id="260"/>
            <p14:sldId id="627"/>
            <p14:sldId id="628"/>
            <p14:sldId id="462"/>
            <p14:sldId id="682"/>
            <p14:sldId id="654"/>
            <p14:sldId id="677"/>
            <p14:sldId id="678"/>
            <p14:sldId id="679"/>
            <p14:sldId id="680"/>
            <p14:sldId id="681"/>
            <p14:sldId id="686"/>
            <p14:sldId id="683"/>
            <p14:sldId id="684"/>
            <p14:sldId id="685"/>
            <p14:sldId id="690"/>
            <p14:sldId id="687"/>
            <p14:sldId id="688"/>
            <p14:sldId id="689"/>
            <p14:sldId id="691"/>
            <p14:sldId id="655"/>
            <p14:sldId id="692"/>
            <p14:sldId id="693"/>
            <p14:sldId id="694"/>
            <p14:sldId id="695"/>
            <p14:sldId id="696"/>
            <p14:sldId id="699"/>
            <p14:sldId id="700"/>
            <p14:sldId id="701"/>
            <p14:sldId id="702"/>
            <p14:sldId id="697"/>
            <p14:sldId id="698"/>
            <p14:sldId id="666"/>
            <p14:sldId id="667"/>
            <p14:sldId id="670"/>
            <p14:sldId id="668"/>
            <p14:sldId id="669"/>
            <p14:sldId id="662"/>
            <p14:sldId id="663"/>
            <p14:sldId id="664"/>
          </p14:sldIdLst>
        </p14:section>
      </p14:sectionLst>
    </p:ext>
    <p:ext uri="{EFAFB233-063F-42B5-8137-9DF3F51BA10A}">
      <p15:sldGuideLst xmlns:p15="http://schemas.microsoft.com/office/powerpoint/2012/main" xmlns="">
        <p15:guide id="5" orient="horz" pos="391" userDrawn="1">
          <p15:clr>
            <a:srgbClr val="A4A3A4"/>
          </p15:clr>
        </p15:guide>
        <p15:guide id="6" pos="4050" userDrawn="1">
          <p15:clr>
            <a:srgbClr val="A4A3A4"/>
          </p15:clr>
        </p15:guide>
        <p15:guide id="7" pos="4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6EE"/>
    <a:srgbClr val="008FFA"/>
    <a:srgbClr val="435C7A"/>
    <a:srgbClr val="E1FFFB"/>
    <a:srgbClr val="E1F2FF"/>
    <a:srgbClr val="B9E1FF"/>
    <a:srgbClr val="9C5BCD"/>
    <a:srgbClr val="6786AD"/>
    <a:srgbClr val="4E6A8C"/>
    <a:srgbClr val="B1C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674" y="-30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A3FC-922A-4EA6-8220-C7D31A08AE20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60E98-F2DF-4BA5-9CEA-C7A72CA67F9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351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9C0FC0A-8EC4-45F8-BAE3-5FBDF274FF84}" type="datetimeFigureOut">
              <a:rPr lang="ko-KR" altLang="en-US"/>
              <a:pPr>
                <a:defRPr/>
              </a:pPr>
              <a:t>2026-03-13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8A35F2-6331-49D4-8813-E163F37982F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504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897F6F4-9267-44EB-B43D-D3AB4AFE9860}" type="slidenum">
              <a:rPr lang="ko-KR" altLang="en-US" smtClean="0"/>
              <a:pPr eaLnBrk="1" hangingPunct="1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7058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A35F2-6331-49D4-8813-E163F37982F4}" type="slidenum">
              <a:rPr lang="ko-KR" altLang="en-US" smtClean="0"/>
              <a:pPr>
                <a:defRPr/>
              </a:pPr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938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3"/>
          <p:cNvSpPr txBox="1">
            <a:spLocks/>
          </p:cNvSpPr>
          <p:nvPr/>
        </p:nvSpPr>
        <p:spPr>
          <a:xfrm>
            <a:off x="4017666" y="6556803"/>
            <a:ext cx="1870670" cy="221109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D4943F0-60B5-4824-9958-16208A33E088}" type="slidenum">
              <a:rPr lang="ko-KR" altLang="en-US" sz="65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 algn="ctr"/>
              <a:t>‹#›</a:t>
            </a:fld>
            <a:endParaRPr lang="ko-KR" alt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6B388579-6B4F-4842-9C9B-B8D0F431CD6C}"/>
              </a:ext>
            </a:extLst>
          </p:cNvPr>
          <p:cNvSpPr/>
          <p:nvPr/>
        </p:nvSpPr>
        <p:spPr>
          <a:xfrm>
            <a:off x="528357" y="2779918"/>
            <a:ext cx="2976563" cy="595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605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987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4515" y="2138606"/>
            <a:ext cx="6942771" cy="47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ko-KR" altLang="en-US" sz="2400" b="1" kern="12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84515" y="2655962"/>
            <a:ext cx="6934200" cy="312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marR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 lang="ko-KR" altLang="en-US"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356" y="368660"/>
            <a:ext cx="1352550" cy="46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66" y="369987"/>
            <a:ext cx="28765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25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987118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21" name="그룹 20"/>
          <p:cNvGrpSpPr/>
          <p:nvPr userDrawn="1"/>
        </p:nvGrpSpPr>
        <p:grpSpPr>
          <a:xfrm>
            <a:off x="406970" y="1836295"/>
            <a:ext cx="9082533" cy="8865513"/>
            <a:chOff x="406971" y="9045624"/>
            <a:chExt cx="7671600" cy="2318315"/>
          </a:xfrm>
          <a:solidFill>
            <a:schemeClr val="bg1">
              <a:lumMod val="95000"/>
            </a:schemeClr>
          </a:solidFill>
        </p:grpSpPr>
        <p:sp>
          <p:nvSpPr>
            <p:cNvPr id="22" name="직사각형 21"/>
            <p:cNvSpPr/>
            <p:nvPr/>
          </p:nvSpPr>
          <p:spPr>
            <a:xfrm>
              <a:off x="406971" y="9045624"/>
              <a:ext cx="7671600" cy="230425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cxnSp>
          <p:nvCxnSpPr>
            <p:cNvPr id="23" name="직선 연결선 22"/>
            <p:cNvCxnSpPr/>
            <p:nvPr/>
          </p:nvCxnSpPr>
          <p:spPr>
            <a:xfrm>
              <a:off x="406971" y="9045624"/>
              <a:ext cx="0" cy="2304256"/>
            </a:xfrm>
            <a:prstGeom prst="line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8078033" y="9059683"/>
              <a:ext cx="0" cy="2304256"/>
            </a:xfrm>
            <a:prstGeom prst="line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6741623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196418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77069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4004782" y="1556792"/>
            <a:ext cx="2520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이전로그인 </a:t>
            </a:r>
            <a:r>
              <a:rPr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2025.07.18 15:17 (</a:t>
            </a:r>
            <a:r>
              <a:rPr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211.157.234.211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" name="그룹 43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45" name="타원 44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직사각형 45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그룹 46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48" name="타원 47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직사각형 48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그룹 50"/>
          <p:cNvGrpSpPr/>
          <p:nvPr userDrawn="1"/>
        </p:nvGrpSpPr>
        <p:grpSpPr>
          <a:xfrm>
            <a:off x="498029" y="1573746"/>
            <a:ext cx="1928786" cy="215444"/>
            <a:chOff x="5267482" y="2339935"/>
            <a:chExt cx="1928786" cy="215444"/>
          </a:xfrm>
        </p:grpSpPr>
        <p:sp>
          <p:nvSpPr>
            <p:cNvPr id="52" name="TextBox 51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강의실 홈</a:t>
              </a:r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3" name="Picture 3"/>
            <p:cNvPicPr preferRelativeResize="0"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그룹 2"/>
          <p:cNvGrpSpPr/>
          <p:nvPr userDrawn="1"/>
        </p:nvGrpSpPr>
        <p:grpSpPr>
          <a:xfrm>
            <a:off x="75506" y="1537742"/>
            <a:ext cx="324000" cy="324000"/>
            <a:chOff x="414400" y="1537742"/>
            <a:chExt cx="324000" cy="324000"/>
          </a:xfrm>
        </p:grpSpPr>
        <p:sp>
          <p:nvSpPr>
            <p:cNvPr id="54" name="직사각형 53"/>
            <p:cNvSpPr/>
            <p:nvPr userDrawn="1"/>
          </p:nvSpPr>
          <p:spPr>
            <a:xfrm>
              <a:off x="414400" y="1537742"/>
              <a:ext cx="324000" cy="32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55" name="Picture 2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31" y="1627254"/>
              <a:ext cx="209550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모서리가 둥근 직사각형 30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33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5139413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58010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77069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60" name="그룹 59"/>
          <p:cNvGrpSpPr/>
          <p:nvPr userDrawn="1"/>
        </p:nvGrpSpPr>
        <p:grpSpPr>
          <a:xfrm>
            <a:off x="498029" y="1573746"/>
            <a:ext cx="1928786" cy="215444"/>
            <a:chOff x="5267482" y="2339935"/>
            <a:chExt cx="1928786" cy="215444"/>
          </a:xfrm>
        </p:grpSpPr>
        <p:sp>
          <p:nvSpPr>
            <p:cNvPr id="62" name="TextBox 61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강의실 홈</a:t>
              </a:r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3" name="Picture 3"/>
            <p:cNvPicPr preferRelativeResize="0"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6" name="그룹 65"/>
          <p:cNvGrpSpPr/>
          <p:nvPr userDrawn="1"/>
        </p:nvGrpSpPr>
        <p:grpSpPr>
          <a:xfrm>
            <a:off x="75506" y="1537742"/>
            <a:ext cx="324000" cy="324000"/>
            <a:chOff x="414400" y="1537742"/>
            <a:chExt cx="324000" cy="324000"/>
          </a:xfrm>
        </p:grpSpPr>
        <p:sp>
          <p:nvSpPr>
            <p:cNvPr id="67" name="직사각형 66"/>
            <p:cNvSpPr/>
            <p:nvPr userDrawn="1"/>
          </p:nvSpPr>
          <p:spPr>
            <a:xfrm>
              <a:off x="414400" y="1537742"/>
              <a:ext cx="324000" cy="32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68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31" y="1627254"/>
              <a:ext cx="209550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직사각형 24"/>
          <p:cNvSpPr/>
          <p:nvPr userDrawn="1"/>
        </p:nvSpPr>
        <p:spPr>
          <a:xfrm>
            <a:off x="4004782" y="1556792"/>
            <a:ext cx="2520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이전로그인 </a:t>
            </a:r>
            <a:r>
              <a:rPr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2025.07.18 15:17 (</a:t>
            </a:r>
            <a:r>
              <a:rPr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211.157.234.211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6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그룹 27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29" name="타원 28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그룹 30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32" name="타원 31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모서리가 둥근 직사각형 33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35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1369090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181205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77069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51" name="그룹 50"/>
          <p:cNvGrpSpPr/>
          <p:nvPr userDrawn="1"/>
        </p:nvGrpSpPr>
        <p:grpSpPr>
          <a:xfrm>
            <a:off x="498029" y="1573746"/>
            <a:ext cx="1928786" cy="215444"/>
            <a:chOff x="5267482" y="2339935"/>
            <a:chExt cx="1928786" cy="215444"/>
          </a:xfrm>
        </p:grpSpPr>
        <p:sp>
          <p:nvSpPr>
            <p:cNvPr id="52" name="TextBox 51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강의실 홈</a:t>
              </a:r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3" name="Picture 3"/>
            <p:cNvPicPr preferRelativeResize="0"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56" name="그룹 55"/>
          <p:cNvGrpSpPr/>
          <p:nvPr userDrawn="1"/>
        </p:nvGrpSpPr>
        <p:grpSpPr>
          <a:xfrm>
            <a:off x="75506" y="1537742"/>
            <a:ext cx="324000" cy="324000"/>
            <a:chOff x="414400" y="1537742"/>
            <a:chExt cx="324000" cy="324000"/>
          </a:xfrm>
        </p:grpSpPr>
        <p:sp>
          <p:nvSpPr>
            <p:cNvPr id="57" name="직사각형 56"/>
            <p:cNvSpPr/>
            <p:nvPr userDrawn="1"/>
          </p:nvSpPr>
          <p:spPr>
            <a:xfrm>
              <a:off x="414400" y="1537742"/>
              <a:ext cx="324000" cy="32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58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31" y="1627254"/>
              <a:ext cx="209550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직사각형 24"/>
          <p:cNvSpPr/>
          <p:nvPr userDrawn="1"/>
        </p:nvSpPr>
        <p:spPr>
          <a:xfrm>
            <a:off x="4004782" y="1556792"/>
            <a:ext cx="2520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이전로그인 </a:t>
            </a:r>
            <a:r>
              <a:rPr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2025.07.18 15:17 (</a:t>
            </a:r>
            <a:r>
              <a:rPr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211.157.234.211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6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그룹 27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29" name="타원 28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그룹 30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32" name="타원 31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모서리가 둥근 직사각형 33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35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299094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301221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9507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TextBox 65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50" name="직사각형 49"/>
          <p:cNvSpPr/>
          <p:nvPr userDrawn="1"/>
        </p:nvSpPr>
        <p:spPr>
          <a:xfrm>
            <a:off x="6155990" y="1609750"/>
            <a:ext cx="1440000" cy="18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강의실 바로가기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 userDrawn="1"/>
        </p:nvSpPr>
        <p:spPr>
          <a:xfrm>
            <a:off x="5111874" y="1607819"/>
            <a:ext cx="1015341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1" name="그룹 120"/>
          <p:cNvGrpSpPr/>
          <p:nvPr userDrawn="1"/>
        </p:nvGrpSpPr>
        <p:grpSpPr>
          <a:xfrm>
            <a:off x="498029" y="1573746"/>
            <a:ext cx="1928786" cy="215444"/>
            <a:chOff x="5267482" y="2339935"/>
            <a:chExt cx="1928786" cy="215444"/>
          </a:xfrm>
        </p:grpSpPr>
        <p:sp>
          <p:nvSpPr>
            <p:cNvPr id="122" name="TextBox 121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과목홈</a:t>
              </a:r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23" name="Picture 3"/>
            <p:cNvPicPr preferRelativeResize="0"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6" name="그룹 125"/>
          <p:cNvGrpSpPr/>
          <p:nvPr userDrawn="1"/>
        </p:nvGrpSpPr>
        <p:grpSpPr>
          <a:xfrm>
            <a:off x="75506" y="1537742"/>
            <a:ext cx="324000" cy="324000"/>
            <a:chOff x="414400" y="1537742"/>
            <a:chExt cx="324000" cy="324000"/>
          </a:xfrm>
        </p:grpSpPr>
        <p:sp>
          <p:nvSpPr>
            <p:cNvPr id="127" name="직사각형 126"/>
            <p:cNvSpPr/>
            <p:nvPr userDrawn="1"/>
          </p:nvSpPr>
          <p:spPr>
            <a:xfrm>
              <a:off x="414400" y="1537742"/>
              <a:ext cx="324000" cy="32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28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31" y="1627254"/>
              <a:ext cx="209550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8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4" name="그룹 53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55" name="타원 54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직사각형 59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그룹 70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73" name="타원 72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76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0739104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060139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9507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16896" y="2577005"/>
            <a:ext cx="533400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직선 연결선 52"/>
          <p:cNvCxnSpPr/>
          <p:nvPr userDrawn="1"/>
        </p:nvCxnSpPr>
        <p:spPr>
          <a:xfrm>
            <a:off x="416496" y="2580959"/>
            <a:ext cx="7650000" cy="9114"/>
          </a:xfrm>
          <a:prstGeom prst="line">
            <a:avLst/>
          </a:prstGeom>
          <a:ln w="3810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 userDrawn="1"/>
        </p:nvSpPr>
        <p:spPr>
          <a:xfrm>
            <a:off x="416496" y="2140285"/>
            <a:ext cx="7642373" cy="426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6" name="TextBox 65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67" name="그룹 66"/>
          <p:cNvGrpSpPr/>
          <p:nvPr userDrawn="1"/>
        </p:nvGrpSpPr>
        <p:grpSpPr>
          <a:xfrm>
            <a:off x="498029" y="1916832"/>
            <a:ext cx="1928786" cy="215444"/>
            <a:chOff x="5267482" y="2339935"/>
            <a:chExt cx="1928786" cy="215444"/>
          </a:xfrm>
        </p:grpSpPr>
        <p:sp>
          <p:nvSpPr>
            <p:cNvPr id="68" name="TextBox 67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대시보드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9" name="Picture 3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" name="직사각형 71"/>
          <p:cNvSpPr/>
          <p:nvPr userDrawn="1"/>
        </p:nvSpPr>
        <p:spPr>
          <a:xfrm>
            <a:off x="414400" y="1895090"/>
            <a:ext cx="76536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3" name="그룹 2"/>
          <p:cNvGrpSpPr/>
          <p:nvPr userDrawn="1"/>
        </p:nvGrpSpPr>
        <p:grpSpPr>
          <a:xfrm>
            <a:off x="6566061" y="2271792"/>
            <a:ext cx="720000" cy="215444"/>
            <a:chOff x="6138205" y="3219833"/>
            <a:chExt cx="720000" cy="215444"/>
          </a:xfrm>
        </p:grpSpPr>
        <p:sp>
          <p:nvSpPr>
            <p:cNvPr id="113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6194169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학습독려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1" name="그룹 120"/>
          <p:cNvGrpSpPr/>
          <p:nvPr userDrawn="1"/>
        </p:nvGrpSpPr>
        <p:grpSpPr>
          <a:xfrm>
            <a:off x="7315627" y="2264935"/>
            <a:ext cx="720000" cy="215444"/>
            <a:chOff x="6138205" y="3219833"/>
            <a:chExt cx="720000" cy="215444"/>
          </a:xfrm>
        </p:grpSpPr>
        <p:sp>
          <p:nvSpPr>
            <p:cNvPr id="122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6194170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평가기준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4" name="그룹 123"/>
          <p:cNvGrpSpPr/>
          <p:nvPr userDrawn="1"/>
        </p:nvGrpSpPr>
        <p:grpSpPr>
          <a:xfrm>
            <a:off x="5812904" y="2264935"/>
            <a:ext cx="720000" cy="215444"/>
            <a:chOff x="6138205" y="3219833"/>
            <a:chExt cx="720000" cy="215444"/>
          </a:xfrm>
        </p:grpSpPr>
        <p:sp>
          <p:nvSpPr>
            <p:cNvPr id="125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6142875" y="3219833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강의계획서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4" name="그룹 63"/>
          <p:cNvGrpSpPr/>
          <p:nvPr userDrawn="1"/>
        </p:nvGrpSpPr>
        <p:grpSpPr>
          <a:xfrm>
            <a:off x="1712640" y="2140285"/>
            <a:ext cx="3249935" cy="426135"/>
            <a:chOff x="420885" y="2140285"/>
            <a:chExt cx="3249935" cy="426135"/>
          </a:xfrm>
        </p:grpSpPr>
        <p:sp>
          <p:nvSpPr>
            <p:cNvPr id="65" name="직사각형 64"/>
            <p:cNvSpPr/>
            <p:nvPr userDrawn="1"/>
          </p:nvSpPr>
          <p:spPr>
            <a:xfrm>
              <a:off x="420885" y="2140285"/>
              <a:ext cx="18678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[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사회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]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유럽 문화 탐방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(1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반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  <p:sp>
          <p:nvSpPr>
            <p:cNvPr id="74" name="직사각형 73"/>
            <p:cNvSpPr/>
            <p:nvPr userDrawn="1"/>
          </p:nvSpPr>
          <p:spPr>
            <a:xfrm>
              <a:off x="426021" y="2350976"/>
              <a:ext cx="324479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rgbClr val="00B050"/>
                  </a:solidFill>
                  <a:latin typeface="+mn-ea"/>
                  <a:ea typeface="+mn-ea"/>
                </a:rPr>
                <a:t>ONLINE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| </a:t>
              </a:r>
              <a:r>
                <a:rPr lang="ko-KR" altLang="en-US" sz="800" b="1" baseline="0" dirty="0" smtClean="0">
                  <a:solidFill>
                    <a:srgbClr val="0070C0"/>
                  </a:solidFill>
                  <a:latin typeface="+mn-ea"/>
                  <a:ea typeface="+mn-ea"/>
                </a:rPr>
                <a:t>학기제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개설학과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사회인문학과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이수구분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전공필수 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55" name="직사각형 154"/>
          <p:cNvSpPr/>
          <p:nvPr userDrawn="1"/>
        </p:nvSpPr>
        <p:spPr>
          <a:xfrm>
            <a:off x="416496" y="7856748"/>
            <a:ext cx="1275904" cy="7240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2" name="직사각형 161"/>
          <p:cNvSpPr/>
          <p:nvPr userDrawn="1"/>
        </p:nvSpPr>
        <p:spPr>
          <a:xfrm>
            <a:off x="415299" y="8744165"/>
            <a:ext cx="1275426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7" name="직사각형 166"/>
          <p:cNvSpPr/>
          <p:nvPr userDrawn="1"/>
        </p:nvSpPr>
        <p:spPr>
          <a:xfrm>
            <a:off x="415459" y="8008937"/>
            <a:ext cx="1275266" cy="12167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•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 관리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•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조교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운영자 관리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•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알림 발신 설정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•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복습기간 설정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•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임계값 기준 설정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•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게시판 관리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2" name="직사각형 171"/>
          <p:cNvSpPr/>
          <p:nvPr userDrawn="1"/>
        </p:nvSpPr>
        <p:spPr>
          <a:xfrm>
            <a:off x="414400" y="3793485"/>
            <a:ext cx="1278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8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076" y="1515415"/>
            <a:ext cx="73674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" name="직사각형 187"/>
          <p:cNvSpPr/>
          <p:nvPr userDrawn="1"/>
        </p:nvSpPr>
        <p:spPr>
          <a:xfrm>
            <a:off x="2569017" y="1605021"/>
            <a:ext cx="1285850" cy="1921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 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           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3" name="그룹 72"/>
          <p:cNvGrpSpPr/>
          <p:nvPr userDrawn="1"/>
        </p:nvGrpSpPr>
        <p:grpSpPr>
          <a:xfrm>
            <a:off x="4825070" y="2267347"/>
            <a:ext cx="1042273" cy="215444"/>
            <a:chOff x="6076950" y="3219833"/>
            <a:chExt cx="1042273" cy="215444"/>
          </a:xfrm>
        </p:grpSpPr>
        <p:sp>
          <p:nvSpPr>
            <p:cNvPr id="75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90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6076950" y="3219833"/>
              <a:ext cx="104227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이전과목 가져오기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41" name="직사각형 140"/>
          <p:cNvSpPr/>
          <p:nvPr userDrawn="1"/>
        </p:nvSpPr>
        <p:spPr>
          <a:xfrm>
            <a:off x="6349927" y="1928308"/>
            <a:ext cx="1665509" cy="18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강의실 바로가기   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직사각형 141"/>
          <p:cNvSpPr/>
          <p:nvPr userDrawn="1"/>
        </p:nvSpPr>
        <p:spPr>
          <a:xfrm>
            <a:off x="5305811" y="1935902"/>
            <a:ext cx="1015341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Picture 3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9" name="그룹 78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80" name="타원 79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직사각형 80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그룹 81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83" name="타원 82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직사각형 83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5" name="모서리가 둥근 직사각형 84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86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87" name="그룹 86"/>
          <p:cNvGrpSpPr/>
          <p:nvPr userDrawn="1"/>
        </p:nvGrpSpPr>
        <p:grpSpPr>
          <a:xfrm>
            <a:off x="414400" y="1537742"/>
            <a:ext cx="1281293" cy="8406097"/>
            <a:chOff x="414400" y="1537742"/>
            <a:chExt cx="1281293" cy="8406097"/>
          </a:xfrm>
        </p:grpSpPr>
        <p:sp>
          <p:nvSpPr>
            <p:cNvPr id="88" name="모서리가 둥근 직사각형 87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모서리가 둥근 직사각형 88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/>
            <p:cNvSpPr/>
            <p:nvPr userDrawn="1"/>
          </p:nvSpPr>
          <p:spPr>
            <a:xfrm>
              <a:off x="416496" y="8696421"/>
              <a:ext cx="1275904" cy="7240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91" name="그룹 90"/>
            <p:cNvGrpSpPr/>
            <p:nvPr userDrawn="1"/>
          </p:nvGrpSpPr>
          <p:grpSpPr>
            <a:xfrm>
              <a:off x="414400" y="1537742"/>
              <a:ext cx="1278000" cy="360000"/>
              <a:chOff x="414400" y="2185854"/>
              <a:chExt cx="1278000" cy="360000"/>
            </a:xfrm>
          </p:grpSpPr>
          <p:sp>
            <p:nvSpPr>
              <p:cNvPr id="130" name="직사각형 129"/>
              <p:cNvSpPr/>
              <p:nvPr/>
            </p:nvSpPr>
            <p:spPr>
              <a:xfrm>
                <a:off x="414400" y="2185854"/>
                <a:ext cx="1278000" cy="360000"/>
              </a:xfrm>
              <a:prstGeom prst="rect">
                <a:avLst/>
              </a:prstGeom>
              <a:solidFill>
                <a:srgbClr val="DBEEF4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1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606" y="2294416"/>
                <a:ext cx="2095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2" name="TextBox 131"/>
              <p:cNvSpPr txBox="1"/>
              <p:nvPr/>
            </p:nvSpPr>
            <p:spPr>
              <a:xfrm>
                <a:off x="695003" y="2257822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강의실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92" name="직사각형 91"/>
            <p:cNvSpPr/>
            <p:nvPr userDrawn="1"/>
          </p:nvSpPr>
          <p:spPr>
            <a:xfrm>
              <a:off x="415299" y="6127204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93" name="Picture 8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405" y="6207830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직사각형 93"/>
            <p:cNvSpPr/>
            <p:nvPr userDrawn="1"/>
          </p:nvSpPr>
          <p:spPr>
            <a:xfrm>
              <a:off x="415299" y="848857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/>
            <p:cNvSpPr/>
            <p:nvPr userDrawn="1"/>
          </p:nvSpPr>
          <p:spPr>
            <a:xfrm>
              <a:off x="415299" y="9583838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96" name="Picture 11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06" y="856616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TextBox 96"/>
            <p:cNvSpPr txBox="1"/>
            <p:nvPr userDrawn="1"/>
          </p:nvSpPr>
          <p:spPr>
            <a:xfrm>
              <a:off x="697125" y="6194450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수강정보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8" name="TextBox 97"/>
            <p:cNvSpPr txBox="1"/>
            <p:nvPr userDrawn="1"/>
          </p:nvSpPr>
          <p:spPr>
            <a:xfrm>
              <a:off x="703331" y="8556795"/>
              <a:ext cx="908726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</a:t>
              </a:r>
              <a:r>
                <a:rPr lang="en-US" altLang="ko-KR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설정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9" name="직사각형 98"/>
            <p:cNvSpPr/>
            <p:nvPr userDrawn="1"/>
          </p:nvSpPr>
          <p:spPr>
            <a:xfrm>
              <a:off x="415459" y="8848611"/>
              <a:ext cx="1275266" cy="1095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팀 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교수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조교 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알림 발신 설정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임계값 기준 확인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게시판 관리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0" name="직사각형 99"/>
            <p:cNvSpPr/>
            <p:nvPr userDrawn="1"/>
          </p:nvSpPr>
          <p:spPr>
            <a:xfrm>
              <a:off x="415299" y="189359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1" name="Picture 6"/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06" y="197121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" name="TextBox 101"/>
            <p:cNvSpPr txBox="1"/>
            <p:nvPr userDrawn="1"/>
          </p:nvSpPr>
          <p:spPr>
            <a:xfrm>
              <a:off x="697125" y="1966542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알림터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직사각형 102"/>
            <p:cNvSpPr/>
            <p:nvPr userDrawn="1"/>
          </p:nvSpPr>
          <p:spPr>
            <a:xfrm>
              <a:off x="414400" y="3389456"/>
              <a:ext cx="1278000" cy="14731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 목록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과제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토론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퀴즈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설문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세미나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학습메모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4" name="직사각형 103"/>
            <p:cNvSpPr/>
            <p:nvPr userDrawn="1"/>
          </p:nvSpPr>
          <p:spPr>
            <a:xfrm>
              <a:off x="414400" y="3030860"/>
              <a:ext cx="1278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05" name="TextBox 104"/>
            <p:cNvSpPr txBox="1"/>
            <p:nvPr userDrawn="1"/>
          </p:nvSpPr>
          <p:spPr>
            <a:xfrm>
              <a:off x="702432" y="3098106"/>
              <a:ext cx="9087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학습활동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6" name="Picture 9"/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6" y="3111486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직사각형 106"/>
            <p:cNvSpPr/>
            <p:nvPr userDrawn="1"/>
          </p:nvSpPr>
          <p:spPr>
            <a:xfrm>
              <a:off x="416496" y="2255725"/>
              <a:ext cx="1278000" cy="7688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통합게시판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[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]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게시판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DC5"/>
                  </a:solidFill>
                </a:rPr>
                <a:t>• </a:t>
              </a:r>
              <a:r>
                <a:rPr lang="ko-KR" altLang="en-US" sz="800" dirty="0" smtClean="0">
                  <a:solidFill>
                    <a:srgbClr val="007DC5"/>
                  </a:solidFill>
                </a:rPr>
                <a:t>추가 게시판</a:t>
              </a:r>
              <a:endParaRPr lang="en-US" altLang="ko-KR" sz="800" dirty="0" smtClean="0">
                <a:solidFill>
                  <a:srgbClr val="007DC5"/>
                </a:solidFill>
              </a:endParaRPr>
            </a:p>
          </p:txBody>
        </p:sp>
        <p:sp>
          <p:nvSpPr>
            <p:cNvPr id="108" name="직사각형 107"/>
            <p:cNvSpPr/>
            <p:nvPr userDrawn="1"/>
          </p:nvSpPr>
          <p:spPr>
            <a:xfrm>
              <a:off x="416496" y="6487244"/>
              <a:ext cx="1278000" cy="784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수강생 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출석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학생화면보기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9" name="직사각형 108"/>
            <p:cNvSpPr/>
            <p:nvPr userDrawn="1"/>
          </p:nvSpPr>
          <p:spPr>
            <a:xfrm>
              <a:off x="416496" y="8126474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10" name="Picture 8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602" y="8207100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TextBox 110"/>
            <p:cNvSpPr txBox="1"/>
            <p:nvPr userDrawn="1"/>
          </p:nvSpPr>
          <p:spPr>
            <a:xfrm>
              <a:off x="698322" y="8193720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문제은행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12" name="그룹 111"/>
            <p:cNvGrpSpPr/>
            <p:nvPr userDrawn="1"/>
          </p:nvGrpSpPr>
          <p:grpSpPr>
            <a:xfrm>
              <a:off x="416496" y="4867064"/>
              <a:ext cx="1278000" cy="1260140"/>
              <a:chOff x="416496" y="5697252"/>
              <a:chExt cx="1278000" cy="1260140"/>
            </a:xfrm>
          </p:grpSpPr>
          <p:sp>
            <p:nvSpPr>
              <p:cNvPr id="119" name="직사각형 118"/>
              <p:cNvSpPr/>
              <p:nvPr userDrawn="1"/>
            </p:nvSpPr>
            <p:spPr>
              <a:xfrm>
                <a:off x="416496" y="6055848"/>
                <a:ext cx="1278000" cy="9015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중간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기말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수시평가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장애인시험지원 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결시원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27" name="직사각형 126"/>
              <p:cNvSpPr/>
              <p:nvPr userDrawn="1"/>
            </p:nvSpPr>
            <p:spPr>
              <a:xfrm>
                <a:off x="416496" y="5697252"/>
                <a:ext cx="1278000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8" name="TextBox 127"/>
              <p:cNvSpPr txBox="1"/>
              <p:nvPr userDrawn="1"/>
            </p:nvSpPr>
            <p:spPr>
              <a:xfrm>
                <a:off x="704528" y="5764498"/>
                <a:ext cx="90872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29" name="Picture 9"/>
              <p:cNvPicPr>
                <a:picLocks noChangeAspect="1" noChangeArrowheads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2162" y="5777878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4" name="그룹 113"/>
            <p:cNvGrpSpPr/>
            <p:nvPr userDrawn="1"/>
          </p:nvGrpSpPr>
          <p:grpSpPr>
            <a:xfrm>
              <a:off x="416496" y="7271903"/>
              <a:ext cx="1279197" cy="849239"/>
              <a:chOff x="452500" y="7065404"/>
              <a:chExt cx="1279197" cy="849239"/>
            </a:xfrm>
          </p:grpSpPr>
          <p:sp>
            <p:nvSpPr>
              <p:cNvPr id="115" name="직사각형 114"/>
              <p:cNvSpPr/>
              <p:nvPr userDrawn="1"/>
            </p:nvSpPr>
            <p:spPr>
              <a:xfrm>
                <a:off x="452500" y="7065404"/>
                <a:ext cx="1275426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16" name="Picture 8"/>
              <p:cNvPicPr>
                <a:picLocks noChangeAspect="1" noChangeArrowheads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606" y="7146030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" name="TextBox 116"/>
              <p:cNvSpPr txBox="1"/>
              <p:nvPr userDrawn="1"/>
            </p:nvSpPr>
            <p:spPr>
              <a:xfrm>
                <a:off x="734326" y="7132650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종합성적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직사각형 117"/>
              <p:cNvSpPr/>
              <p:nvPr userDrawn="1"/>
            </p:nvSpPr>
            <p:spPr>
              <a:xfrm>
                <a:off x="453697" y="7425445"/>
                <a:ext cx="1278000" cy="4891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성적처리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성적재확인신청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5450879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86062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9507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16896" y="2577005"/>
            <a:ext cx="533400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직선 연결선 52"/>
          <p:cNvCxnSpPr/>
          <p:nvPr userDrawn="1"/>
        </p:nvCxnSpPr>
        <p:spPr>
          <a:xfrm>
            <a:off x="416496" y="2580959"/>
            <a:ext cx="7650000" cy="9114"/>
          </a:xfrm>
          <a:prstGeom prst="line">
            <a:avLst/>
          </a:prstGeom>
          <a:ln w="3810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 userDrawn="1"/>
        </p:nvSpPr>
        <p:spPr>
          <a:xfrm>
            <a:off x="416496" y="2140285"/>
            <a:ext cx="7642373" cy="426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6" name="TextBox 65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67" name="그룹 66"/>
          <p:cNvGrpSpPr/>
          <p:nvPr userDrawn="1"/>
        </p:nvGrpSpPr>
        <p:grpSpPr>
          <a:xfrm>
            <a:off x="498029" y="1916832"/>
            <a:ext cx="1928786" cy="215444"/>
            <a:chOff x="5267482" y="2339935"/>
            <a:chExt cx="1928786" cy="215444"/>
          </a:xfrm>
        </p:grpSpPr>
        <p:sp>
          <p:nvSpPr>
            <p:cNvPr id="68" name="TextBox 67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대시보드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9" name="Picture 3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0" name="모서리가 둥근 직사각형 69"/>
          <p:cNvSpPr/>
          <p:nvPr userDrawn="1"/>
        </p:nvSpPr>
        <p:spPr>
          <a:xfrm>
            <a:off x="1172580" y="1967659"/>
            <a:ext cx="118457" cy="113790"/>
          </a:xfrm>
          <a:prstGeom prst="roundRect">
            <a:avLst/>
          </a:prstGeom>
          <a:solidFill>
            <a:srgbClr val="FF000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13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/>
          <p:cNvSpPr/>
          <p:nvPr userDrawn="1"/>
        </p:nvSpPr>
        <p:spPr>
          <a:xfrm>
            <a:off x="414400" y="1895090"/>
            <a:ext cx="76536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55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076" y="1515415"/>
            <a:ext cx="73674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" name="직사각형 155"/>
          <p:cNvSpPr/>
          <p:nvPr userDrawn="1"/>
        </p:nvSpPr>
        <p:spPr>
          <a:xfrm>
            <a:off x="2569017" y="1605021"/>
            <a:ext cx="1285850" cy="1921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 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           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5" name="그룹 74"/>
          <p:cNvGrpSpPr/>
          <p:nvPr userDrawn="1"/>
        </p:nvGrpSpPr>
        <p:grpSpPr>
          <a:xfrm>
            <a:off x="1712640" y="2140285"/>
            <a:ext cx="3249935" cy="426135"/>
            <a:chOff x="420885" y="2140285"/>
            <a:chExt cx="3249935" cy="426135"/>
          </a:xfrm>
        </p:grpSpPr>
        <p:sp>
          <p:nvSpPr>
            <p:cNvPr id="76" name="직사각형 75"/>
            <p:cNvSpPr/>
            <p:nvPr userDrawn="1"/>
          </p:nvSpPr>
          <p:spPr>
            <a:xfrm>
              <a:off x="420885" y="2140285"/>
              <a:ext cx="18678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[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사회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]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유럽 문화 탐방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(1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반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  <p:sp>
          <p:nvSpPr>
            <p:cNvPr id="77" name="직사각형 76"/>
            <p:cNvSpPr/>
            <p:nvPr userDrawn="1"/>
          </p:nvSpPr>
          <p:spPr>
            <a:xfrm>
              <a:off x="426021" y="2350976"/>
              <a:ext cx="324479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rgbClr val="00B050"/>
                  </a:solidFill>
                  <a:latin typeface="+mn-ea"/>
                  <a:ea typeface="+mn-ea"/>
                </a:rPr>
                <a:t>ONLINE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| </a:t>
              </a:r>
              <a:r>
                <a:rPr lang="ko-KR" altLang="en-US" sz="800" b="1" baseline="0" dirty="0" smtClean="0">
                  <a:solidFill>
                    <a:srgbClr val="0070C0"/>
                  </a:solidFill>
                  <a:latin typeface="+mn-ea"/>
                  <a:ea typeface="+mn-ea"/>
                </a:rPr>
                <a:t>학기제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개설학과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사회인문학과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이수구분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전공필수 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8" name="그룹 87"/>
          <p:cNvGrpSpPr/>
          <p:nvPr userDrawn="1"/>
        </p:nvGrpSpPr>
        <p:grpSpPr>
          <a:xfrm>
            <a:off x="6566061" y="2271792"/>
            <a:ext cx="720000" cy="215444"/>
            <a:chOff x="6138205" y="3219833"/>
            <a:chExt cx="720000" cy="215444"/>
          </a:xfrm>
        </p:grpSpPr>
        <p:sp>
          <p:nvSpPr>
            <p:cNvPr id="89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6194169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학습독려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2" name="그룹 91"/>
          <p:cNvGrpSpPr/>
          <p:nvPr userDrawn="1"/>
        </p:nvGrpSpPr>
        <p:grpSpPr>
          <a:xfrm>
            <a:off x="7315627" y="2264935"/>
            <a:ext cx="720000" cy="215444"/>
            <a:chOff x="6138205" y="3219833"/>
            <a:chExt cx="720000" cy="215444"/>
          </a:xfrm>
        </p:grpSpPr>
        <p:sp>
          <p:nvSpPr>
            <p:cNvPr id="93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6194170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평가기준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5" name="그룹 94"/>
          <p:cNvGrpSpPr/>
          <p:nvPr userDrawn="1"/>
        </p:nvGrpSpPr>
        <p:grpSpPr>
          <a:xfrm>
            <a:off x="5812904" y="2264935"/>
            <a:ext cx="720000" cy="215444"/>
            <a:chOff x="6138205" y="3219833"/>
            <a:chExt cx="720000" cy="215444"/>
          </a:xfrm>
        </p:grpSpPr>
        <p:sp>
          <p:nvSpPr>
            <p:cNvPr id="96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6142875" y="3219833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강의계획서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8" name="그룹 97"/>
          <p:cNvGrpSpPr/>
          <p:nvPr userDrawn="1"/>
        </p:nvGrpSpPr>
        <p:grpSpPr>
          <a:xfrm>
            <a:off x="4825070" y="2267347"/>
            <a:ext cx="1042273" cy="215444"/>
            <a:chOff x="6076950" y="3219833"/>
            <a:chExt cx="1042273" cy="215444"/>
          </a:xfrm>
        </p:grpSpPr>
        <p:sp>
          <p:nvSpPr>
            <p:cNvPr id="99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90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6076950" y="3219833"/>
              <a:ext cx="104227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이전과목 가져오기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02" name="직사각형 101"/>
          <p:cNvSpPr/>
          <p:nvPr userDrawn="1"/>
        </p:nvSpPr>
        <p:spPr>
          <a:xfrm>
            <a:off x="6349927" y="1928308"/>
            <a:ext cx="1665509" cy="18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강의실 바로가기   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/>
          <p:cNvSpPr/>
          <p:nvPr userDrawn="1"/>
        </p:nvSpPr>
        <p:spPr>
          <a:xfrm>
            <a:off x="5305811" y="1935902"/>
            <a:ext cx="1015341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Picture 3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9" name="그룹 78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80" name="타원 79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직사각형 80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그룹 81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83" name="타원 82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직사각형 83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5" name="모서리가 둥근 직사각형 84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86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3" name="그룹 72"/>
          <p:cNvGrpSpPr/>
          <p:nvPr userDrawn="1"/>
        </p:nvGrpSpPr>
        <p:grpSpPr>
          <a:xfrm>
            <a:off x="414400" y="1537742"/>
            <a:ext cx="1281293" cy="8406097"/>
            <a:chOff x="414400" y="1537742"/>
            <a:chExt cx="1281293" cy="8406097"/>
          </a:xfrm>
        </p:grpSpPr>
        <p:sp>
          <p:nvSpPr>
            <p:cNvPr id="87" name="모서리가 둥근 직사각형 86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모서리가 둥근 직사각형 100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직사각형 103"/>
            <p:cNvSpPr/>
            <p:nvPr userDrawn="1"/>
          </p:nvSpPr>
          <p:spPr>
            <a:xfrm>
              <a:off x="416496" y="8696421"/>
              <a:ext cx="1275904" cy="7240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105" name="그룹 104"/>
            <p:cNvGrpSpPr/>
            <p:nvPr userDrawn="1"/>
          </p:nvGrpSpPr>
          <p:grpSpPr>
            <a:xfrm>
              <a:off x="414400" y="1537742"/>
              <a:ext cx="1278000" cy="360000"/>
              <a:chOff x="414400" y="2185854"/>
              <a:chExt cx="1278000" cy="360000"/>
            </a:xfrm>
          </p:grpSpPr>
          <p:sp>
            <p:nvSpPr>
              <p:cNvPr id="167" name="직사각형 166"/>
              <p:cNvSpPr/>
              <p:nvPr/>
            </p:nvSpPr>
            <p:spPr>
              <a:xfrm>
                <a:off x="414400" y="2185854"/>
                <a:ext cx="1278000" cy="360000"/>
              </a:xfrm>
              <a:prstGeom prst="rect">
                <a:avLst/>
              </a:prstGeom>
              <a:solidFill>
                <a:srgbClr val="DBEEF4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68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606" y="2294416"/>
                <a:ext cx="2095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9" name="TextBox 168"/>
              <p:cNvSpPr txBox="1"/>
              <p:nvPr/>
            </p:nvSpPr>
            <p:spPr>
              <a:xfrm>
                <a:off x="695003" y="2257822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강의실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6" name="직사각형 105"/>
            <p:cNvSpPr/>
            <p:nvPr userDrawn="1"/>
          </p:nvSpPr>
          <p:spPr>
            <a:xfrm>
              <a:off x="415299" y="6127204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7" name="Picture 8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405" y="6207830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직사각형 107"/>
            <p:cNvSpPr/>
            <p:nvPr userDrawn="1"/>
          </p:nvSpPr>
          <p:spPr>
            <a:xfrm>
              <a:off x="415299" y="848857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09" name="직사각형 108"/>
            <p:cNvSpPr/>
            <p:nvPr userDrawn="1"/>
          </p:nvSpPr>
          <p:spPr>
            <a:xfrm>
              <a:off x="415299" y="9583838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13" name="Picture 11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06" y="856616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4" name="TextBox 113"/>
            <p:cNvSpPr txBox="1"/>
            <p:nvPr userDrawn="1"/>
          </p:nvSpPr>
          <p:spPr>
            <a:xfrm>
              <a:off x="697125" y="6194450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수강정보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5" name="TextBox 114"/>
            <p:cNvSpPr txBox="1"/>
            <p:nvPr userDrawn="1"/>
          </p:nvSpPr>
          <p:spPr>
            <a:xfrm>
              <a:off x="703331" y="8556795"/>
              <a:ext cx="908726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</a:t>
              </a:r>
              <a:r>
                <a:rPr lang="en-US" altLang="ko-KR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설정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직사각형 115"/>
            <p:cNvSpPr/>
            <p:nvPr userDrawn="1"/>
          </p:nvSpPr>
          <p:spPr>
            <a:xfrm>
              <a:off x="415459" y="8848611"/>
              <a:ext cx="1275266" cy="1095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팀 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교수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조교 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알림 발신 설정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임계값 기준 확인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게시판 관리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7" name="직사각형 116"/>
            <p:cNvSpPr/>
            <p:nvPr userDrawn="1"/>
          </p:nvSpPr>
          <p:spPr>
            <a:xfrm>
              <a:off x="415299" y="189359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18" name="Picture 6"/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06" y="197121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TextBox 118"/>
            <p:cNvSpPr txBox="1"/>
            <p:nvPr userDrawn="1"/>
          </p:nvSpPr>
          <p:spPr>
            <a:xfrm>
              <a:off x="697125" y="1966542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알림터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0" name="직사각형 119"/>
            <p:cNvSpPr/>
            <p:nvPr userDrawn="1"/>
          </p:nvSpPr>
          <p:spPr>
            <a:xfrm>
              <a:off x="414400" y="3389456"/>
              <a:ext cx="1278000" cy="14731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 목록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과제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토론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퀴즈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설문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세미나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학습메모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1" name="직사각형 120"/>
            <p:cNvSpPr/>
            <p:nvPr userDrawn="1"/>
          </p:nvSpPr>
          <p:spPr>
            <a:xfrm>
              <a:off x="414400" y="3030860"/>
              <a:ext cx="1278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22" name="TextBox 121"/>
            <p:cNvSpPr txBox="1"/>
            <p:nvPr userDrawn="1"/>
          </p:nvSpPr>
          <p:spPr>
            <a:xfrm>
              <a:off x="702432" y="3098106"/>
              <a:ext cx="9087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학습활동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23" name="Picture 9"/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6" y="3111486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4" name="직사각형 123"/>
            <p:cNvSpPr/>
            <p:nvPr userDrawn="1"/>
          </p:nvSpPr>
          <p:spPr>
            <a:xfrm>
              <a:off x="416496" y="2255725"/>
              <a:ext cx="1278000" cy="7688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통합게시판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[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]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게시판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DC5"/>
                  </a:solidFill>
                </a:rPr>
                <a:t>• </a:t>
              </a:r>
              <a:r>
                <a:rPr lang="ko-KR" altLang="en-US" sz="800" dirty="0" smtClean="0">
                  <a:solidFill>
                    <a:srgbClr val="007DC5"/>
                  </a:solidFill>
                </a:rPr>
                <a:t>추가 게시판</a:t>
              </a:r>
              <a:endParaRPr lang="en-US" altLang="ko-KR" sz="800" dirty="0" smtClean="0">
                <a:solidFill>
                  <a:srgbClr val="007DC5"/>
                </a:solidFill>
              </a:endParaRPr>
            </a:p>
          </p:txBody>
        </p:sp>
        <p:sp>
          <p:nvSpPr>
            <p:cNvPr id="125" name="직사각형 124"/>
            <p:cNvSpPr/>
            <p:nvPr userDrawn="1"/>
          </p:nvSpPr>
          <p:spPr>
            <a:xfrm>
              <a:off x="416496" y="6487244"/>
              <a:ext cx="1278000" cy="784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수강생 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출석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학생화면보기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직사각형 125"/>
            <p:cNvSpPr/>
            <p:nvPr userDrawn="1"/>
          </p:nvSpPr>
          <p:spPr>
            <a:xfrm>
              <a:off x="416496" y="8126474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53" name="Picture 8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602" y="8207100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4" name="TextBox 153"/>
            <p:cNvSpPr txBox="1"/>
            <p:nvPr userDrawn="1"/>
          </p:nvSpPr>
          <p:spPr>
            <a:xfrm>
              <a:off x="698322" y="8193720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문제은행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57" name="그룹 156"/>
            <p:cNvGrpSpPr/>
            <p:nvPr userDrawn="1"/>
          </p:nvGrpSpPr>
          <p:grpSpPr>
            <a:xfrm>
              <a:off x="416496" y="4867064"/>
              <a:ext cx="1278000" cy="1260140"/>
              <a:chOff x="416496" y="5697252"/>
              <a:chExt cx="1278000" cy="1260140"/>
            </a:xfrm>
          </p:grpSpPr>
          <p:sp>
            <p:nvSpPr>
              <p:cNvPr id="163" name="직사각형 162"/>
              <p:cNvSpPr/>
              <p:nvPr userDrawn="1"/>
            </p:nvSpPr>
            <p:spPr>
              <a:xfrm>
                <a:off x="416496" y="6055848"/>
                <a:ext cx="1278000" cy="9015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중간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기말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수시평가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장애인시험지원 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결시원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4" name="직사각형 163"/>
              <p:cNvSpPr/>
              <p:nvPr userDrawn="1"/>
            </p:nvSpPr>
            <p:spPr>
              <a:xfrm>
                <a:off x="416496" y="5697252"/>
                <a:ext cx="1278000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5" name="TextBox 164"/>
              <p:cNvSpPr txBox="1"/>
              <p:nvPr userDrawn="1"/>
            </p:nvSpPr>
            <p:spPr>
              <a:xfrm>
                <a:off x="704528" y="5764498"/>
                <a:ext cx="90872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66" name="Picture 9"/>
              <p:cNvPicPr>
                <a:picLocks noChangeAspect="1" noChangeArrowheads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2162" y="5777878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8" name="그룹 157"/>
            <p:cNvGrpSpPr/>
            <p:nvPr userDrawn="1"/>
          </p:nvGrpSpPr>
          <p:grpSpPr>
            <a:xfrm>
              <a:off x="416496" y="7271903"/>
              <a:ext cx="1279197" cy="849239"/>
              <a:chOff x="452500" y="7065404"/>
              <a:chExt cx="1279197" cy="849239"/>
            </a:xfrm>
          </p:grpSpPr>
          <p:sp>
            <p:nvSpPr>
              <p:cNvPr id="159" name="직사각형 158"/>
              <p:cNvSpPr/>
              <p:nvPr userDrawn="1"/>
            </p:nvSpPr>
            <p:spPr>
              <a:xfrm>
                <a:off x="452500" y="7065404"/>
                <a:ext cx="1275426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60" name="Picture 8"/>
              <p:cNvPicPr>
                <a:picLocks noChangeAspect="1" noChangeArrowheads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606" y="7146030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1" name="TextBox 160"/>
              <p:cNvSpPr txBox="1"/>
              <p:nvPr userDrawn="1"/>
            </p:nvSpPr>
            <p:spPr>
              <a:xfrm>
                <a:off x="734326" y="7132650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종합성적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2" name="직사각형 161"/>
              <p:cNvSpPr/>
              <p:nvPr userDrawn="1"/>
            </p:nvSpPr>
            <p:spPr>
              <a:xfrm>
                <a:off x="453697" y="7425445"/>
                <a:ext cx="1278000" cy="4891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성적처리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성적재확인신청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212190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916452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77069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TextBox 56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pic>
        <p:nvPicPr>
          <p:cNvPr id="6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16896" y="2577005"/>
            <a:ext cx="533400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직선 연결선 68"/>
          <p:cNvCxnSpPr/>
          <p:nvPr userDrawn="1"/>
        </p:nvCxnSpPr>
        <p:spPr>
          <a:xfrm>
            <a:off x="416496" y="2580959"/>
            <a:ext cx="7650000" cy="9114"/>
          </a:xfrm>
          <a:prstGeom prst="line">
            <a:avLst/>
          </a:prstGeom>
          <a:ln w="3810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 userDrawn="1"/>
        </p:nvSpPr>
        <p:spPr>
          <a:xfrm>
            <a:off x="416496" y="2140285"/>
            <a:ext cx="7642373" cy="426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75" name="그룹 74"/>
          <p:cNvGrpSpPr/>
          <p:nvPr userDrawn="1"/>
        </p:nvGrpSpPr>
        <p:grpSpPr>
          <a:xfrm>
            <a:off x="498029" y="1916832"/>
            <a:ext cx="1928786" cy="215444"/>
            <a:chOff x="5267482" y="2339935"/>
            <a:chExt cx="1928786" cy="215444"/>
          </a:xfrm>
        </p:grpSpPr>
        <p:sp>
          <p:nvSpPr>
            <p:cNvPr id="76" name="TextBox 75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대시보드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7" name="Picture 3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0" name="직사각형 79"/>
          <p:cNvSpPr/>
          <p:nvPr userDrawn="1"/>
        </p:nvSpPr>
        <p:spPr>
          <a:xfrm>
            <a:off x="414400" y="1895090"/>
            <a:ext cx="76536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6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076" y="1515415"/>
            <a:ext cx="73674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직사각형 69"/>
          <p:cNvSpPr/>
          <p:nvPr userDrawn="1"/>
        </p:nvSpPr>
        <p:spPr>
          <a:xfrm>
            <a:off x="2569017" y="1605021"/>
            <a:ext cx="1285850" cy="1921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 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           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9" name="그룹 58"/>
          <p:cNvGrpSpPr/>
          <p:nvPr userDrawn="1"/>
        </p:nvGrpSpPr>
        <p:grpSpPr>
          <a:xfrm>
            <a:off x="1712640" y="2140285"/>
            <a:ext cx="3249935" cy="426135"/>
            <a:chOff x="420885" y="2140285"/>
            <a:chExt cx="3249935" cy="426135"/>
          </a:xfrm>
        </p:grpSpPr>
        <p:sp>
          <p:nvSpPr>
            <p:cNvPr id="60" name="직사각형 59"/>
            <p:cNvSpPr/>
            <p:nvPr userDrawn="1"/>
          </p:nvSpPr>
          <p:spPr>
            <a:xfrm>
              <a:off x="420885" y="2140285"/>
              <a:ext cx="18678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[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사회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]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유럽 문화 탐방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(1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반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  <p:sp>
          <p:nvSpPr>
            <p:cNvPr id="65" name="직사각형 64"/>
            <p:cNvSpPr/>
            <p:nvPr userDrawn="1"/>
          </p:nvSpPr>
          <p:spPr>
            <a:xfrm>
              <a:off x="426021" y="2350976"/>
              <a:ext cx="324479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rgbClr val="00B050"/>
                  </a:solidFill>
                  <a:latin typeface="+mn-ea"/>
                  <a:ea typeface="+mn-ea"/>
                </a:rPr>
                <a:t>ONLINE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| </a:t>
              </a:r>
              <a:r>
                <a:rPr lang="ko-KR" altLang="en-US" sz="800" b="1" baseline="0" dirty="0" smtClean="0">
                  <a:solidFill>
                    <a:srgbClr val="0070C0"/>
                  </a:solidFill>
                  <a:latin typeface="+mn-ea"/>
                  <a:ea typeface="+mn-ea"/>
                </a:rPr>
                <a:t>학기제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개설학과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사회인문학과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이수구분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전공필수 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" name="그룹 70"/>
          <p:cNvGrpSpPr/>
          <p:nvPr userDrawn="1"/>
        </p:nvGrpSpPr>
        <p:grpSpPr>
          <a:xfrm>
            <a:off x="6566061" y="2271792"/>
            <a:ext cx="720000" cy="215444"/>
            <a:chOff x="6138205" y="3219833"/>
            <a:chExt cx="720000" cy="215444"/>
          </a:xfrm>
        </p:grpSpPr>
        <p:sp>
          <p:nvSpPr>
            <p:cNvPr id="72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6194169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학습독려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8" name="그룹 77"/>
          <p:cNvGrpSpPr/>
          <p:nvPr userDrawn="1"/>
        </p:nvGrpSpPr>
        <p:grpSpPr>
          <a:xfrm>
            <a:off x="7315627" y="2264935"/>
            <a:ext cx="720000" cy="215444"/>
            <a:chOff x="6138205" y="3219833"/>
            <a:chExt cx="720000" cy="215444"/>
          </a:xfrm>
        </p:grpSpPr>
        <p:sp>
          <p:nvSpPr>
            <p:cNvPr id="79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6194170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평가기준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7" name="그룹 86"/>
          <p:cNvGrpSpPr/>
          <p:nvPr userDrawn="1"/>
        </p:nvGrpSpPr>
        <p:grpSpPr>
          <a:xfrm>
            <a:off x="5812904" y="2264935"/>
            <a:ext cx="720000" cy="215444"/>
            <a:chOff x="6138205" y="3219833"/>
            <a:chExt cx="720000" cy="215444"/>
          </a:xfrm>
        </p:grpSpPr>
        <p:sp>
          <p:nvSpPr>
            <p:cNvPr id="88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6142875" y="3219833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강의계획서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4" name="그룹 93"/>
          <p:cNvGrpSpPr/>
          <p:nvPr userDrawn="1"/>
        </p:nvGrpSpPr>
        <p:grpSpPr>
          <a:xfrm>
            <a:off x="4825070" y="2267347"/>
            <a:ext cx="1042273" cy="215444"/>
            <a:chOff x="6076950" y="3219833"/>
            <a:chExt cx="1042273" cy="215444"/>
          </a:xfrm>
        </p:grpSpPr>
        <p:sp>
          <p:nvSpPr>
            <p:cNvPr id="95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90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6076950" y="3219833"/>
              <a:ext cx="104227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이전과목 가져오기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2" name="직사각형 81"/>
          <p:cNvSpPr/>
          <p:nvPr userDrawn="1"/>
        </p:nvSpPr>
        <p:spPr>
          <a:xfrm>
            <a:off x="6349927" y="1928308"/>
            <a:ext cx="1665509" cy="18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강의실 바로가기   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 userDrawn="1"/>
        </p:nvSpPr>
        <p:spPr>
          <a:xfrm>
            <a:off x="5305811" y="1935902"/>
            <a:ext cx="1015341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3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3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6" name="그룹 65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81" name="타원 80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직사각형 83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5" name="그룹 84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89" name="타원 88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0" name="직사각형 89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1" name="모서리가 둥근 직사각형 90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92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62" name="그룹 61"/>
          <p:cNvGrpSpPr/>
          <p:nvPr userDrawn="1"/>
        </p:nvGrpSpPr>
        <p:grpSpPr>
          <a:xfrm>
            <a:off x="414400" y="1537742"/>
            <a:ext cx="1281293" cy="7327863"/>
            <a:chOff x="414400" y="1537742"/>
            <a:chExt cx="1281293" cy="7327863"/>
          </a:xfrm>
        </p:grpSpPr>
        <p:grpSp>
          <p:nvGrpSpPr>
            <p:cNvPr id="97" name="그룹 96"/>
            <p:cNvGrpSpPr/>
            <p:nvPr userDrawn="1"/>
          </p:nvGrpSpPr>
          <p:grpSpPr>
            <a:xfrm>
              <a:off x="414400" y="1537742"/>
              <a:ext cx="1278000" cy="360000"/>
              <a:chOff x="414400" y="2185854"/>
              <a:chExt cx="1278000" cy="360000"/>
            </a:xfrm>
          </p:grpSpPr>
          <p:sp>
            <p:nvSpPr>
              <p:cNvPr id="138" name="직사각형 137"/>
              <p:cNvSpPr/>
              <p:nvPr/>
            </p:nvSpPr>
            <p:spPr>
              <a:xfrm>
                <a:off x="414400" y="2185854"/>
                <a:ext cx="1278000" cy="360000"/>
              </a:xfrm>
              <a:prstGeom prst="rect">
                <a:avLst/>
              </a:prstGeom>
              <a:solidFill>
                <a:srgbClr val="DBEEF4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43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606" y="2294416"/>
                <a:ext cx="2095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" name="TextBox 143"/>
              <p:cNvSpPr txBox="1"/>
              <p:nvPr/>
            </p:nvSpPr>
            <p:spPr>
              <a:xfrm>
                <a:off x="695003" y="2257822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강의실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98" name="모서리가 둥근 직사각형 97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모서리가 둥근 직사각형 98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/>
            <p:cNvSpPr/>
            <p:nvPr userDrawn="1"/>
          </p:nvSpPr>
          <p:spPr>
            <a:xfrm>
              <a:off x="415299" y="189359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1" name="Picture 6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06" y="197121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" name="TextBox 101"/>
            <p:cNvSpPr txBox="1"/>
            <p:nvPr userDrawn="1"/>
          </p:nvSpPr>
          <p:spPr>
            <a:xfrm>
              <a:off x="697125" y="1966542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알림터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직사각형 102"/>
            <p:cNvSpPr/>
            <p:nvPr userDrawn="1"/>
          </p:nvSpPr>
          <p:spPr>
            <a:xfrm>
              <a:off x="414400" y="4037528"/>
              <a:ext cx="1278000" cy="15877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 목록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과제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토론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퀴즈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설문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세미나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강의평가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학습메모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4" name="직사각형 103"/>
            <p:cNvSpPr/>
            <p:nvPr userDrawn="1"/>
          </p:nvSpPr>
          <p:spPr>
            <a:xfrm>
              <a:off x="414400" y="3678932"/>
              <a:ext cx="1278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05" name="TextBox 104"/>
            <p:cNvSpPr txBox="1"/>
            <p:nvPr userDrawn="1"/>
          </p:nvSpPr>
          <p:spPr>
            <a:xfrm>
              <a:off x="702432" y="3746178"/>
              <a:ext cx="9087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학습활동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6" name="Picture 9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6" y="3759558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직사각형 106"/>
            <p:cNvSpPr/>
            <p:nvPr userDrawn="1"/>
          </p:nvSpPr>
          <p:spPr>
            <a:xfrm>
              <a:off x="416496" y="2255725"/>
              <a:ext cx="1278000" cy="14253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대학공지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과목공지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Q&amp;A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1:1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상담</a:t>
              </a:r>
              <a:endParaRPr lang="en-US" altLang="ko-KR" sz="800" dirty="0" smtClean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강의자료실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[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]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게시판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DC5"/>
                  </a:solidFill>
                </a:rPr>
                <a:t>• </a:t>
              </a:r>
              <a:r>
                <a:rPr lang="ko-KR" altLang="en-US" sz="800" dirty="0" smtClean="0">
                  <a:solidFill>
                    <a:srgbClr val="007DC5"/>
                  </a:solidFill>
                </a:rPr>
                <a:t>추가 게시판</a:t>
              </a:r>
              <a:endParaRPr lang="en-US" altLang="ko-KR" sz="800" dirty="0" smtClean="0">
                <a:solidFill>
                  <a:srgbClr val="007DC5"/>
                </a:solidFill>
              </a:endParaRPr>
            </a:p>
          </p:txBody>
        </p:sp>
        <p:grpSp>
          <p:nvGrpSpPr>
            <p:cNvPr id="108" name="그룹 107"/>
            <p:cNvGrpSpPr/>
            <p:nvPr userDrawn="1"/>
          </p:nvGrpSpPr>
          <p:grpSpPr>
            <a:xfrm>
              <a:off x="416496" y="6875859"/>
              <a:ext cx="1279197" cy="1144699"/>
              <a:chOff x="452500" y="7065404"/>
              <a:chExt cx="1279197" cy="1144699"/>
            </a:xfrm>
          </p:grpSpPr>
          <p:sp>
            <p:nvSpPr>
              <p:cNvPr id="124" name="직사각형 123"/>
              <p:cNvSpPr/>
              <p:nvPr userDrawn="1"/>
            </p:nvSpPr>
            <p:spPr>
              <a:xfrm>
                <a:off x="452500" y="7065404"/>
                <a:ext cx="1275426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5" name="Picture 8"/>
              <p:cNvPicPr>
                <a:picLocks noChangeAspect="1" noChangeArrowheads="1"/>
              </p:cNvPicPr>
              <p:nvPr userDrawn="1"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606" y="7146030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" name="TextBox 135"/>
              <p:cNvSpPr txBox="1"/>
              <p:nvPr userDrawn="1"/>
            </p:nvSpPr>
            <p:spPr>
              <a:xfrm>
                <a:off x="734326" y="7132650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수강정보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7" name="직사각형 136"/>
              <p:cNvSpPr/>
              <p:nvPr userDrawn="1"/>
            </p:nvSpPr>
            <p:spPr>
              <a:xfrm>
                <a:off x="453697" y="7425444"/>
                <a:ext cx="1278000" cy="7846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출석현황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수강생 정보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교수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조교정보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학습분석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09" name="그룹 108"/>
            <p:cNvGrpSpPr/>
            <p:nvPr userDrawn="1"/>
          </p:nvGrpSpPr>
          <p:grpSpPr>
            <a:xfrm>
              <a:off x="416496" y="5615719"/>
              <a:ext cx="1278000" cy="1260140"/>
              <a:chOff x="416496" y="5697252"/>
              <a:chExt cx="1278000" cy="1260140"/>
            </a:xfrm>
          </p:grpSpPr>
          <p:sp>
            <p:nvSpPr>
              <p:cNvPr id="116" name="직사각형 115"/>
              <p:cNvSpPr/>
              <p:nvPr userDrawn="1"/>
            </p:nvSpPr>
            <p:spPr>
              <a:xfrm>
                <a:off x="416496" y="6055848"/>
                <a:ext cx="1278000" cy="9015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중간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기말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수시평가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장애인시험지원 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결시원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17" name="직사각형 116"/>
              <p:cNvSpPr/>
              <p:nvPr userDrawn="1"/>
            </p:nvSpPr>
            <p:spPr>
              <a:xfrm>
                <a:off x="416496" y="5697252"/>
                <a:ext cx="1278000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8" name="TextBox 117"/>
              <p:cNvSpPr txBox="1"/>
              <p:nvPr userDrawn="1"/>
            </p:nvSpPr>
            <p:spPr>
              <a:xfrm>
                <a:off x="704528" y="5764498"/>
                <a:ext cx="90872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19" name="Picture 9"/>
              <p:cNvPicPr>
                <a:picLocks noChangeAspect="1" noChangeArrowheads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2162" y="5777878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0" name="그룹 109"/>
            <p:cNvGrpSpPr/>
            <p:nvPr userDrawn="1"/>
          </p:nvGrpSpPr>
          <p:grpSpPr>
            <a:xfrm>
              <a:off x="416496" y="8016366"/>
              <a:ext cx="1279197" cy="849239"/>
              <a:chOff x="452500" y="7065404"/>
              <a:chExt cx="1279197" cy="849239"/>
            </a:xfrm>
          </p:grpSpPr>
          <p:sp>
            <p:nvSpPr>
              <p:cNvPr id="111" name="직사각형 110"/>
              <p:cNvSpPr/>
              <p:nvPr userDrawn="1"/>
            </p:nvSpPr>
            <p:spPr>
              <a:xfrm>
                <a:off x="452500" y="7065404"/>
                <a:ext cx="1275426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13" name="Picture 8"/>
              <p:cNvPicPr>
                <a:picLocks noChangeAspect="1" noChangeArrowheads="1"/>
              </p:cNvPicPr>
              <p:nvPr userDrawn="1"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606" y="7146030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" name="TextBox 113"/>
              <p:cNvSpPr txBox="1"/>
              <p:nvPr userDrawn="1"/>
            </p:nvSpPr>
            <p:spPr>
              <a:xfrm>
                <a:off x="734326" y="7132650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종합성적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5" name="직사각형 114"/>
              <p:cNvSpPr/>
              <p:nvPr userDrawn="1"/>
            </p:nvSpPr>
            <p:spPr>
              <a:xfrm>
                <a:off x="453697" y="7425445"/>
                <a:ext cx="1278000" cy="4891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성적조회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성적재확인신청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6277170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081061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77069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TextBox 56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pic>
        <p:nvPicPr>
          <p:cNvPr id="6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16896" y="2577005"/>
            <a:ext cx="533400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직선 연결선 68"/>
          <p:cNvCxnSpPr/>
          <p:nvPr userDrawn="1"/>
        </p:nvCxnSpPr>
        <p:spPr>
          <a:xfrm>
            <a:off x="416496" y="2580959"/>
            <a:ext cx="7650000" cy="9114"/>
          </a:xfrm>
          <a:prstGeom prst="line">
            <a:avLst/>
          </a:prstGeom>
          <a:ln w="3810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 userDrawn="1"/>
        </p:nvSpPr>
        <p:spPr>
          <a:xfrm>
            <a:off x="416496" y="2140285"/>
            <a:ext cx="7642373" cy="426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75" name="그룹 74"/>
          <p:cNvGrpSpPr/>
          <p:nvPr userDrawn="1"/>
        </p:nvGrpSpPr>
        <p:grpSpPr>
          <a:xfrm>
            <a:off x="498029" y="1916832"/>
            <a:ext cx="1928786" cy="215444"/>
            <a:chOff x="5267482" y="2339935"/>
            <a:chExt cx="1928786" cy="215444"/>
          </a:xfrm>
        </p:grpSpPr>
        <p:sp>
          <p:nvSpPr>
            <p:cNvPr id="76" name="TextBox 75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대시보드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7" name="Picture 3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0" name="직사각형 79"/>
          <p:cNvSpPr/>
          <p:nvPr userDrawn="1"/>
        </p:nvSpPr>
        <p:spPr>
          <a:xfrm>
            <a:off x="414400" y="1895090"/>
            <a:ext cx="76536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6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076" y="1515415"/>
            <a:ext cx="73674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직사각형 69"/>
          <p:cNvSpPr/>
          <p:nvPr userDrawn="1"/>
        </p:nvSpPr>
        <p:spPr>
          <a:xfrm>
            <a:off x="2569017" y="1605021"/>
            <a:ext cx="1285850" cy="1921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 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           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9" name="그룹 58"/>
          <p:cNvGrpSpPr/>
          <p:nvPr userDrawn="1"/>
        </p:nvGrpSpPr>
        <p:grpSpPr>
          <a:xfrm>
            <a:off x="1712640" y="2140285"/>
            <a:ext cx="3249935" cy="426135"/>
            <a:chOff x="420885" y="2140285"/>
            <a:chExt cx="3249935" cy="426135"/>
          </a:xfrm>
        </p:grpSpPr>
        <p:sp>
          <p:nvSpPr>
            <p:cNvPr id="60" name="직사각형 59"/>
            <p:cNvSpPr/>
            <p:nvPr userDrawn="1"/>
          </p:nvSpPr>
          <p:spPr>
            <a:xfrm>
              <a:off x="420885" y="2140285"/>
              <a:ext cx="18678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[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사회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]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유럽 문화 탐방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(1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반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  <p:sp>
          <p:nvSpPr>
            <p:cNvPr id="65" name="직사각형 64"/>
            <p:cNvSpPr/>
            <p:nvPr userDrawn="1"/>
          </p:nvSpPr>
          <p:spPr>
            <a:xfrm>
              <a:off x="426021" y="2350976"/>
              <a:ext cx="324479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rgbClr val="00B050"/>
                  </a:solidFill>
                  <a:latin typeface="+mn-ea"/>
                  <a:ea typeface="+mn-ea"/>
                </a:rPr>
                <a:t>ONLINE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| </a:t>
              </a:r>
              <a:r>
                <a:rPr lang="ko-KR" altLang="en-US" sz="800" b="1" baseline="0" dirty="0" smtClean="0">
                  <a:solidFill>
                    <a:srgbClr val="0070C0"/>
                  </a:solidFill>
                  <a:latin typeface="+mn-ea"/>
                  <a:ea typeface="+mn-ea"/>
                </a:rPr>
                <a:t>학기제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개설학과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사회인문학과 </a:t>
              </a:r>
              <a:r>
                <a:rPr lang="en-US" altLang="ko-KR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| </a:t>
              </a:r>
              <a:r>
                <a:rPr lang="ko-KR" altLang="en-US" sz="8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이수구분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전공필수 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7" name="그룹 86"/>
          <p:cNvGrpSpPr/>
          <p:nvPr userDrawn="1"/>
        </p:nvGrpSpPr>
        <p:grpSpPr>
          <a:xfrm>
            <a:off x="6566061" y="2271792"/>
            <a:ext cx="720000" cy="215444"/>
            <a:chOff x="6138205" y="3219833"/>
            <a:chExt cx="720000" cy="215444"/>
          </a:xfrm>
        </p:grpSpPr>
        <p:sp>
          <p:nvSpPr>
            <p:cNvPr id="93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6194169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학습독려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0" name="그룹 119"/>
          <p:cNvGrpSpPr/>
          <p:nvPr userDrawn="1"/>
        </p:nvGrpSpPr>
        <p:grpSpPr>
          <a:xfrm>
            <a:off x="7315627" y="2264935"/>
            <a:ext cx="720000" cy="215444"/>
            <a:chOff x="6138205" y="3219833"/>
            <a:chExt cx="720000" cy="215444"/>
          </a:xfrm>
        </p:grpSpPr>
        <p:sp>
          <p:nvSpPr>
            <p:cNvPr id="121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6194170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평가기준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3" name="그룹 122"/>
          <p:cNvGrpSpPr/>
          <p:nvPr userDrawn="1"/>
        </p:nvGrpSpPr>
        <p:grpSpPr>
          <a:xfrm>
            <a:off x="5812904" y="2264935"/>
            <a:ext cx="720000" cy="215444"/>
            <a:chOff x="6138205" y="3219833"/>
            <a:chExt cx="720000" cy="215444"/>
          </a:xfrm>
        </p:grpSpPr>
        <p:sp>
          <p:nvSpPr>
            <p:cNvPr id="124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6142875" y="3219833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강의계획서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6" name="그룹 125"/>
          <p:cNvGrpSpPr/>
          <p:nvPr userDrawn="1"/>
        </p:nvGrpSpPr>
        <p:grpSpPr>
          <a:xfrm>
            <a:off x="4825070" y="2267347"/>
            <a:ext cx="1042273" cy="215444"/>
            <a:chOff x="6076950" y="3219833"/>
            <a:chExt cx="1042273" cy="215444"/>
          </a:xfrm>
        </p:grpSpPr>
        <p:sp>
          <p:nvSpPr>
            <p:cNvPr id="127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90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6076950" y="3219833"/>
              <a:ext cx="104227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이전과목 가져오기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2" name="직사각형 81"/>
          <p:cNvSpPr/>
          <p:nvPr userDrawn="1"/>
        </p:nvSpPr>
        <p:spPr>
          <a:xfrm>
            <a:off x="6349927" y="1928308"/>
            <a:ext cx="1665509" cy="18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강의실 바로가기   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 userDrawn="1"/>
        </p:nvSpPr>
        <p:spPr>
          <a:xfrm>
            <a:off x="5305811" y="1935902"/>
            <a:ext cx="1015341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3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1" name="그룹 80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84" name="타원 83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5" name="직사각형 84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그룹 88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90" name="타원 89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" name="직사각형 90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2" name="모서리가 둥근 직사각형 91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98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63" name="그룹 62"/>
          <p:cNvGrpSpPr/>
          <p:nvPr userDrawn="1"/>
        </p:nvGrpSpPr>
        <p:grpSpPr>
          <a:xfrm>
            <a:off x="414400" y="1537742"/>
            <a:ext cx="1281293" cy="7327863"/>
            <a:chOff x="414400" y="1537742"/>
            <a:chExt cx="1281293" cy="7327863"/>
          </a:xfrm>
        </p:grpSpPr>
        <p:grpSp>
          <p:nvGrpSpPr>
            <p:cNvPr id="99" name="그룹 98"/>
            <p:cNvGrpSpPr/>
            <p:nvPr userDrawn="1"/>
          </p:nvGrpSpPr>
          <p:grpSpPr>
            <a:xfrm>
              <a:off x="414400" y="1537742"/>
              <a:ext cx="1278000" cy="360000"/>
              <a:chOff x="414400" y="2185854"/>
              <a:chExt cx="1278000" cy="360000"/>
            </a:xfrm>
          </p:grpSpPr>
          <p:sp>
            <p:nvSpPr>
              <p:cNvPr id="145" name="직사각형 144"/>
              <p:cNvSpPr/>
              <p:nvPr/>
            </p:nvSpPr>
            <p:spPr>
              <a:xfrm>
                <a:off x="414400" y="2185854"/>
                <a:ext cx="1278000" cy="360000"/>
              </a:xfrm>
              <a:prstGeom prst="rect">
                <a:avLst/>
              </a:prstGeom>
              <a:solidFill>
                <a:srgbClr val="DBEEF4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46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606" y="2294416"/>
                <a:ext cx="2095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" name="TextBox 146"/>
              <p:cNvSpPr txBox="1"/>
              <p:nvPr/>
            </p:nvSpPr>
            <p:spPr>
              <a:xfrm>
                <a:off x="695003" y="2257822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강의실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0" name="모서리가 둥근 직사각형 99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모서리가 둥근 직사각형 100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/>
            <p:cNvSpPr/>
            <p:nvPr userDrawn="1"/>
          </p:nvSpPr>
          <p:spPr>
            <a:xfrm>
              <a:off x="415299" y="189359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3" name="Picture 6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06" y="197121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" name="TextBox 103"/>
            <p:cNvSpPr txBox="1"/>
            <p:nvPr userDrawn="1"/>
          </p:nvSpPr>
          <p:spPr>
            <a:xfrm>
              <a:off x="697125" y="1966542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알림터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5" name="직사각형 104"/>
            <p:cNvSpPr/>
            <p:nvPr userDrawn="1"/>
          </p:nvSpPr>
          <p:spPr>
            <a:xfrm>
              <a:off x="414400" y="4037528"/>
              <a:ext cx="1278000" cy="15877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 목록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과제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토론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퀴즈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설문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세미나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강의평가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학습메모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6" name="직사각형 105"/>
            <p:cNvSpPr/>
            <p:nvPr userDrawn="1"/>
          </p:nvSpPr>
          <p:spPr>
            <a:xfrm>
              <a:off x="414400" y="3678932"/>
              <a:ext cx="1278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07" name="TextBox 106"/>
            <p:cNvSpPr txBox="1"/>
            <p:nvPr userDrawn="1"/>
          </p:nvSpPr>
          <p:spPr>
            <a:xfrm>
              <a:off x="702432" y="3746178"/>
              <a:ext cx="9087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학습활동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8" name="Picture 9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6" y="3759558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" name="직사각형 128"/>
            <p:cNvSpPr/>
            <p:nvPr userDrawn="1"/>
          </p:nvSpPr>
          <p:spPr>
            <a:xfrm>
              <a:off x="416496" y="2255725"/>
              <a:ext cx="1278000" cy="14253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대학공지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과목공지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Q&amp;A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1:1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상담</a:t>
              </a:r>
              <a:endParaRPr lang="en-US" altLang="ko-KR" sz="800" dirty="0" smtClean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강의자료실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[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]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게시판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DC5"/>
                  </a:solidFill>
                </a:rPr>
                <a:t>• </a:t>
              </a:r>
              <a:r>
                <a:rPr lang="ko-KR" altLang="en-US" sz="800" dirty="0" smtClean="0">
                  <a:solidFill>
                    <a:srgbClr val="007DC5"/>
                  </a:solidFill>
                </a:rPr>
                <a:t>추가 게시판</a:t>
              </a:r>
              <a:endParaRPr lang="en-US" altLang="ko-KR" sz="800" dirty="0" smtClean="0">
                <a:solidFill>
                  <a:srgbClr val="007DC5"/>
                </a:solidFill>
              </a:endParaRPr>
            </a:p>
          </p:txBody>
        </p:sp>
        <p:grpSp>
          <p:nvGrpSpPr>
            <p:cNvPr id="130" name="그룹 129"/>
            <p:cNvGrpSpPr/>
            <p:nvPr userDrawn="1"/>
          </p:nvGrpSpPr>
          <p:grpSpPr>
            <a:xfrm>
              <a:off x="416496" y="6875859"/>
              <a:ext cx="1279197" cy="1144699"/>
              <a:chOff x="452500" y="7065404"/>
              <a:chExt cx="1279197" cy="1144699"/>
            </a:xfrm>
          </p:grpSpPr>
          <p:sp>
            <p:nvSpPr>
              <p:cNvPr id="141" name="직사각형 140"/>
              <p:cNvSpPr/>
              <p:nvPr userDrawn="1"/>
            </p:nvSpPr>
            <p:spPr>
              <a:xfrm>
                <a:off x="452500" y="7065404"/>
                <a:ext cx="1275426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42" name="Picture 8"/>
              <p:cNvPicPr>
                <a:picLocks noChangeAspect="1" noChangeArrowheads="1"/>
              </p:cNvPicPr>
              <p:nvPr userDrawn="1"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606" y="7146030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TextBox 142"/>
              <p:cNvSpPr txBox="1"/>
              <p:nvPr userDrawn="1"/>
            </p:nvSpPr>
            <p:spPr>
              <a:xfrm>
                <a:off x="734326" y="7132650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수강정보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4" name="직사각형 143"/>
              <p:cNvSpPr/>
              <p:nvPr userDrawn="1"/>
            </p:nvSpPr>
            <p:spPr>
              <a:xfrm>
                <a:off x="453697" y="7425444"/>
                <a:ext cx="1278000" cy="7846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출석현황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수강생 정보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교수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조교정보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학습분석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31" name="그룹 130"/>
            <p:cNvGrpSpPr/>
            <p:nvPr userDrawn="1"/>
          </p:nvGrpSpPr>
          <p:grpSpPr>
            <a:xfrm>
              <a:off x="416496" y="5615719"/>
              <a:ext cx="1278000" cy="1260140"/>
              <a:chOff x="416496" y="5697252"/>
              <a:chExt cx="1278000" cy="1260140"/>
            </a:xfrm>
          </p:grpSpPr>
          <p:sp>
            <p:nvSpPr>
              <p:cNvPr id="137" name="직사각형 136"/>
              <p:cNvSpPr/>
              <p:nvPr userDrawn="1"/>
            </p:nvSpPr>
            <p:spPr>
              <a:xfrm>
                <a:off x="416496" y="6055848"/>
                <a:ext cx="1278000" cy="9015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중간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기말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수시평가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장애인시험지원 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결시원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38" name="직사각형 137"/>
              <p:cNvSpPr/>
              <p:nvPr userDrawn="1"/>
            </p:nvSpPr>
            <p:spPr>
              <a:xfrm>
                <a:off x="416496" y="5697252"/>
                <a:ext cx="1278000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9" name="TextBox 138"/>
              <p:cNvSpPr txBox="1"/>
              <p:nvPr userDrawn="1"/>
            </p:nvSpPr>
            <p:spPr>
              <a:xfrm>
                <a:off x="704528" y="5764498"/>
                <a:ext cx="90872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40" name="Picture 9"/>
              <p:cNvPicPr>
                <a:picLocks noChangeAspect="1" noChangeArrowheads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2162" y="5777878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2" name="그룹 131"/>
            <p:cNvGrpSpPr/>
            <p:nvPr userDrawn="1"/>
          </p:nvGrpSpPr>
          <p:grpSpPr>
            <a:xfrm>
              <a:off x="416496" y="8016366"/>
              <a:ext cx="1279197" cy="849239"/>
              <a:chOff x="452500" y="7065404"/>
              <a:chExt cx="1279197" cy="849239"/>
            </a:xfrm>
          </p:grpSpPr>
          <p:sp>
            <p:nvSpPr>
              <p:cNvPr id="133" name="직사각형 132"/>
              <p:cNvSpPr/>
              <p:nvPr userDrawn="1"/>
            </p:nvSpPr>
            <p:spPr>
              <a:xfrm>
                <a:off x="452500" y="7065404"/>
                <a:ext cx="1275426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4" name="Picture 8"/>
              <p:cNvPicPr>
                <a:picLocks noChangeAspect="1" noChangeArrowheads="1"/>
              </p:cNvPicPr>
              <p:nvPr userDrawn="1"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606" y="7146030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5" name="TextBox 134"/>
              <p:cNvSpPr txBox="1"/>
              <p:nvPr userDrawn="1"/>
            </p:nvSpPr>
            <p:spPr>
              <a:xfrm>
                <a:off x="734326" y="7132650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종합성적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6" name="직사각형 135"/>
              <p:cNvSpPr/>
              <p:nvPr userDrawn="1"/>
            </p:nvSpPr>
            <p:spPr>
              <a:xfrm>
                <a:off x="453697" y="7425445"/>
                <a:ext cx="1278000" cy="4891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성적조회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성적재확인신청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1738831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70745007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416865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9507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16896" y="2577005"/>
            <a:ext cx="533400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직선 연결선 52"/>
          <p:cNvCxnSpPr/>
          <p:nvPr userDrawn="1"/>
        </p:nvCxnSpPr>
        <p:spPr>
          <a:xfrm>
            <a:off x="416496" y="2580959"/>
            <a:ext cx="7650000" cy="9114"/>
          </a:xfrm>
          <a:prstGeom prst="line">
            <a:avLst/>
          </a:prstGeom>
          <a:ln w="3810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 userDrawn="1"/>
        </p:nvSpPr>
        <p:spPr>
          <a:xfrm>
            <a:off x="416496" y="2140285"/>
            <a:ext cx="7642373" cy="426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6" name="TextBox 65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67" name="그룹 66"/>
          <p:cNvGrpSpPr/>
          <p:nvPr userDrawn="1"/>
        </p:nvGrpSpPr>
        <p:grpSpPr>
          <a:xfrm>
            <a:off x="498029" y="1916832"/>
            <a:ext cx="1928786" cy="215444"/>
            <a:chOff x="5267482" y="2339935"/>
            <a:chExt cx="1928786" cy="215444"/>
          </a:xfrm>
        </p:grpSpPr>
        <p:sp>
          <p:nvSpPr>
            <p:cNvPr id="68" name="TextBox 67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대시보드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9" name="Picture 3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71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90" y="1515415"/>
            <a:ext cx="73674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직사각형 71"/>
          <p:cNvSpPr/>
          <p:nvPr userDrawn="1"/>
        </p:nvSpPr>
        <p:spPr>
          <a:xfrm>
            <a:off x="414400" y="1895090"/>
            <a:ext cx="76536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3" name="직사각형 72"/>
          <p:cNvSpPr/>
          <p:nvPr userDrawn="1"/>
        </p:nvSpPr>
        <p:spPr>
          <a:xfrm>
            <a:off x="1628431" y="1605021"/>
            <a:ext cx="1285850" cy="1921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 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           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4400" y="1537742"/>
            <a:ext cx="326096" cy="8011938"/>
            <a:chOff x="414400" y="1537742"/>
            <a:chExt cx="326096" cy="8011938"/>
          </a:xfrm>
        </p:grpSpPr>
        <p:sp>
          <p:nvSpPr>
            <p:cNvPr id="91" name="직사각형 90"/>
            <p:cNvSpPr/>
            <p:nvPr userDrawn="1"/>
          </p:nvSpPr>
          <p:spPr>
            <a:xfrm>
              <a:off x="416496" y="3913262"/>
              <a:ext cx="324000" cy="56364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92" name="그룹 91"/>
            <p:cNvGrpSpPr/>
            <p:nvPr userDrawn="1"/>
          </p:nvGrpSpPr>
          <p:grpSpPr>
            <a:xfrm>
              <a:off x="414400" y="1537742"/>
              <a:ext cx="324000" cy="360000"/>
              <a:chOff x="414400" y="2185854"/>
              <a:chExt cx="324000" cy="360000"/>
            </a:xfrm>
          </p:grpSpPr>
          <p:sp>
            <p:nvSpPr>
              <p:cNvPr id="93" name="직사각형 92"/>
              <p:cNvSpPr/>
              <p:nvPr/>
            </p:nvSpPr>
            <p:spPr>
              <a:xfrm>
                <a:off x="414400" y="2185854"/>
                <a:ext cx="324000" cy="360000"/>
              </a:xfrm>
              <a:prstGeom prst="rect">
                <a:avLst/>
              </a:prstGeom>
              <a:solidFill>
                <a:srgbClr val="DBEEF4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94" name="Picture 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606" y="2294416"/>
                <a:ext cx="2095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6" name="직사각형 95"/>
            <p:cNvSpPr/>
            <p:nvPr userDrawn="1"/>
          </p:nvSpPr>
          <p:spPr>
            <a:xfrm>
              <a:off x="415299" y="2617862"/>
              <a:ext cx="324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97" name="Picture 8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405" y="2698488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" name="직사각형 97"/>
            <p:cNvSpPr/>
            <p:nvPr userDrawn="1"/>
          </p:nvSpPr>
          <p:spPr>
            <a:xfrm>
              <a:off x="415299" y="2985331"/>
              <a:ext cx="324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99" name="Picture 9"/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965" y="3065957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" name="직사각형 99"/>
            <p:cNvSpPr/>
            <p:nvPr userDrawn="1"/>
          </p:nvSpPr>
          <p:spPr>
            <a:xfrm>
              <a:off x="415299" y="3705411"/>
              <a:ext cx="324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2" name="Picture 11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06" y="3783002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직사각형 106"/>
            <p:cNvSpPr/>
            <p:nvPr userDrawn="1"/>
          </p:nvSpPr>
          <p:spPr>
            <a:xfrm>
              <a:off x="415299" y="1893590"/>
              <a:ext cx="324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08" name="Picture 6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06" y="197121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직사각형 114"/>
            <p:cNvSpPr/>
            <p:nvPr userDrawn="1"/>
          </p:nvSpPr>
          <p:spPr>
            <a:xfrm>
              <a:off x="414400" y="2257822"/>
              <a:ext cx="324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17" name="Picture 9"/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6" y="2338448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직사각형 89"/>
            <p:cNvSpPr/>
            <p:nvPr userDrawn="1"/>
          </p:nvSpPr>
          <p:spPr>
            <a:xfrm>
              <a:off x="416496" y="3343315"/>
              <a:ext cx="324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10" name="Picture 8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602" y="342394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" name="그룹 59"/>
          <p:cNvGrpSpPr/>
          <p:nvPr userDrawn="1"/>
        </p:nvGrpSpPr>
        <p:grpSpPr>
          <a:xfrm>
            <a:off x="704528" y="2140285"/>
            <a:ext cx="3249935" cy="426135"/>
            <a:chOff x="420885" y="2140285"/>
            <a:chExt cx="3249935" cy="426135"/>
          </a:xfrm>
        </p:grpSpPr>
        <p:sp>
          <p:nvSpPr>
            <p:cNvPr id="62" name="직사각형 61"/>
            <p:cNvSpPr/>
            <p:nvPr userDrawn="1"/>
          </p:nvSpPr>
          <p:spPr>
            <a:xfrm>
              <a:off x="420885" y="2140285"/>
              <a:ext cx="18678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[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사회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]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유럽 문화 탐방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(1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반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  <p:sp>
          <p:nvSpPr>
            <p:cNvPr id="63" name="직사각형 62"/>
            <p:cNvSpPr/>
            <p:nvPr userDrawn="1"/>
          </p:nvSpPr>
          <p:spPr>
            <a:xfrm>
              <a:off x="426021" y="2350976"/>
              <a:ext cx="324479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800" b="1" kern="1200" dirty="0" smtClean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ONLINE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 | </a:t>
              </a:r>
              <a:r>
                <a:rPr kumimoji="1" lang="ko-KR" altLang="en-US" sz="800" b="1" kern="1200" baseline="0" dirty="0" smtClean="0">
                  <a:solidFill>
                    <a:srgbClr val="0070C0"/>
                  </a:solidFill>
                  <a:latin typeface="+mn-ea"/>
                  <a:ea typeface="+mn-ea"/>
                  <a:cs typeface="+mn-cs"/>
                </a:rPr>
                <a:t>학기제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 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| 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개설학과 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: 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사회인문학과 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| 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이수구분</a:t>
              </a:r>
              <a:r>
                <a:rPr kumimoji="1" lang="ko-KR" altLang="en-US" sz="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 </a:t>
              </a:r>
              <a:r>
                <a:rPr kumimoji="1" lang="en-US" altLang="ko-KR" sz="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: </a:t>
              </a:r>
              <a:r>
                <a:rPr kumimoji="1" lang="ko-KR" altLang="en-US" sz="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전공필수 </a:t>
              </a:r>
              <a:endParaRPr kumimoji="1" lang="ko-KR" altLang="en-US" sz="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65" name="그룹 64"/>
          <p:cNvGrpSpPr/>
          <p:nvPr userDrawn="1"/>
        </p:nvGrpSpPr>
        <p:grpSpPr>
          <a:xfrm>
            <a:off x="6566061" y="2271792"/>
            <a:ext cx="720000" cy="215444"/>
            <a:chOff x="6138205" y="3219833"/>
            <a:chExt cx="720000" cy="215444"/>
          </a:xfrm>
        </p:grpSpPr>
        <p:sp>
          <p:nvSpPr>
            <p:cNvPr id="70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6194169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학습독려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5" name="그룹 74"/>
          <p:cNvGrpSpPr/>
          <p:nvPr userDrawn="1"/>
        </p:nvGrpSpPr>
        <p:grpSpPr>
          <a:xfrm>
            <a:off x="7315627" y="2264935"/>
            <a:ext cx="720000" cy="215444"/>
            <a:chOff x="6138205" y="3219833"/>
            <a:chExt cx="720000" cy="215444"/>
          </a:xfrm>
        </p:grpSpPr>
        <p:sp>
          <p:nvSpPr>
            <p:cNvPr id="76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6194170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평가기준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8" name="그룹 87"/>
          <p:cNvGrpSpPr/>
          <p:nvPr userDrawn="1"/>
        </p:nvGrpSpPr>
        <p:grpSpPr>
          <a:xfrm>
            <a:off x="5812904" y="2264935"/>
            <a:ext cx="720000" cy="215444"/>
            <a:chOff x="6138205" y="3219833"/>
            <a:chExt cx="720000" cy="215444"/>
          </a:xfrm>
        </p:grpSpPr>
        <p:sp>
          <p:nvSpPr>
            <p:cNvPr id="89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6142875" y="3219833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강의계획서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1" name="그룹 100"/>
          <p:cNvGrpSpPr/>
          <p:nvPr userDrawn="1"/>
        </p:nvGrpSpPr>
        <p:grpSpPr>
          <a:xfrm>
            <a:off x="4825070" y="2267347"/>
            <a:ext cx="1042273" cy="215444"/>
            <a:chOff x="6076950" y="3219833"/>
            <a:chExt cx="1042273" cy="215444"/>
          </a:xfrm>
        </p:grpSpPr>
        <p:sp>
          <p:nvSpPr>
            <p:cNvPr id="103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90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6076950" y="3219833"/>
              <a:ext cx="104227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이전과목 가져오기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1" name="직사각형 110"/>
          <p:cNvSpPr/>
          <p:nvPr userDrawn="1"/>
        </p:nvSpPr>
        <p:spPr>
          <a:xfrm>
            <a:off x="6349927" y="1928308"/>
            <a:ext cx="1665509" cy="18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강의실 바로가기   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111"/>
          <p:cNvSpPr/>
          <p:nvPr userDrawn="1"/>
        </p:nvSpPr>
        <p:spPr>
          <a:xfrm>
            <a:off x="5305811" y="1935902"/>
            <a:ext cx="1015341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4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" name="그룹 77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79" name="타원 78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직사각형 79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1" name="그룹 80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82" name="타원 81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3" name="직사각형 82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4" name="모서리가 둥근 직사각형 83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85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0976768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044461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 userDrawn="1"/>
        </p:nvSpPr>
        <p:spPr>
          <a:xfrm>
            <a:off x="406971" y="1482689"/>
            <a:ext cx="7671600" cy="9507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16896" y="2577005"/>
            <a:ext cx="533400" cy="7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직선 연결선 52"/>
          <p:cNvCxnSpPr/>
          <p:nvPr userDrawn="1"/>
        </p:nvCxnSpPr>
        <p:spPr>
          <a:xfrm>
            <a:off x="416496" y="2580959"/>
            <a:ext cx="7650000" cy="9114"/>
          </a:xfrm>
          <a:prstGeom prst="line">
            <a:avLst/>
          </a:prstGeom>
          <a:ln w="3810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 userDrawn="1"/>
        </p:nvSpPr>
        <p:spPr>
          <a:xfrm>
            <a:off x="416496" y="2140285"/>
            <a:ext cx="7642373" cy="426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6" name="TextBox 65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67" name="그룹 66"/>
          <p:cNvGrpSpPr/>
          <p:nvPr userDrawn="1"/>
        </p:nvGrpSpPr>
        <p:grpSpPr>
          <a:xfrm>
            <a:off x="498029" y="1916832"/>
            <a:ext cx="1928786" cy="215444"/>
            <a:chOff x="5267482" y="2339935"/>
            <a:chExt cx="1928786" cy="215444"/>
          </a:xfrm>
        </p:grpSpPr>
        <p:sp>
          <p:nvSpPr>
            <p:cNvPr id="68" name="TextBox 67"/>
            <p:cNvSpPr txBox="1"/>
            <p:nvPr/>
          </p:nvSpPr>
          <p:spPr>
            <a:xfrm>
              <a:off x="5349324" y="2339935"/>
              <a:ext cx="1846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대시보드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9" name="Picture 3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482" y="2376871"/>
              <a:ext cx="144000" cy="14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0" name="모서리가 둥근 직사각형 69"/>
          <p:cNvSpPr/>
          <p:nvPr userDrawn="1"/>
        </p:nvSpPr>
        <p:spPr>
          <a:xfrm>
            <a:off x="1172580" y="1967659"/>
            <a:ext cx="118457" cy="113790"/>
          </a:xfrm>
          <a:prstGeom prst="roundRect">
            <a:avLst/>
          </a:prstGeom>
          <a:solidFill>
            <a:srgbClr val="FF000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13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/>
          <p:cNvSpPr/>
          <p:nvPr userDrawn="1"/>
        </p:nvSpPr>
        <p:spPr>
          <a:xfrm>
            <a:off x="414400" y="1895090"/>
            <a:ext cx="76536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0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076" y="1515415"/>
            <a:ext cx="73674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직사각형 107"/>
          <p:cNvSpPr/>
          <p:nvPr userDrawn="1"/>
        </p:nvSpPr>
        <p:spPr>
          <a:xfrm>
            <a:off x="2569017" y="1605021"/>
            <a:ext cx="1285850" cy="19217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 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           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1712640" y="2140285"/>
            <a:ext cx="3249935" cy="426135"/>
            <a:chOff x="420885" y="2140285"/>
            <a:chExt cx="3249935" cy="426135"/>
          </a:xfrm>
        </p:grpSpPr>
        <p:sp>
          <p:nvSpPr>
            <p:cNvPr id="73" name="직사각형 72"/>
            <p:cNvSpPr/>
            <p:nvPr userDrawn="1"/>
          </p:nvSpPr>
          <p:spPr>
            <a:xfrm>
              <a:off x="420885" y="2140285"/>
              <a:ext cx="18678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[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사회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] 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유럽 문화 탐방 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(1</a:t>
              </a:r>
              <a:r>
                <a:rPr lang="ko-KR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반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  <p:sp>
          <p:nvSpPr>
            <p:cNvPr id="75" name="직사각형 74"/>
            <p:cNvSpPr/>
            <p:nvPr userDrawn="1"/>
          </p:nvSpPr>
          <p:spPr>
            <a:xfrm>
              <a:off x="426021" y="2350976"/>
              <a:ext cx="324479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800" b="1" kern="1200" dirty="0" smtClean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ONLINE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 | </a:t>
              </a:r>
              <a:r>
                <a:rPr kumimoji="1" lang="ko-KR" altLang="en-US" sz="800" b="1" kern="1200" baseline="0" dirty="0" smtClean="0">
                  <a:solidFill>
                    <a:srgbClr val="0070C0"/>
                  </a:solidFill>
                  <a:latin typeface="+mn-ea"/>
                  <a:ea typeface="+mn-ea"/>
                  <a:cs typeface="+mn-cs"/>
                </a:rPr>
                <a:t>학기제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 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| 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개설학과 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: 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사회인문학과 </a:t>
              </a:r>
              <a:r>
                <a:rPr kumimoji="1" lang="en-US" altLang="ko-KR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| </a:t>
              </a:r>
              <a:r>
                <a:rPr kumimoji="1" lang="ko-KR" altLang="en-US" sz="800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이수구분</a:t>
              </a:r>
              <a:r>
                <a:rPr kumimoji="1" lang="ko-KR" altLang="en-US" sz="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 </a:t>
              </a:r>
              <a:r>
                <a:rPr kumimoji="1" lang="en-US" altLang="ko-KR" sz="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: </a:t>
              </a:r>
              <a:r>
                <a:rPr kumimoji="1" lang="ko-KR" altLang="en-US" sz="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+mn-cs"/>
                </a:rPr>
                <a:t>전공필수 </a:t>
              </a:r>
              <a:endParaRPr kumimoji="1" lang="ko-KR" altLang="en-US" sz="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76" name="그룹 75"/>
          <p:cNvGrpSpPr/>
          <p:nvPr userDrawn="1"/>
        </p:nvGrpSpPr>
        <p:grpSpPr>
          <a:xfrm>
            <a:off x="6566061" y="2271792"/>
            <a:ext cx="720000" cy="215444"/>
            <a:chOff x="6138205" y="3219833"/>
            <a:chExt cx="720000" cy="215444"/>
          </a:xfrm>
        </p:grpSpPr>
        <p:sp>
          <p:nvSpPr>
            <p:cNvPr id="87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6194169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학습독려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9" name="그룹 88"/>
          <p:cNvGrpSpPr/>
          <p:nvPr userDrawn="1"/>
        </p:nvGrpSpPr>
        <p:grpSpPr>
          <a:xfrm>
            <a:off x="7315627" y="2264935"/>
            <a:ext cx="720000" cy="215444"/>
            <a:chOff x="6138205" y="3219833"/>
            <a:chExt cx="720000" cy="215444"/>
          </a:xfrm>
        </p:grpSpPr>
        <p:sp>
          <p:nvSpPr>
            <p:cNvPr id="109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6194170" y="321983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평가기준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1" name="그룹 110"/>
          <p:cNvGrpSpPr/>
          <p:nvPr userDrawn="1"/>
        </p:nvGrpSpPr>
        <p:grpSpPr>
          <a:xfrm>
            <a:off x="5812904" y="2264935"/>
            <a:ext cx="720000" cy="215444"/>
            <a:chOff x="6138205" y="3219833"/>
            <a:chExt cx="720000" cy="215444"/>
          </a:xfrm>
        </p:grpSpPr>
        <p:sp>
          <p:nvSpPr>
            <p:cNvPr id="112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72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6142875" y="3219833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강의계획서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5" name="그룹 114"/>
          <p:cNvGrpSpPr/>
          <p:nvPr userDrawn="1"/>
        </p:nvGrpSpPr>
        <p:grpSpPr>
          <a:xfrm>
            <a:off x="4825070" y="2267347"/>
            <a:ext cx="1042273" cy="215444"/>
            <a:chOff x="6076950" y="3219833"/>
            <a:chExt cx="1042273" cy="215444"/>
          </a:xfrm>
        </p:grpSpPr>
        <p:sp>
          <p:nvSpPr>
            <p:cNvPr id="116" name="Rectangle 122"/>
            <p:cNvSpPr>
              <a:spLocks noChangeArrowheads="1"/>
            </p:cNvSpPr>
            <p:nvPr/>
          </p:nvSpPr>
          <p:spPr bwMode="auto">
            <a:xfrm>
              <a:off x="6138205" y="3228798"/>
              <a:ext cx="900000" cy="180000"/>
            </a:xfrm>
            <a:prstGeom prst="rect">
              <a:avLst/>
            </a:prstGeom>
            <a:solidFill>
              <a:srgbClr val="007DC5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6076950" y="3219833"/>
              <a:ext cx="104227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bg1"/>
                  </a:solidFill>
                  <a:latin typeface="+mn-ea"/>
                  <a:ea typeface="+mn-ea"/>
                </a:rPr>
                <a:t>이전과목 가져오기</a:t>
              </a:r>
              <a:endParaRPr lang="ko-KR" altLang="en-US" sz="800" kern="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1" name="직사각형 120"/>
          <p:cNvSpPr/>
          <p:nvPr userDrawn="1"/>
        </p:nvSpPr>
        <p:spPr>
          <a:xfrm>
            <a:off x="6349927" y="1928308"/>
            <a:ext cx="1665509" cy="18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강의실 바로가기           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직사각형 121"/>
          <p:cNvSpPr/>
          <p:nvPr userDrawn="1"/>
        </p:nvSpPr>
        <p:spPr>
          <a:xfrm>
            <a:off x="5305811" y="1935902"/>
            <a:ext cx="1015341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875" y="1630896"/>
            <a:ext cx="1428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3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66" y="1630896"/>
            <a:ext cx="127895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" name="그룹 77"/>
          <p:cNvGrpSpPr/>
          <p:nvPr userDrawn="1"/>
        </p:nvGrpSpPr>
        <p:grpSpPr>
          <a:xfrm>
            <a:off x="7672350" y="1496405"/>
            <a:ext cx="243978" cy="215444"/>
            <a:chOff x="8936746" y="2555959"/>
            <a:chExt cx="243978" cy="215444"/>
          </a:xfrm>
        </p:grpSpPr>
        <p:sp>
          <p:nvSpPr>
            <p:cNvPr id="79" name="타원 78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직사각형 79"/>
            <p:cNvSpPr/>
            <p:nvPr userDrawn="1"/>
          </p:nvSpPr>
          <p:spPr>
            <a:xfrm>
              <a:off x="8936746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1" name="그룹 80"/>
          <p:cNvGrpSpPr/>
          <p:nvPr userDrawn="1"/>
        </p:nvGrpSpPr>
        <p:grpSpPr>
          <a:xfrm>
            <a:off x="7896424" y="1494889"/>
            <a:ext cx="243978" cy="215444"/>
            <a:chOff x="8927221" y="2555959"/>
            <a:chExt cx="243978" cy="215444"/>
          </a:xfrm>
        </p:grpSpPr>
        <p:sp>
          <p:nvSpPr>
            <p:cNvPr id="82" name="타원 81"/>
            <p:cNvSpPr/>
            <p:nvPr userDrawn="1"/>
          </p:nvSpPr>
          <p:spPr>
            <a:xfrm>
              <a:off x="8985448" y="2600908"/>
              <a:ext cx="126000" cy="12600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11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3" name="직사각형 82"/>
            <p:cNvSpPr/>
            <p:nvPr userDrawn="1"/>
          </p:nvSpPr>
          <p:spPr>
            <a:xfrm>
              <a:off x="8927221" y="2555959"/>
              <a:ext cx="2439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4" name="모서리가 둥근 직사각형 83"/>
          <p:cNvSpPr/>
          <p:nvPr userDrawn="1"/>
        </p:nvSpPr>
        <p:spPr>
          <a:xfrm>
            <a:off x="6279903" y="1583271"/>
            <a:ext cx="792000" cy="18000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수업운영도구</a:t>
            </a:r>
          </a:p>
        </p:txBody>
      </p:sp>
      <p:sp>
        <p:nvSpPr>
          <p:cNvPr id="85" name="Rectangle 122"/>
          <p:cNvSpPr>
            <a:spLocks noChangeArrowheads="1"/>
          </p:cNvSpPr>
          <p:nvPr userDrawn="1"/>
        </p:nvSpPr>
        <p:spPr bwMode="auto">
          <a:xfrm>
            <a:off x="7103715" y="1583271"/>
            <a:ext cx="468000" cy="1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관리자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86" name="그룹 85"/>
          <p:cNvGrpSpPr/>
          <p:nvPr userDrawn="1"/>
        </p:nvGrpSpPr>
        <p:grpSpPr>
          <a:xfrm>
            <a:off x="414400" y="1537742"/>
            <a:ext cx="1281293" cy="8406097"/>
            <a:chOff x="414400" y="1537742"/>
            <a:chExt cx="1281293" cy="8406097"/>
          </a:xfrm>
        </p:grpSpPr>
        <p:sp>
          <p:nvSpPr>
            <p:cNvPr id="113" name="모서리가 둥근 직사각형 112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8" name="모서리가 둥근 직사각형 117"/>
            <p:cNvSpPr/>
            <p:nvPr userDrawn="1"/>
          </p:nvSpPr>
          <p:spPr>
            <a:xfrm>
              <a:off x="1172580" y="1967659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5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3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9" name="직사각형 118"/>
            <p:cNvSpPr/>
            <p:nvPr userDrawn="1"/>
          </p:nvSpPr>
          <p:spPr>
            <a:xfrm>
              <a:off x="416496" y="8696421"/>
              <a:ext cx="1275904" cy="7240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120" name="그룹 119"/>
            <p:cNvGrpSpPr/>
            <p:nvPr userDrawn="1"/>
          </p:nvGrpSpPr>
          <p:grpSpPr>
            <a:xfrm>
              <a:off x="414400" y="1537742"/>
              <a:ext cx="1278000" cy="360000"/>
              <a:chOff x="414400" y="2185854"/>
              <a:chExt cx="1278000" cy="360000"/>
            </a:xfrm>
          </p:grpSpPr>
          <p:sp>
            <p:nvSpPr>
              <p:cNvPr id="153" name="직사각형 152"/>
              <p:cNvSpPr/>
              <p:nvPr/>
            </p:nvSpPr>
            <p:spPr>
              <a:xfrm>
                <a:off x="414400" y="2185854"/>
                <a:ext cx="1278000" cy="360000"/>
              </a:xfrm>
              <a:prstGeom prst="rect">
                <a:avLst/>
              </a:prstGeom>
              <a:solidFill>
                <a:srgbClr val="DBEEF4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54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606" y="2294416"/>
                <a:ext cx="2095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TextBox 154"/>
              <p:cNvSpPr txBox="1"/>
              <p:nvPr/>
            </p:nvSpPr>
            <p:spPr>
              <a:xfrm>
                <a:off x="695003" y="2257822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강의실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23" name="직사각형 122"/>
            <p:cNvSpPr/>
            <p:nvPr userDrawn="1"/>
          </p:nvSpPr>
          <p:spPr>
            <a:xfrm>
              <a:off x="415299" y="6127204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24" name="Picture 8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405" y="6207830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직사각형 124"/>
            <p:cNvSpPr/>
            <p:nvPr userDrawn="1"/>
          </p:nvSpPr>
          <p:spPr>
            <a:xfrm>
              <a:off x="415299" y="848857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26" name="직사각형 125"/>
            <p:cNvSpPr/>
            <p:nvPr userDrawn="1"/>
          </p:nvSpPr>
          <p:spPr>
            <a:xfrm>
              <a:off x="415299" y="9583838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27" name="Picture 11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06" y="856616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TextBox 127"/>
            <p:cNvSpPr txBox="1"/>
            <p:nvPr userDrawn="1"/>
          </p:nvSpPr>
          <p:spPr>
            <a:xfrm>
              <a:off x="697125" y="6194450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수강정보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9" name="TextBox 128"/>
            <p:cNvSpPr txBox="1"/>
            <p:nvPr userDrawn="1"/>
          </p:nvSpPr>
          <p:spPr>
            <a:xfrm>
              <a:off x="703331" y="8556795"/>
              <a:ext cx="908726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</a:t>
              </a:r>
              <a:r>
                <a:rPr lang="en-US" altLang="ko-KR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설정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0" name="직사각형 129"/>
            <p:cNvSpPr/>
            <p:nvPr userDrawn="1"/>
          </p:nvSpPr>
          <p:spPr>
            <a:xfrm>
              <a:off x="415459" y="8848611"/>
              <a:ext cx="1275266" cy="1095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팀 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교수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조교 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알림 발신 설정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임계값 기준 확인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게시판 관리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1" name="직사각형 130"/>
            <p:cNvSpPr/>
            <p:nvPr userDrawn="1"/>
          </p:nvSpPr>
          <p:spPr>
            <a:xfrm>
              <a:off x="415299" y="1893590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32" name="Picture 6"/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06" y="1971211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" name="TextBox 132"/>
            <p:cNvSpPr txBox="1"/>
            <p:nvPr userDrawn="1"/>
          </p:nvSpPr>
          <p:spPr>
            <a:xfrm>
              <a:off x="697125" y="1966542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알림터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4" name="직사각형 133"/>
            <p:cNvSpPr/>
            <p:nvPr userDrawn="1"/>
          </p:nvSpPr>
          <p:spPr>
            <a:xfrm>
              <a:off x="414400" y="3389456"/>
              <a:ext cx="1278000" cy="14731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강의 목록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과제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토론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퀴즈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설문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세미나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학습메모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5" name="직사각형 134"/>
            <p:cNvSpPr/>
            <p:nvPr userDrawn="1"/>
          </p:nvSpPr>
          <p:spPr>
            <a:xfrm>
              <a:off x="414400" y="3030860"/>
              <a:ext cx="127800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36" name="TextBox 135"/>
            <p:cNvSpPr txBox="1"/>
            <p:nvPr userDrawn="1"/>
          </p:nvSpPr>
          <p:spPr>
            <a:xfrm>
              <a:off x="702432" y="3098106"/>
              <a:ext cx="9087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학습활동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37" name="Picture 9"/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6" y="3111486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8" name="직사각형 137"/>
            <p:cNvSpPr/>
            <p:nvPr userDrawn="1"/>
          </p:nvSpPr>
          <p:spPr>
            <a:xfrm>
              <a:off x="416496" y="2255725"/>
              <a:ext cx="1278000" cy="7688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통합게시판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  <a:p>
              <a:pPr marL="0" marR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[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]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게시판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DC5"/>
                  </a:solidFill>
                </a:rPr>
                <a:t>• </a:t>
              </a:r>
              <a:r>
                <a:rPr lang="ko-KR" altLang="en-US" sz="800" dirty="0" smtClean="0">
                  <a:solidFill>
                    <a:srgbClr val="007DC5"/>
                  </a:solidFill>
                </a:rPr>
                <a:t>추가 게시판</a:t>
              </a:r>
              <a:endParaRPr lang="en-US" altLang="ko-KR" sz="800" dirty="0" smtClean="0">
                <a:solidFill>
                  <a:srgbClr val="007DC5"/>
                </a:solidFill>
              </a:endParaRPr>
            </a:p>
          </p:txBody>
        </p:sp>
        <p:sp>
          <p:nvSpPr>
            <p:cNvPr id="139" name="직사각형 138"/>
            <p:cNvSpPr/>
            <p:nvPr userDrawn="1"/>
          </p:nvSpPr>
          <p:spPr>
            <a:xfrm>
              <a:off x="416496" y="6487244"/>
              <a:ext cx="1278000" cy="7846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수강생 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출석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학습현황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•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학생화면보기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0" name="직사각형 139"/>
            <p:cNvSpPr/>
            <p:nvPr userDrawn="1"/>
          </p:nvSpPr>
          <p:spPr>
            <a:xfrm>
              <a:off x="416496" y="8126474"/>
              <a:ext cx="1275426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pic>
          <p:nvPicPr>
            <p:cNvPr id="141" name="Picture 8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602" y="8207100"/>
              <a:ext cx="21600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TextBox 141"/>
            <p:cNvSpPr txBox="1"/>
            <p:nvPr userDrawn="1"/>
          </p:nvSpPr>
          <p:spPr>
            <a:xfrm>
              <a:off x="698322" y="8193720"/>
              <a:ext cx="993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문제은행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43" name="그룹 142"/>
            <p:cNvGrpSpPr/>
            <p:nvPr userDrawn="1"/>
          </p:nvGrpSpPr>
          <p:grpSpPr>
            <a:xfrm>
              <a:off x="416496" y="4867064"/>
              <a:ext cx="1278000" cy="1260140"/>
              <a:chOff x="416496" y="5697252"/>
              <a:chExt cx="1278000" cy="1260140"/>
            </a:xfrm>
          </p:grpSpPr>
          <p:sp>
            <p:nvSpPr>
              <p:cNvPr id="149" name="직사각형 148"/>
              <p:cNvSpPr/>
              <p:nvPr userDrawn="1"/>
            </p:nvSpPr>
            <p:spPr>
              <a:xfrm>
                <a:off x="416496" y="6055848"/>
                <a:ext cx="1278000" cy="9015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중간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기말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수시평가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장애인시험지원 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결시원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50" name="직사각형 149"/>
              <p:cNvSpPr/>
              <p:nvPr userDrawn="1"/>
            </p:nvSpPr>
            <p:spPr>
              <a:xfrm>
                <a:off x="416496" y="5697252"/>
                <a:ext cx="1278000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1" name="TextBox 150"/>
              <p:cNvSpPr txBox="1"/>
              <p:nvPr userDrawn="1"/>
            </p:nvSpPr>
            <p:spPr>
              <a:xfrm>
                <a:off x="704528" y="5764498"/>
                <a:ext cx="90872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52" name="Picture 9"/>
              <p:cNvPicPr>
                <a:picLocks noChangeAspect="1" noChangeArrowheads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2162" y="5777878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4" name="그룹 143"/>
            <p:cNvGrpSpPr/>
            <p:nvPr userDrawn="1"/>
          </p:nvGrpSpPr>
          <p:grpSpPr>
            <a:xfrm>
              <a:off x="416496" y="7271903"/>
              <a:ext cx="1279197" cy="849239"/>
              <a:chOff x="452500" y="7065404"/>
              <a:chExt cx="1279197" cy="849239"/>
            </a:xfrm>
          </p:grpSpPr>
          <p:sp>
            <p:nvSpPr>
              <p:cNvPr id="145" name="직사각형 144"/>
              <p:cNvSpPr/>
              <p:nvPr userDrawn="1"/>
            </p:nvSpPr>
            <p:spPr>
              <a:xfrm>
                <a:off x="452500" y="7065404"/>
                <a:ext cx="1275426" cy="36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46" name="Picture 8"/>
              <p:cNvPicPr>
                <a:picLocks noChangeAspect="1" noChangeArrowheads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606" y="7146030"/>
                <a:ext cx="216000" cy="2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" name="TextBox 146"/>
              <p:cNvSpPr txBox="1"/>
              <p:nvPr userDrawn="1"/>
            </p:nvSpPr>
            <p:spPr>
              <a:xfrm>
                <a:off x="734326" y="7132650"/>
                <a:ext cx="9936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종합성적</a:t>
                </a:r>
                <a:endPara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8" name="직사각형 147"/>
              <p:cNvSpPr/>
              <p:nvPr userDrawn="1"/>
            </p:nvSpPr>
            <p:spPr>
              <a:xfrm>
                <a:off x="453697" y="7425445"/>
                <a:ext cx="1278000" cy="4891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성적처리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•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성적재확인신청</a:t>
                </a:r>
                <a:endPara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1927301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148741"/>
              </p:ext>
            </p:extLst>
          </p:nvPr>
        </p:nvGraphicFramePr>
        <p:xfrm>
          <a:off x="416496" y="620687"/>
          <a:ext cx="9073008" cy="585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4023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4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8456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cxnSp>
        <p:nvCxnSpPr>
          <p:cNvPr id="2" name="직선 연결선 1"/>
          <p:cNvCxnSpPr/>
          <p:nvPr/>
        </p:nvCxnSpPr>
        <p:spPr bwMode="auto">
          <a:xfrm>
            <a:off x="381794" y="527050"/>
            <a:ext cx="914241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 userDrawn="1"/>
        </p:nvSpPr>
        <p:spPr>
          <a:xfrm>
            <a:off x="6147526" y="647167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박동석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0639963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52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2" r:id="rId1"/>
    <p:sldLayoutId id="2147484495" r:id="rId2"/>
    <p:sldLayoutId id="2147484511" r:id="rId3"/>
    <p:sldLayoutId id="2147484496" r:id="rId4"/>
    <p:sldLayoutId id="2147484510" r:id="rId5"/>
    <p:sldLayoutId id="2147484499" r:id="rId6"/>
    <p:sldLayoutId id="2147484509" r:id="rId7"/>
    <p:sldLayoutId id="2147484502" r:id="rId8"/>
    <p:sldLayoutId id="2147484503" r:id="rId9"/>
    <p:sldLayoutId id="2147484504" r:id="rId10"/>
    <p:sldLayoutId id="2147484505" r:id="rId11"/>
    <p:sldLayoutId id="2147484485" r:id="rId12"/>
    <p:sldLayoutId id="2147484508" r:id="rId13"/>
    <p:sldLayoutId id="2147484507" r:id="rId14"/>
    <p:sldLayoutId id="2147484512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453">
          <p15:clr>
            <a:srgbClr val="F26B43"/>
          </p15:clr>
        </p15:guide>
        <p15:guide id="4" pos="5307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7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4304928" y="1659618"/>
            <a:ext cx="5201052" cy="471487"/>
          </a:xfrm>
          <a:ln/>
        </p:spPr>
        <p:txBody>
          <a:bodyPr/>
          <a:lstStyle/>
          <a:p>
            <a:pPr algn="r"/>
            <a:r>
              <a:rPr lang="en-US" altLang="ko-KR" sz="2800" dirty="0"/>
              <a:t>UI </a:t>
            </a:r>
            <a:r>
              <a:rPr lang="ko-KR" altLang="en-US" sz="2800" dirty="0" smtClean="0"/>
              <a:t>설계서</a:t>
            </a:r>
            <a:endParaRPr lang="ko-KR" altLang="en-US" sz="2800" dirty="0"/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4124908" y="1196752"/>
            <a:ext cx="5356684" cy="312737"/>
          </a:xfrm>
          <a:ln/>
        </p:spPr>
        <p:txBody>
          <a:bodyPr/>
          <a:lstStyle/>
          <a:p>
            <a:pPr algn="r"/>
            <a:r>
              <a:rPr lang="en-US" dirty="0" smtClean="0"/>
              <a:t>[</a:t>
            </a:r>
            <a:r>
              <a:rPr lang="ko-KR" altLang="en-US" dirty="0" smtClean="0"/>
              <a:t>미래형 통합학습관리시스템 구축</a:t>
            </a:r>
            <a:endParaRPr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453761"/>
              </p:ext>
            </p:extLst>
          </p:nvPr>
        </p:nvGraphicFramePr>
        <p:xfrm>
          <a:off x="5784498" y="4293096"/>
          <a:ext cx="3632998" cy="1368152"/>
        </p:xfrm>
        <a:graphic>
          <a:graphicData uri="http://schemas.openxmlformats.org/drawingml/2006/table">
            <a:tbl>
              <a:tblPr/>
              <a:tblGrid>
                <a:gridCol w="13517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12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/>
                        </a:rPr>
                        <a:t>문 서 번 호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sz="1000" b="1" kern="100" dirty="0" smtClean="0">
                          <a:effectLst/>
                          <a:latin typeface="+mn-ea"/>
                          <a:ea typeface="+mn-ea"/>
                        </a:rPr>
                        <a:t>KNOU_DS_05_</a:t>
                      </a:r>
                      <a:r>
                        <a:rPr lang="ko-KR" altLang="en-US" sz="1000" b="1" kern="100" dirty="0" smtClean="0">
                          <a:effectLst/>
                          <a:latin typeface="+mn-ea"/>
                          <a:ea typeface="+mn-ea"/>
                        </a:rPr>
                        <a:t>공통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/>
                        </a:rPr>
                        <a:t>문 서 버 전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</a:t>
                      </a: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/>
                        </a:rPr>
                        <a:t>작 성 일 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2025.10.15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/>
                        </a:rPr>
                        <a:t>작성자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박동석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11" name="직선 연결선 10"/>
          <p:cNvCxnSpPr/>
          <p:nvPr/>
        </p:nvCxnSpPr>
        <p:spPr>
          <a:xfrm>
            <a:off x="4376936" y="2132856"/>
            <a:ext cx="5039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 txBox="1">
            <a:spLocks/>
          </p:cNvSpPr>
          <p:nvPr/>
        </p:nvSpPr>
        <p:spPr bwMode="auto">
          <a:xfrm>
            <a:off x="361156" y="182564"/>
            <a:ext cx="6392466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승인이력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52546"/>
              </p:ext>
            </p:extLst>
          </p:nvPr>
        </p:nvGraphicFramePr>
        <p:xfrm>
          <a:off x="394638" y="837397"/>
          <a:ext cx="9165288" cy="1775360"/>
        </p:xfrm>
        <a:graphic>
          <a:graphicData uri="http://schemas.openxmlformats.org/drawingml/2006/table">
            <a:tbl>
              <a:tblPr firstRow="1" firstCol="1" bandRow="1"/>
              <a:tblGrid>
                <a:gridCol w="25139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095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095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095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9188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3086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4384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수행 역할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소속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이름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승인일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서명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비고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3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작성자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MEDIOPIA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박동석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en-US" alt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43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프로젝트관리자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(PM)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MEDIOPIA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김경실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effectLst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43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사업총괄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고객사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정지연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1745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 txBox="1">
            <a:spLocks/>
          </p:cNvSpPr>
          <p:nvPr/>
        </p:nvSpPr>
        <p:spPr bwMode="auto">
          <a:xfrm>
            <a:off x="361156" y="182564"/>
            <a:ext cx="6392466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개정이력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03027"/>
              </p:ext>
            </p:extLst>
          </p:nvPr>
        </p:nvGraphicFramePr>
        <p:xfrm>
          <a:off x="385012" y="836712"/>
          <a:ext cx="9153624" cy="4480680"/>
        </p:xfrm>
        <a:graphic>
          <a:graphicData uri="http://schemas.openxmlformats.org/drawingml/2006/table">
            <a:tbl>
              <a:tblPr firstRow="1" firstCol="1" bandRow="1"/>
              <a:tblGrid>
                <a:gridCol w="15236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0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766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731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날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짜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버전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변경내용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작성자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2025.10.15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0.5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최초 작성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박동석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2025.11.11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0.6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이지현 선생님 </a:t>
                      </a: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UI</a:t>
                      </a: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검토 내용 반영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박동석</a:t>
                      </a:r>
                      <a:endParaRPr lang="en-US" alt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2026.02.04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0.8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비밀번호 등록 화면 추가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박동석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48111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2026.03.12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0.9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개인정보보호 권고사항</a:t>
                      </a:r>
                      <a:endParaRPr lang="en-US" altLang="ko-KR" sz="1100" dirty="0" smtClean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최초 로그인 시 알림 수신동의 설정 화면 추가</a:t>
                      </a:r>
                      <a:endParaRPr lang="en-US" altLang="ko-KR" sz="1100" dirty="0" smtClean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박동석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en-US" altLang="ko-KR" sz="1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en-US" altLang="ko-KR" sz="1100" dirty="0" smtClean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832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9263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69449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9053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69449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SSO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1786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" name="그룹 42"/>
          <p:cNvGrpSpPr/>
          <p:nvPr/>
        </p:nvGrpSpPr>
        <p:grpSpPr>
          <a:xfrm>
            <a:off x="3723999" y="1969790"/>
            <a:ext cx="234360" cy="200055"/>
            <a:chOff x="1156433" y="11706839"/>
            <a:chExt cx="234360" cy="20005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3906115" y="3650539"/>
            <a:ext cx="234360" cy="200055"/>
            <a:chOff x="1156433" y="11706839"/>
            <a:chExt cx="234360" cy="200055"/>
          </a:xfrm>
        </p:grpSpPr>
        <p:sp>
          <p:nvSpPr>
            <p:cNvPr id="47" name="모서리가 둥근 직사각형 4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3895876" y="3409950"/>
            <a:ext cx="234360" cy="200055"/>
            <a:chOff x="1156433" y="11706839"/>
            <a:chExt cx="234360" cy="200055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5236167" y="5200625"/>
            <a:ext cx="234360" cy="200055"/>
            <a:chOff x="1156433" y="11706839"/>
            <a:chExt cx="234360" cy="200055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SSO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r>
              <a:rPr lang="en-US" altLang="ko-KR" sz="800" spc="-60" dirty="0" smtClean="0">
                <a:latin typeface="+mn-ea"/>
                <a:ea typeface="+mn-ea"/>
              </a:rPr>
              <a:t>, SNS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KNOU_MN_A01010000_01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SSO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r>
              <a:rPr lang="en-US" altLang="ko-KR" sz="800" spc="-60" dirty="0" smtClean="0">
                <a:latin typeface="+mn-ea"/>
                <a:ea typeface="+mn-ea"/>
              </a:rPr>
              <a:t>, SNS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SSO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70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664252"/>
              </p:ext>
            </p:extLst>
          </p:nvPr>
        </p:nvGraphicFramePr>
        <p:xfrm>
          <a:off x="9496933" y="1494927"/>
          <a:ext cx="1404156" cy="566628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입력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SSO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정보확인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LMS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정보확인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필수체크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대학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및 로그인 세션 연동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체크시 자동 로그인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강의맛보기 화면링크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통합관리자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수업운영도구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콘텐츠관리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학습목차연동 메뉴에서 관리 함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비밃번호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찾기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7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216" y="2636912"/>
            <a:ext cx="2357460" cy="3120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3228754" y="1556792"/>
            <a:ext cx="3456384" cy="3878907"/>
            <a:chOff x="3228754" y="1863874"/>
            <a:chExt cx="3456384" cy="3878907"/>
          </a:xfrm>
        </p:grpSpPr>
        <p:sp>
          <p:nvSpPr>
            <p:cNvPr id="25" name="직사각형 24"/>
            <p:cNvSpPr/>
            <p:nvPr/>
          </p:nvSpPr>
          <p:spPr>
            <a:xfrm>
              <a:off x="3228754" y="2161430"/>
              <a:ext cx="3456384" cy="24196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4133483" y="3218309"/>
              <a:ext cx="1697084" cy="953212"/>
              <a:chOff x="6289777" y="3356992"/>
              <a:chExt cx="1697084" cy="953212"/>
            </a:xfrm>
          </p:grpSpPr>
          <p:grpSp>
            <p:nvGrpSpPr>
              <p:cNvPr id="28" name="그룹 27"/>
              <p:cNvGrpSpPr/>
              <p:nvPr/>
            </p:nvGrpSpPr>
            <p:grpSpPr>
              <a:xfrm>
                <a:off x="6291261" y="3356992"/>
                <a:ext cx="1695600" cy="698962"/>
                <a:chOff x="4121496" y="2970445"/>
                <a:chExt cx="1695600" cy="698962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121496" y="2970445"/>
                  <a:ext cx="1695600" cy="432048"/>
                  <a:chOff x="4140546" y="2970445"/>
                  <a:chExt cx="1695600" cy="432048"/>
                </a:xfrm>
              </p:grpSpPr>
              <p:sp>
                <p:nvSpPr>
                  <p:cNvPr id="37" name="직사각형 36"/>
                  <p:cNvSpPr/>
                  <p:nvPr/>
                </p:nvSpPr>
                <p:spPr>
                  <a:xfrm>
                    <a:off x="4140546" y="2970445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아이디를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4140546" y="3218893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비밀번호를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</p:grpSp>
            <p:sp>
              <p:nvSpPr>
                <p:cNvPr id="33" name="모서리가 둥근 직사각형 32"/>
                <p:cNvSpPr/>
                <p:nvPr/>
              </p:nvSpPr>
              <p:spPr>
                <a:xfrm>
                  <a:off x="4121496" y="3489407"/>
                  <a:ext cx="1695600" cy="180000"/>
                </a:xfrm>
                <a:prstGeom prst="roundRect">
                  <a:avLst/>
                </a:prstGeom>
                <a:solidFill>
                  <a:srgbClr val="435C7A"/>
                </a:solidFill>
                <a:ln w="3175">
                  <a:solidFill>
                    <a:srgbClr val="435C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rIns="18000" rtlCol="0" anchor="ctr"/>
                <a:lstStyle/>
                <a:p>
                  <a:pPr algn="ctr"/>
                  <a:r>
                    <a:rPr lang="ko-KR" altLang="en-US" sz="800" dirty="0" smtClean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로그인</a:t>
                  </a:r>
                  <a:endParaRPr lang="ko-KR" altLang="en-US" sz="80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9" name="그룹 28"/>
              <p:cNvGrpSpPr/>
              <p:nvPr/>
            </p:nvGrpSpPr>
            <p:grpSpPr>
              <a:xfrm>
                <a:off x="6289777" y="4086597"/>
                <a:ext cx="1695048" cy="223607"/>
                <a:chOff x="3267377" y="4473116"/>
                <a:chExt cx="1695048" cy="223607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3342425" y="4473116"/>
                  <a:ext cx="1620000" cy="22360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r>
                    <a:rPr lang="ko-KR" altLang="en-US" sz="800" kern="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자동 로그인 </a:t>
                  </a:r>
                  <a:endParaRPr lang="ko-KR" altLang="en-US" sz="8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3267377" y="4521043"/>
                  <a:ext cx="116381" cy="108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40" name="직사각형 39"/>
            <p:cNvSpPr/>
            <p:nvPr/>
          </p:nvSpPr>
          <p:spPr>
            <a:xfrm>
              <a:off x="3228754" y="5454749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강의 맛보기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228754" y="1863874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로그인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16786" y="2588146"/>
              <a:ext cx="2880000" cy="43487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한국방송통신대학교 로그인</a:t>
              </a:r>
              <a:endPara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한국방송통신대학교에 오신 것을 환영합니다</a:t>
              </a:r>
              <a:r>
                <a:rPr lang="en-US" altLang="ko-KR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3228754" y="4600178"/>
              <a:ext cx="3456384" cy="819809"/>
              <a:chOff x="5385048" y="4637346"/>
              <a:chExt cx="3456384" cy="819809"/>
            </a:xfrm>
          </p:grpSpPr>
          <p:sp>
            <p:nvSpPr>
              <p:cNvPr id="58" name="직사각형 57"/>
              <p:cNvSpPr/>
              <p:nvPr/>
            </p:nvSpPr>
            <p:spPr>
              <a:xfrm>
                <a:off x="5385048" y="4643611"/>
                <a:ext cx="3456384" cy="8135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grpSp>
            <p:nvGrpSpPr>
              <p:cNvPr id="5" name="그룹 4"/>
              <p:cNvGrpSpPr/>
              <p:nvPr/>
            </p:nvGrpSpPr>
            <p:grpSpPr>
              <a:xfrm>
                <a:off x="5699061" y="4637346"/>
                <a:ext cx="2880000" cy="404405"/>
                <a:chOff x="5699061" y="4637346"/>
                <a:chExt cx="2880000" cy="404405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5699061" y="4824316"/>
                  <a:ext cx="2880000" cy="21743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회원가입을 하신 후 </a:t>
                  </a:r>
                  <a:r>
                    <a:rPr lang="en-US" altLang="ko-KR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SNS</a:t>
                  </a: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계정으로 로그인 하세요</a:t>
                  </a:r>
                  <a:endParaRPr lang="ko-KR" altLang="en-US" sz="800" kern="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" name="직사각형 3"/>
                <p:cNvSpPr/>
                <p:nvPr/>
              </p:nvSpPr>
              <p:spPr>
                <a:xfrm>
                  <a:off x="6746799" y="4637346"/>
                  <a:ext cx="726481" cy="2532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SNS </a:t>
                  </a:r>
                  <a:r>
                    <a:rPr lang="ko-KR" altLang="en-US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로그인</a:t>
                  </a:r>
                  <a:endParaRPr lang="en-US" altLang="ko-KR" sz="800" b="1" kern="0" dirty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489" y="5032258"/>
              <a:ext cx="559543" cy="28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38" name="꺾인 연결선 37"/>
          <p:cNvCxnSpPr/>
          <p:nvPr/>
        </p:nvCxnSpPr>
        <p:spPr>
          <a:xfrm flipV="1">
            <a:off x="4919662" y="3890244"/>
            <a:ext cx="1977554" cy="9882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/>
          <p:cNvGrpSpPr/>
          <p:nvPr/>
        </p:nvGrpSpPr>
        <p:grpSpPr>
          <a:xfrm>
            <a:off x="5232221" y="5200625"/>
            <a:ext cx="234360" cy="200055"/>
            <a:chOff x="1156433" y="11706839"/>
            <a:chExt cx="234360" cy="200055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897977" y="2893288"/>
            <a:ext cx="234360" cy="200055"/>
            <a:chOff x="1156433" y="11706839"/>
            <a:chExt cx="234360" cy="20005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3902169" y="3650539"/>
            <a:ext cx="234360" cy="200055"/>
            <a:chOff x="1156433" y="11706839"/>
            <a:chExt cx="234360" cy="200055"/>
          </a:xfrm>
        </p:grpSpPr>
        <p:sp>
          <p:nvSpPr>
            <p:cNvPr id="64" name="모서리가 둥근 직사각형 6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3891930" y="3409950"/>
            <a:ext cx="234360" cy="200055"/>
            <a:chOff x="1156433" y="11706839"/>
            <a:chExt cx="234360" cy="200055"/>
          </a:xfrm>
        </p:grpSpPr>
        <p:sp>
          <p:nvSpPr>
            <p:cNvPr id="73" name="모서리가 둥근 직사각형 7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3522685" y="1981257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직원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224808" y="5463009"/>
            <a:ext cx="3456384" cy="482079"/>
            <a:chOff x="5385048" y="4643611"/>
            <a:chExt cx="3456384" cy="482079"/>
          </a:xfrm>
        </p:grpSpPr>
        <p:sp>
          <p:nvSpPr>
            <p:cNvPr id="77" name="직사각형 76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80" name="모서리가 둥근 직사각형 79"/>
          <p:cNvSpPr/>
          <p:nvPr/>
        </p:nvSpPr>
        <p:spPr>
          <a:xfrm>
            <a:off x="5665751" y="5714161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5465299" y="5676106"/>
            <a:ext cx="234360" cy="200055"/>
            <a:chOff x="1156433" y="11706839"/>
            <a:chExt cx="234360" cy="200055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58587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69449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간편인증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617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406970" y="6424761"/>
            <a:ext cx="9082533" cy="2188815"/>
            <a:chOff x="406971" y="9045624"/>
            <a:chExt cx="7671600" cy="2318315"/>
          </a:xfrm>
        </p:grpSpPr>
        <p:sp>
          <p:nvSpPr>
            <p:cNvPr id="35" name="직사각형 34"/>
            <p:cNvSpPr/>
            <p:nvPr/>
          </p:nvSpPr>
          <p:spPr>
            <a:xfrm>
              <a:off x="406971" y="9045624"/>
              <a:ext cx="7671600" cy="230425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cxnSp>
          <p:nvCxnSpPr>
            <p:cNvPr id="36" name="직선 연결선 35"/>
            <p:cNvCxnSpPr/>
            <p:nvPr/>
          </p:nvCxnSpPr>
          <p:spPr>
            <a:xfrm>
              <a:off x="406971" y="9045624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8078033" y="9059683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네이버로그인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KNOU_MN_A01020000_01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네이버로그인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7389440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827" y="1988840"/>
            <a:ext cx="2880000" cy="4826286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직사각형 39"/>
          <p:cNvSpPr/>
          <p:nvPr/>
        </p:nvSpPr>
        <p:spPr>
          <a:xfrm>
            <a:off x="6355060" y="2049516"/>
            <a:ext cx="33405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네이버 로그인</a:t>
            </a:r>
            <a:endParaRPr lang="en-US" altLang="ko-KR" sz="8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 smtClean="0">
                <a:latin typeface="+mn-ea"/>
                <a:ea typeface="+mn-ea"/>
              </a:rPr>
              <a:t>네이버 </a:t>
            </a:r>
            <a:r>
              <a:rPr lang="en-US" altLang="ko-KR" sz="800" dirty="0">
                <a:latin typeface="+mn-ea"/>
                <a:ea typeface="+mn-ea"/>
              </a:rPr>
              <a:t>API </a:t>
            </a:r>
            <a:r>
              <a:rPr lang="ko-KR" altLang="en-US" sz="800" dirty="0">
                <a:latin typeface="+mn-ea"/>
                <a:ea typeface="+mn-ea"/>
              </a:rPr>
              <a:t>연동 작업</a:t>
            </a:r>
            <a:endParaRPr lang="en-US" altLang="ko-KR" sz="8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smtClean="0">
                <a:latin typeface="+mn-ea"/>
                <a:ea typeface="+mn-ea"/>
              </a:rPr>
              <a:t>* 최근 </a:t>
            </a:r>
            <a:r>
              <a:rPr lang="ko-KR" altLang="en-US" sz="800" dirty="0">
                <a:latin typeface="+mn-ea"/>
                <a:ea typeface="+mn-ea"/>
              </a:rPr>
              <a:t>로그인한 계정에 표기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endParaRPr lang="en-US" altLang="ko-KR" sz="8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- APP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에서는 </a:t>
            </a:r>
            <a:r>
              <a:rPr lang="ko-KR" altLang="en-US" sz="800" dirty="0" smtClean="0">
                <a:solidFill>
                  <a:srgbClr val="0070C0"/>
                </a:solidFill>
                <a:latin typeface="+mn-ea"/>
                <a:ea typeface="+mn-ea"/>
              </a:rPr>
              <a:t>가능</a:t>
            </a: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- WEB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에서는 불가능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중복 로그인 불가</a:t>
            </a: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,</a:t>
            </a:r>
            <a:r>
              <a:rPr lang="en-US" altLang="ko-KR" sz="800" dirty="0">
                <a:latin typeface="+mn-ea"/>
                <a:ea typeface="+mn-ea"/>
              </a:rPr>
              <a:t> max-sessions=1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* 자동 로그인 </a:t>
            </a:r>
            <a:r>
              <a:rPr lang="en-US" altLang="ko-KR" sz="800" dirty="0">
                <a:latin typeface="+mn-ea"/>
                <a:ea typeface="+mn-ea"/>
              </a:rPr>
              <a:t>: 60</a:t>
            </a:r>
            <a:r>
              <a:rPr lang="ko-KR" altLang="en-US" sz="800" dirty="0">
                <a:latin typeface="+mn-ea"/>
                <a:ea typeface="+mn-ea"/>
              </a:rPr>
              <a:t>일 </a:t>
            </a:r>
            <a:r>
              <a:rPr lang="en-US" altLang="ko-KR" sz="800" dirty="0">
                <a:latin typeface="+mn-ea"/>
                <a:ea typeface="+mn-ea"/>
              </a:rPr>
              <a:t>(WEB</a:t>
            </a:r>
            <a:r>
              <a:rPr lang="ko-KR" altLang="en-US" sz="800" dirty="0">
                <a:latin typeface="+mn-ea"/>
                <a:ea typeface="+mn-ea"/>
              </a:rPr>
              <a:t>일 경우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로그인 이력 저장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- </a:t>
            </a:r>
            <a:r>
              <a:rPr lang="ko-KR" altLang="en-US" sz="800" dirty="0">
                <a:latin typeface="+mn-ea"/>
                <a:ea typeface="+mn-ea"/>
              </a:rPr>
              <a:t>회원 기본 정보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접속기기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안드로이드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아이폰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윈도우즈</a:t>
            </a:r>
            <a:r>
              <a:rPr lang="en-US" altLang="ko-KR" sz="800" dirty="0">
                <a:latin typeface="+mn-ea"/>
                <a:ea typeface="+mn-ea"/>
              </a:rPr>
              <a:t>) </a:t>
            </a:r>
            <a:r>
              <a:rPr lang="ko-KR" altLang="en-US" sz="800" dirty="0">
                <a:latin typeface="+mn-ea"/>
                <a:ea typeface="+mn-ea"/>
              </a:rPr>
              <a:t>포함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4016872" y="2521471"/>
            <a:ext cx="1872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네이버 로그인으로 서비스를 </a:t>
            </a:r>
            <a:endParaRPr lang="en-US" altLang="ko-KR" sz="800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이용하실 수 있습니다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115613" y="1998365"/>
            <a:ext cx="2680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2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832696"/>
              </p:ext>
            </p:extLst>
          </p:nvPr>
        </p:nvGraphicFramePr>
        <p:xfrm>
          <a:off x="9496933" y="1494927"/>
          <a:ext cx="1404156" cy="34717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간편인증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첫화면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23" name="그룹 22"/>
          <p:cNvGrpSpPr/>
          <p:nvPr/>
        </p:nvGrpSpPr>
        <p:grpSpPr>
          <a:xfrm>
            <a:off x="5995734" y="2023859"/>
            <a:ext cx="234360" cy="200055"/>
            <a:chOff x="1156433" y="11706839"/>
            <a:chExt cx="234360" cy="200055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60503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406970" y="6424761"/>
            <a:ext cx="9082533" cy="2332831"/>
            <a:chOff x="406971" y="9045624"/>
            <a:chExt cx="7671600" cy="2318315"/>
          </a:xfrm>
        </p:grpSpPr>
        <p:sp>
          <p:nvSpPr>
            <p:cNvPr id="35" name="직사각형 34"/>
            <p:cNvSpPr/>
            <p:nvPr/>
          </p:nvSpPr>
          <p:spPr>
            <a:xfrm>
              <a:off x="406971" y="9045624"/>
              <a:ext cx="7671600" cy="230425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cxnSp>
          <p:nvCxnSpPr>
            <p:cNvPr id="36" name="직선 연결선 35"/>
            <p:cNvCxnSpPr/>
            <p:nvPr/>
          </p:nvCxnSpPr>
          <p:spPr>
            <a:xfrm>
              <a:off x="406971" y="9045624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8078033" y="9059683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네이버로그인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KNOU_MN_A01020000_02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네이버로그인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7677472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302" y="1988840"/>
            <a:ext cx="2880000" cy="505600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584265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406970" y="6424761"/>
            <a:ext cx="9082533" cy="1036687"/>
            <a:chOff x="406971" y="9045624"/>
            <a:chExt cx="7671600" cy="2318315"/>
          </a:xfrm>
        </p:grpSpPr>
        <p:sp>
          <p:nvSpPr>
            <p:cNvPr id="35" name="직사각형 34"/>
            <p:cNvSpPr/>
            <p:nvPr/>
          </p:nvSpPr>
          <p:spPr>
            <a:xfrm>
              <a:off x="406971" y="9045624"/>
              <a:ext cx="7671600" cy="230425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cxnSp>
          <p:nvCxnSpPr>
            <p:cNvPr id="36" name="직선 연결선 35"/>
            <p:cNvCxnSpPr/>
            <p:nvPr/>
          </p:nvCxnSpPr>
          <p:spPr>
            <a:xfrm>
              <a:off x="406971" y="9045624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8078033" y="9059683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카카오톡로그인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KNOU_MN_A01020000_03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카카오톡로그인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6381328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827" y="2064701"/>
            <a:ext cx="2880000" cy="3812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6355060" y="2049516"/>
            <a:ext cx="33405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카카오 로그인</a:t>
            </a:r>
            <a:endParaRPr lang="en-US" altLang="ko-KR" sz="8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 smtClean="0">
                <a:latin typeface="+mn-ea"/>
                <a:ea typeface="+mn-ea"/>
              </a:rPr>
              <a:t>카카오 </a:t>
            </a:r>
            <a:r>
              <a:rPr lang="en-US" altLang="ko-KR" sz="800" dirty="0">
                <a:latin typeface="+mn-ea"/>
                <a:ea typeface="+mn-ea"/>
              </a:rPr>
              <a:t>API </a:t>
            </a:r>
            <a:r>
              <a:rPr lang="ko-KR" altLang="en-US" sz="800" dirty="0">
                <a:latin typeface="+mn-ea"/>
                <a:ea typeface="+mn-ea"/>
              </a:rPr>
              <a:t>연동 작업</a:t>
            </a:r>
            <a:endParaRPr lang="en-US" altLang="ko-KR" sz="8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smtClean="0">
                <a:latin typeface="+mn-ea"/>
                <a:ea typeface="+mn-ea"/>
              </a:rPr>
              <a:t>* 최근 </a:t>
            </a:r>
            <a:r>
              <a:rPr lang="ko-KR" altLang="en-US" sz="800" dirty="0">
                <a:latin typeface="+mn-ea"/>
                <a:ea typeface="+mn-ea"/>
              </a:rPr>
              <a:t>로그인한 계정에 표기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endParaRPr lang="en-US" altLang="ko-KR" sz="8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- APP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에서는 가능</a:t>
            </a: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, </a:t>
            </a:r>
            <a:endParaRPr lang="en-US" altLang="ko-KR" sz="800" dirty="0" smtClean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- WEB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에서는 불가능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중복 로그인 불가</a:t>
            </a: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,</a:t>
            </a:r>
            <a:r>
              <a:rPr lang="en-US" altLang="ko-KR" sz="800" dirty="0">
                <a:latin typeface="+mn-ea"/>
                <a:ea typeface="+mn-ea"/>
              </a:rPr>
              <a:t> max-sessions=1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* 자동 로그인 </a:t>
            </a:r>
            <a:r>
              <a:rPr lang="en-US" altLang="ko-KR" sz="800" dirty="0">
                <a:latin typeface="+mn-ea"/>
                <a:ea typeface="+mn-ea"/>
              </a:rPr>
              <a:t>: 60</a:t>
            </a:r>
            <a:r>
              <a:rPr lang="ko-KR" altLang="en-US" sz="800" dirty="0">
                <a:latin typeface="+mn-ea"/>
                <a:ea typeface="+mn-ea"/>
              </a:rPr>
              <a:t>일 </a:t>
            </a:r>
            <a:r>
              <a:rPr lang="en-US" altLang="ko-KR" sz="800" dirty="0">
                <a:latin typeface="+mn-ea"/>
                <a:ea typeface="+mn-ea"/>
              </a:rPr>
              <a:t>(WEB</a:t>
            </a:r>
            <a:r>
              <a:rPr lang="ko-KR" altLang="en-US" sz="800" dirty="0">
                <a:latin typeface="+mn-ea"/>
                <a:ea typeface="+mn-ea"/>
              </a:rPr>
              <a:t>일 경우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로그인 이력 저장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- </a:t>
            </a:r>
            <a:r>
              <a:rPr lang="ko-KR" altLang="en-US" sz="800" dirty="0">
                <a:latin typeface="+mn-ea"/>
                <a:ea typeface="+mn-ea"/>
              </a:rPr>
              <a:t>회원 기본 정보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접속기기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안드로이드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아이폰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윈도우즈</a:t>
            </a:r>
            <a:r>
              <a:rPr lang="en-US" altLang="ko-KR" sz="800" dirty="0">
                <a:latin typeface="+mn-ea"/>
                <a:ea typeface="+mn-ea"/>
              </a:rPr>
              <a:t>) </a:t>
            </a:r>
            <a:r>
              <a:rPr lang="ko-KR" altLang="en-US" sz="800" dirty="0">
                <a:latin typeface="+mn-ea"/>
                <a:ea typeface="+mn-ea"/>
              </a:rPr>
              <a:t>포함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115613" y="2087801"/>
            <a:ext cx="2680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4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108859"/>
              </p:ext>
            </p:extLst>
          </p:nvPr>
        </p:nvGraphicFramePr>
        <p:xfrm>
          <a:off x="9496933" y="1494927"/>
          <a:ext cx="1404156" cy="34717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간편인증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첫화면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25" name="그룹 24"/>
          <p:cNvGrpSpPr/>
          <p:nvPr/>
        </p:nvGrpSpPr>
        <p:grpSpPr>
          <a:xfrm>
            <a:off x="5995734" y="2105392"/>
            <a:ext cx="234360" cy="200055"/>
            <a:chOff x="1156433" y="11706839"/>
            <a:chExt cx="234360" cy="200055"/>
          </a:xfrm>
        </p:grpSpPr>
        <p:sp>
          <p:nvSpPr>
            <p:cNvPr id="26" name="모서리가 둥근 직사각형 25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83870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406970" y="6424761"/>
            <a:ext cx="9082533" cy="1036687"/>
            <a:chOff x="406971" y="9045624"/>
            <a:chExt cx="7671600" cy="2318315"/>
          </a:xfrm>
        </p:grpSpPr>
        <p:sp>
          <p:nvSpPr>
            <p:cNvPr id="35" name="직사각형 34"/>
            <p:cNvSpPr/>
            <p:nvPr/>
          </p:nvSpPr>
          <p:spPr>
            <a:xfrm>
              <a:off x="406971" y="9045624"/>
              <a:ext cx="7671600" cy="230425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cxnSp>
          <p:nvCxnSpPr>
            <p:cNvPr id="36" name="직선 연결선 35"/>
            <p:cNvCxnSpPr/>
            <p:nvPr/>
          </p:nvCxnSpPr>
          <p:spPr>
            <a:xfrm>
              <a:off x="406971" y="9045624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8078033" y="9059683"/>
              <a:ext cx="0" cy="2304256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카카오톡로그인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KNOU_MN_A01020000_04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카카오톡로그인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6381328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840" y="2064701"/>
            <a:ext cx="2880000" cy="3662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직사각형 18"/>
          <p:cNvSpPr/>
          <p:nvPr/>
        </p:nvSpPr>
        <p:spPr>
          <a:xfrm>
            <a:off x="6115613" y="2074084"/>
            <a:ext cx="2680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1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140416"/>
              </p:ext>
            </p:extLst>
          </p:nvPr>
        </p:nvGraphicFramePr>
        <p:xfrm>
          <a:off x="9496933" y="1494927"/>
          <a:ext cx="1404156" cy="34717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간편인증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첫화면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22" name="그룹 21"/>
          <p:cNvGrpSpPr/>
          <p:nvPr/>
        </p:nvGrpSpPr>
        <p:grpSpPr>
          <a:xfrm>
            <a:off x="5995734" y="2105392"/>
            <a:ext cx="234360" cy="200055"/>
            <a:chOff x="1156433" y="11706839"/>
            <a:chExt cx="234360" cy="200055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간편인증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78597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87451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PIN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번호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간편비밀번호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):</a:t>
            </a:r>
            <a:r>
              <a:rPr lang="ko-KR" altLang="en-US" sz="2957" b="1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모바일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749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KNOU_MN_A01030000_01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731647"/>
              </p:ext>
            </p:extLst>
          </p:nvPr>
        </p:nvGraphicFramePr>
        <p:xfrm>
          <a:off x="9496933" y="1494927"/>
          <a:ext cx="1404156" cy="45690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방식 선택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SSO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지문인식은 모바일 경우에만 노출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 로그인 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PN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번호 설정화면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강의맛보기 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찾기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5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직사각형 34"/>
          <p:cNvSpPr/>
          <p:nvPr/>
        </p:nvSpPr>
        <p:spPr>
          <a:xfrm>
            <a:off x="3224808" y="1782340"/>
            <a:ext cx="3456384" cy="2419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224808" y="5075659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3672428" y="1734716"/>
            <a:ext cx="234360" cy="200055"/>
            <a:chOff x="1156433" y="11706839"/>
            <a:chExt cx="234360" cy="200055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3902169" y="3344386"/>
            <a:ext cx="234360" cy="200055"/>
            <a:chOff x="1156433" y="11706839"/>
            <a:chExt cx="234360" cy="200055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3891930" y="3068960"/>
            <a:ext cx="234360" cy="200055"/>
            <a:chOff x="1156433" y="11706839"/>
            <a:chExt cx="234360" cy="200055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5232221" y="5128617"/>
            <a:ext cx="234360" cy="200055"/>
            <a:chOff x="1156433" y="11706839"/>
            <a:chExt cx="234360" cy="200055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4" name="직사각형 63"/>
          <p:cNvSpPr/>
          <p:nvPr/>
        </p:nvSpPr>
        <p:spPr>
          <a:xfrm>
            <a:off x="3224808" y="1484784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512840" y="2255000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 로그인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한국방송통신대학교에 오신 것을 환영합니다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3224808" y="4221088"/>
            <a:ext cx="3456384" cy="819809"/>
            <a:chOff x="5385048" y="4637346"/>
            <a:chExt cx="3456384" cy="819809"/>
          </a:xfrm>
        </p:grpSpPr>
        <p:sp>
          <p:nvSpPr>
            <p:cNvPr id="70" name="직사각형 69"/>
            <p:cNvSpPr/>
            <p:nvPr/>
          </p:nvSpPr>
          <p:spPr>
            <a:xfrm>
              <a:off x="5385048" y="4643611"/>
              <a:ext cx="3456384" cy="813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5699061" y="4637346"/>
              <a:ext cx="2880000" cy="404405"/>
              <a:chOff x="5699061" y="4637346"/>
              <a:chExt cx="2880000" cy="404405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5699061" y="4824316"/>
                <a:ext cx="2880000" cy="21743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회원가입을 하신 후 </a:t>
                </a:r>
                <a:r>
                  <a:rPr lang="en-US" altLang="ko-KR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SNS</a:t>
                </a: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계정으로 로그인 하세요</a:t>
                </a:r>
                <a:endParaRPr lang="ko-KR" altLang="en-US" sz="800" kern="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74" name="직사각형 73"/>
              <p:cNvSpPr/>
              <p:nvPr/>
            </p:nvSpPr>
            <p:spPr>
              <a:xfrm>
                <a:off x="6746799" y="4637346"/>
                <a:ext cx="726481" cy="25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SNS </a:t>
                </a:r>
                <a:r>
                  <a:rPr lang="ko-KR" altLang="en-US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로그인</a:t>
                </a:r>
                <a:endParaRPr lang="en-US" altLang="ko-KR" sz="800" b="1" kern="0" dirty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466" name="모서리가 둥근 직사각형 465"/>
          <p:cNvSpPr/>
          <p:nvPr/>
        </p:nvSpPr>
        <p:spPr>
          <a:xfrm>
            <a:off x="4129705" y="3366361"/>
            <a:ext cx="1695600" cy="180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간편 비밀번호 설정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131021" y="3087854"/>
            <a:ext cx="16956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간편 비밀번호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89" y="4653168"/>
            <a:ext cx="559543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3340609" y="1869207"/>
            <a:ext cx="324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cs typeface="Arial" charset="0"/>
              </a:rPr>
              <a:t>간편비밀번호</a:t>
            </a:r>
            <a:r>
              <a:rPr lang="ko-KR" altLang="en-US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charset="0"/>
              </a:rPr>
              <a:t>지문인식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3224808" y="5391001"/>
            <a:ext cx="3456384" cy="482079"/>
            <a:chOff x="5385048" y="4643611"/>
            <a:chExt cx="3456384" cy="482079"/>
          </a:xfrm>
        </p:grpSpPr>
        <p:sp>
          <p:nvSpPr>
            <p:cNvPr id="44" name="직사각형 43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48" name="모서리가 둥근 직사각형 47"/>
          <p:cNvSpPr/>
          <p:nvPr/>
        </p:nvSpPr>
        <p:spPr>
          <a:xfrm>
            <a:off x="5665751" y="5642153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5465299" y="5604098"/>
            <a:ext cx="234360" cy="200055"/>
            <a:chOff x="1156433" y="11706839"/>
            <a:chExt cx="234360" cy="200055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74238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712" y="1914971"/>
            <a:ext cx="2520000" cy="3746277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직사각형 27"/>
          <p:cNvSpPr/>
          <p:nvPr/>
        </p:nvSpPr>
        <p:spPr>
          <a:xfrm>
            <a:off x="4615754" y="1934021"/>
            <a:ext cx="2680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latin typeface="+mn-ea"/>
              </a:rPr>
              <a:t>X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29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619407"/>
              </p:ext>
            </p:extLst>
          </p:nvPr>
        </p:nvGraphicFramePr>
        <p:xfrm>
          <a:off x="9499029" y="1494927"/>
          <a:ext cx="1404156" cy="34717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간편인증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첫화면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30" name="그룹 29"/>
          <p:cNvGrpSpPr/>
          <p:nvPr/>
        </p:nvGrpSpPr>
        <p:grpSpPr>
          <a:xfrm>
            <a:off x="4476825" y="1946279"/>
            <a:ext cx="234360" cy="200055"/>
            <a:chOff x="1156433" y="11706839"/>
            <a:chExt cx="234360" cy="200055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4890517" y="4460919"/>
            <a:ext cx="4392488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간편 비밀번호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저장 위치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안드로이드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data/data/com.sec.android.app.memo/shared_prefs/AppLockpreferences.xml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iOS :  Face ID/Touch ID,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암호화 키 형태로 기기 내 저장되며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파일로 직접 확인은 불가</a:t>
            </a:r>
          </a:p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브라우저 자동 로그인 기능 활용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자격 증명 관리자 활용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KNOU_MN_A01030000_02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644927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설정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설정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545443"/>
              </p:ext>
            </p:extLst>
          </p:nvPr>
        </p:nvGraphicFramePr>
        <p:xfrm>
          <a:off x="9496933" y="1494927"/>
          <a:ext cx="1404156" cy="45690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방식 선택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SSO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지문인식은 모바일 경우에만 노출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 체크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숫자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6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자리 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 저장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 로그인 첫 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44" name="직사각형 43"/>
          <p:cNvSpPr/>
          <p:nvPr/>
        </p:nvSpPr>
        <p:spPr>
          <a:xfrm>
            <a:off x="4953000" y="3884855"/>
            <a:ext cx="4392488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간편 비밀번호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저장 위치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안드로이드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data/data/com.sec.android.app.memo/shared_prefs/AppLockpreferences.xml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iOS :  Face ID/Touch ID,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암호화 키 형태로 기기 내 저장되며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파일로 직접 확인은 불가</a:t>
            </a:r>
          </a:p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브라우저 자동 로그인 기능 활용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자격 증명 관리자 활용</a:t>
            </a:r>
          </a:p>
        </p:txBody>
      </p:sp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TextBox 45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KNOU_MN_A01030000_03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간편 비밀번호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1919853" y="2780928"/>
            <a:ext cx="234360" cy="200055"/>
            <a:chOff x="1156433" y="11706839"/>
            <a:chExt cx="234360" cy="200055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2082919" y="4339892"/>
            <a:ext cx="234360" cy="200055"/>
            <a:chOff x="1156433" y="11706839"/>
            <a:chExt cx="234360" cy="200055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2072680" y="4064466"/>
            <a:ext cx="234360" cy="200055"/>
            <a:chOff x="1156433" y="11706839"/>
            <a:chExt cx="234360" cy="200055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424608" y="2367930"/>
            <a:ext cx="3456384" cy="2717254"/>
            <a:chOff x="3224808" y="2367930"/>
            <a:chExt cx="3456384" cy="2717254"/>
          </a:xfrm>
        </p:grpSpPr>
        <p:sp>
          <p:nvSpPr>
            <p:cNvPr id="52" name="직사각형 51"/>
            <p:cNvSpPr/>
            <p:nvPr/>
          </p:nvSpPr>
          <p:spPr>
            <a:xfrm>
              <a:off x="3224808" y="2665486"/>
              <a:ext cx="3456384" cy="24196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3224808" y="2367930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로그인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512840" y="3138146"/>
              <a:ext cx="2880000" cy="43487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한국방송통신대학교</a:t>
              </a:r>
              <a:endPara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간편 비밀번호 </a:t>
              </a:r>
              <a:r>
                <a:rPr lang="en-US" altLang="ko-KR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6</a:t>
              </a:r>
              <a:r>
                <a:rPr lang="ko-KR" altLang="en-US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자리 설정합니다</a:t>
              </a:r>
              <a:r>
                <a:rPr lang="en-US" altLang="ko-KR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136529" y="3664074"/>
              <a:ext cx="16956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아이디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136529" y="3912522"/>
              <a:ext cx="16956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비밀번호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142037" y="4159245"/>
              <a:ext cx="16956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간편 비밀번호 </a:t>
              </a:r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6</a:t>
              </a:r>
              <a:r>
                <a:rPr lang="ko-KR" altLang="en-US" sz="8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자리 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137845" y="4422302"/>
              <a:ext cx="16956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147370" y="4685951"/>
              <a:ext cx="16956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취소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6" name="그룹 485"/>
          <p:cNvGrpSpPr/>
          <p:nvPr/>
        </p:nvGrpSpPr>
        <p:grpSpPr>
          <a:xfrm>
            <a:off x="3422496" y="2686789"/>
            <a:ext cx="234360" cy="200055"/>
            <a:chOff x="1156433" y="11706839"/>
            <a:chExt cx="234360" cy="200055"/>
          </a:xfrm>
        </p:grpSpPr>
        <p:sp>
          <p:nvSpPr>
            <p:cNvPr id="487" name="모서리가 둥근 직사각형 48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4" name="직사각형 49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41" name="그룹 540"/>
          <p:cNvGrpSpPr/>
          <p:nvPr/>
        </p:nvGrpSpPr>
        <p:grpSpPr>
          <a:xfrm>
            <a:off x="2135877" y="4149080"/>
            <a:ext cx="234360" cy="200055"/>
            <a:chOff x="1156433" y="11706839"/>
            <a:chExt cx="234360" cy="200055"/>
          </a:xfrm>
        </p:grpSpPr>
        <p:sp>
          <p:nvSpPr>
            <p:cNvPr id="542" name="모서리가 둥근 직사각형 54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3" name="직사각형 54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2135163" y="4405456"/>
            <a:ext cx="234360" cy="200055"/>
            <a:chOff x="1156433" y="11706839"/>
            <a:chExt cx="234360" cy="200055"/>
          </a:xfrm>
        </p:grpSpPr>
        <p:sp>
          <p:nvSpPr>
            <p:cNvPr id="49" name="모서리가 둥근 직사각형 48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2135877" y="4669105"/>
            <a:ext cx="234360" cy="200055"/>
            <a:chOff x="1156433" y="11706839"/>
            <a:chExt cx="234360" cy="200055"/>
          </a:xfrm>
        </p:grpSpPr>
        <p:sp>
          <p:nvSpPr>
            <p:cNvPr id="42" name="모서리가 둥근 직사각형 4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1549574" y="2811445"/>
            <a:ext cx="324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cs typeface="Arial" charset="0"/>
              </a:rPr>
              <a:t>간편 비밀번호</a:t>
            </a:r>
            <a:r>
              <a:rPr lang="ko-KR" altLang="en-US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charset="0"/>
              </a:rPr>
              <a:t>지문인식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28184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87451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지문인식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:</a:t>
            </a:r>
            <a:r>
              <a:rPr lang="ko-KR" altLang="en-US" sz="2957" b="1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모바일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36398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33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70170"/>
              </p:ext>
            </p:extLst>
          </p:nvPr>
        </p:nvGraphicFramePr>
        <p:xfrm>
          <a:off x="9496933" y="1494927"/>
          <a:ext cx="1404156" cy="43861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방식 선택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SSO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지문인식은 모바일 경우에만 노출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 로그인 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PN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번호 설정화면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강의맛보기 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KNOU_MN_A01040000_01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224808" y="2161430"/>
            <a:ext cx="3456384" cy="2419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224808" y="5454749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6077267" y="2114917"/>
            <a:ext cx="234360" cy="200055"/>
            <a:chOff x="1156433" y="11706839"/>
            <a:chExt cx="234360" cy="200055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3902169" y="3723476"/>
            <a:ext cx="234360" cy="200055"/>
            <a:chOff x="1156433" y="11706839"/>
            <a:chExt cx="234360" cy="20005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3891930" y="3448050"/>
            <a:ext cx="234360" cy="200055"/>
            <a:chOff x="1156433" y="11706839"/>
            <a:chExt cx="234360" cy="200055"/>
          </a:xfrm>
        </p:grpSpPr>
        <p:sp>
          <p:nvSpPr>
            <p:cNvPr id="51" name="모서리가 둥근 직사각형 5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5232221" y="5507707"/>
            <a:ext cx="234360" cy="200055"/>
            <a:chOff x="1156433" y="11706839"/>
            <a:chExt cx="234360" cy="200055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6" name="직사각형 55"/>
          <p:cNvSpPr/>
          <p:nvPr/>
        </p:nvSpPr>
        <p:spPr>
          <a:xfrm>
            <a:off x="3224808" y="1863874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12840" y="2634090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 로그인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한국방송통신대학교에 오신 것을 환영합니다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3224808" y="4600178"/>
            <a:ext cx="3456384" cy="819809"/>
            <a:chOff x="5385048" y="4637346"/>
            <a:chExt cx="3456384" cy="819809"/>
          </a:xfrm>
        </p:grpSpPr>
        <p:sp>
          <p:nvSpPr>
            <p:cNvPr id="59" name="직사각형 58"/>
            <p:cNvSpPr/>
            <p:nvPr/>
          </p:nvSpPr>
          <p:spPr>
            <a:xfrm>
              <a:off x="5385048" y="4643611"/>
              <a:ext cx="3456384" cy="813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60" name="그룹 59"/>
            <p:cNvGrpSpPr/>
            <p:nvPr/>
          </p:nvGrpSpPr>
          <p:grpSpPr>
            <a:xfrm>
              <a:off x="5699061" y="4637346"/>
              <a:ext cx="2880000" cy="404405"/>
              <a:chOff x="5699061" y="4637346"/>
              <a:chExt cx="2880000" cy="404405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5699061" y="4824316"/>
                <a:ext cx="2880000" cy="21743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회원가입을 하신 후 </a:t>
                </a:r>
                <a:r>
                  <a:rPr lang="en-US" altLang="ko-KR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SNS</a:t>
                </a: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계정으로 로그인 하세요</a:t>
                </a:r>
                <a:endParaRPr lang="ko-KR" altLang="en-US" sz="800" kern="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6746799" y="4637346"/>
                <a:ext cx="726481" cy="25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SNS </a:t>
                </a:r>
                <a:r>
                  <a:rPr lang="ko-KR" altLang="en-US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로그인</a:t>
                </a:r>
                <a:endParaRPr lang="en-US" altLang="ko-KR" sz="800" b="1" kern="0" dirty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787" y="5054377"/>
              <a:ext cx="1260000" cy="3366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64" name="모서리가 둥근 직사각형 63"/>
          <p:cNvSpPr/>
          <p:nvPr/>
        </p:nvSpPr>
        <p:spPr>
          <a:xfrm>
            <a:off x="4129705" y="3745451"/>
            <a:ext cx="1695600" cy="180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지문 설정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4131021" y="3466944"/>
            <a:ext cx="16956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지문인식</a:t>
            </a:r>
            <a:r>
              <a:rPr lang="en-US" altLang="ko-KR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40609" y="2248297"/>
            <a:ext cx="324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charset="0"/>
              </a:rPr>
              <a:t>간편비밀번호</a:t>
            </a:r>
            <a:r>
              <a:rPr lang="ko-KR" altLang="en-US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cs typeface="Arial" charset="0"/>
              </a:rPr>
              <a:t>지문인식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527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906" y="1728064"/>
            <a:ext cx="2520000" cy="386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661248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" name="직사각형 27"/>
          <p:cNvSpPr/>
          <p:nvPr/>
        </p:nvSpPr>
        <p:spPr>
          <a:xfrm>
            <a:off x="5946220" y="1729383"/>
            <a:ext cx="2680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latin typeface="+mn-ea"/>
              </a:rPr>
              <a:t>X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29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13514"/>
              </p:ext>
            </p:extLst>
          </p:nvPr>
        </p:nvGraphicFramePr>
        <p:xfrm>
          <a:off x="9496933" y="1494927"/>
          <a:ext cx="1404156" cy="34717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간편인증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첫화면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30" name="그룹 29"/>
          <p:cNvGrpSpPr/>
          <p:nvPr/>
        </p:nvGrpSpPr>
        <p:grpSpPr>
          <a:xfrm>
            <a:off x="5807291" y="1741641"/>
            <a:ext cx="234360" cy="200055"/>
            <a:chOff x="1156433" y="11706839"/>
            <a:chExt cx="234360" cy="200055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20569" y="3803556"/>
            <a:ext cx="4070134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지문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저장 위치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일반저장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내부에 파일로 저장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브라우저 자동 로그인 기능 활용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자격 증명 관리자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활용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4.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저장된 지문이 없는 경우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Alert : </a:t>
            </a:r>
            <a:r>
              <a:rPr lang="ko-KR" altLang="en-US" sz="800" dirty="0" smtClean="0">
                <a:solidFill>
                  <a:srgbClr val="0070C0"/>
                </a:solidFill>
                <a:latin typeface="+mn-ea"/>
                <a:ea typeface="+mn-ea"/>
              </a:rPr>
              <a:t>저장된 지문 정보가 없습니다</a:t>
            </a: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. </a:t>
            </a:r>
            <a:r>
              <a:rPr lang="ko-KR" altLang="en-US" sz="800" dirty="0" smtClean="0">
                <a:solidFill>
                  <a:srgbClr val="0070C0"/>
                </a:solidFill>
                <a:latin typeface="+mn-ea"/>
                <a:ea typeface="+mn-ea"/>
              </a:rPr>
              <a:t>지문등록 후 이용하시기 바랍니다</a:t>
            </a: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KNOU_MN_A01040000_02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916650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29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358206"/>
              </p:ext>
            </p:extLst>
          </p:nvPr>
        </p:nvGraphicFramePr>
        <p:xfrm>
          <a:off x="9496933" y="1494927"/>
          <a:ext cx="1404156" cy="45690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방식 선택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SSO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간편 비밀번호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지문인식은 모바일 경우에만 노출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지문 터치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지문 저장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지문인식 로그인 화면 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025008" y="3803556"/>
            <a:ext cx="4070134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지문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저장 위치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일반저장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내부에 파일로 저장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브라우저 자동 로그인 기능 활용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자격 증명 관리자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활용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4.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저장된 지문이 없는 경우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Alert : </a:t>
            </a:r>
            <a:r>
              <a:rPr lang="ko-KR" altLang="en-US" sz="800" dirty="0" smtClean="0">
                <a:solidFill>
                  <a:srgbClr val="0070C0"/>
                </a:solidFill>
                <a:latin typeface="+mn-ea"/>
                <a:ea typeface="+mn-ea"/>
              </a:rPr>
              <a:t>저장된 지문 정보가 없습니다</a:t>
            </a: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. </a:t>
            </a:r>
            <a:r>
              <a:rPr lang="ko-KR" altLang="en-US" sz="800" dirty="0" smtClean="0">
                <a:solidFill>
                  <a:srgbClr val="0070C0"/>
                </a:solidFill>
                <a:latin typeface="+mn-ea"/>
                <a:ea typeface="+mn-ea"/>
              </a:rPr>
              <a:t>지문등록 후 이용하시기 바랍니다</a:t>
            </a:r>
            <a:r>
              <a:rPr lang="en-US" altLang="ko-KR" sz="800" dirty="0" smtClean="0">
                <a:solidFill>
                  <a:srgbClr val="0070C0"/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5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TextBox 57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KNOU_MN_A01040000_03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지문인식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4267542" y="2427332"/>
            <a:ext cx="234360" cy="200055"/>
            <a:chOff x="1156433" y="11706839"/>
            <a:chExt cx="234360" cy="20005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072680" y="3829392"/>
            <a:ext cx="234360" cy="200055"/>
            <a:chOff x="1156433" y="11706839"/>
            <a:chExt cx="234360" cy="200055"/>
          </a:xfrm>
        </p:grpSpPr>
        <p:sp>
          <p:nvSpPr>
            <p:cNvPr id="67" name="모서리가 둥근 직사각형 6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9" name="직사각형 78"/>
          <p:cNvSpPr/>
          <p:nvPr/>
        </p:nvSpPr>
        <p:spPr>
          <a:xfrm>
            <a:off x="1424608" y="2430412"/>
            <a:ext cx="3456384" cy="33748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424608" y="2132856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712640" y="2903072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간편 비밀번호 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6</a:t>
            </a: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자리 설정합니다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336329" y="3429000"/>
            <a:ext cx="1695600" cy="18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아이디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336329" y="3677448"/>
            <a:ext cx="1695600" cy="18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비밀번호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2337645" y="4998366"/>
            <a:ext cx="16956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2347170" y="5262015"/>
            <a:ext cx="16956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4267542" y="2427332"/>
            <a:ext cx="234360" cy="200055"/>
            <a:chOff x="1156433" y="11706839"/>
            <a:chExt cx="234360" cy="200055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2135877" y="3914006"/>
            <a:ext cx="234360" cy="200055"/>
            <a:chOff x="1156433" y="11706839"/>
            <a:chExt cx="234360" cy="200055"/>
          </a:xfrm>
        </p:grpSpPr>
        <p:sp>
          <p:nvSpPr>
            <p:cNvPr id="85" name="모서리가 둥근 직사각형 84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2135163" y="4981520"/>
            <a:ext cx="234360" cy="200055"/>
            <a:chOff x="1156433" y="11706839"/>
            <a:chExt cx="234360" cy="200055"/>
          </a:xfrm>
        </p:grpSpPr>
        <p:sp>
          <p:nvSpPr>
            <p:cNvPr id="88" name="모서리가 둥근 직사각형 8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2135877" y="5245169"/>
            <a:ext cx="234360" cy="200055"/>
            <a:chOff x="1156433" y="11706839"/>
            <a:chExt cx="234360" cy="200055"/>
          </a:xfrm>
        </p:grpSpPr>
        <p:sp>
          <p:nvSpPr>
            <p:cNvPr id="91" name="모서리가 둥근 직사각형 9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332137" y="3914006"/>
            <a:ext cx="1699792" cy="990546"/>
            <a:chOff x="-1039663" y="3440092"/>
            <a:chExt cx="1699792" cy="990546"/>
          </a:xfrm>
        </p:grpSpPr>
        <p:sp>
          <p:nvSpPr>
            <p:cNvPr id="93" name="직사각형 92"/>
            <p:cNvSpPr/>
            <p:nvPr/>
          </p:nvSpPr>
          <p:spPr>
            <a:xfrm>
              <a:off x="-1039663" y="3440092"/>
              <a:ext cx="1699792" cy="9905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pic>
          <p:nvPicPr>
            <p:cNvPr id="94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02348" y="3557017"/>
              <a:ext cx="1153790" cy="775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6" name="TextBox 45"/>
          <p:cNvSpPr txBox="1"/>
          <p:nvPr/>
        </p:nvSpPr>
        <p:spPr>
          <a:xfrm>
            <a:off x="1540049" y="2566846"/>
            <a:ext cx="324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charset="0"/>
              </a:rPr>
              <a:t>간편비밀번호</a:t>
            </a:r>
            <a:r>
              <a:rPr lang="ko-KR" altLang="en-US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cs typeface="Arial" charset="0"/>
              </a:rPr>
              <a:t>지문인식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9488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87451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일반로그인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5352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일반로그인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99465"/>
              </p:ext>
            </p:extLst>
          </p:nvPr>
        </p:nvGraphicFramePr>
        <p:xfrm>
          <a:off x="9496933" y="1494927"/>
          <a:ext cx="1404156" cy="62149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입력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SSO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정보확인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LMS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정보확인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필수체크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대학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및 로그인 세션 연동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체크시 자동 로그인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회원가입 화면링크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비번찾기 화면링크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새로 등록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새 비밀번호로 업데이트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강의맛보기 화면링크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통합관리자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수업운영도구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콘텐츠관리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학습목차연동 메뉴에서 관리 함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비밃번호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찾기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KNOU_MN_A01050000_01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224808" y="1854348"/>
            <a:ext cx="3456384" cy="2419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129537" y="2911227"/>
            <a:ext cx="1697084" cy="953212"/>
            <a:chOff x="6289777" y="3356992"/>
            <a:chExt cx="1697084" cy="953212"/>
          </a:xfrm>
        </p:grpSpPr>
        <p:grpSp>
          <p:nvGrpSpPr>
            <p:cNvPr id="80" name="그룹 79"/>
            <p:cNvGrpSpPr/>
            <p:nvPr/>
          </p:nvGrpSpPr>
          <p:grpSpPr>
            <a:xfrm>
              <a:off x="6291261" y="3356992"/>
              <a:ext cx="1695600" cy="698962"/>
              <a:chOff x="4121496" y="2970445"/>
              <a:chExt cx="1695600" cy="698962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21496" y="2970445"/>
                <a:ext cx="1695600" cy="432048"/>
                <a:chOff x="4140546" y="2970445"/>
                <a:chExt cx="1695600" cy="432048"/>
              </a:xfrm>
            </p:grpSpPr>
            <p:sp>
              <p:nvSpPr>
                <p:cNvPr id="88" name="직사각형 87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89" name="직사각형 88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87" name="모서리가 둥근 직사각형 86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6289777" y="4086597"/>
              <a:ext cx="1695048" cy="223607"/>
              <a:chOff x="3267377" y="4473116"/>
              <a:chExt cx="1695048" cy="22360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 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90" name="직사각형 89"/>
          <p:cNvSpPr/>
          <p:nvPr/>
        </p:nvSpPr>
        <p:spPr>
          <a:xfrm>
            <a:off x="3224808" y="5147667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3897977" y="2893288"/>
            <a:ext cx="234360" cy="200055"/>
            <a:chOff x="1156433" y="11706839"/>
            <a:chExt cx="234360" cy="200055"/>
          </a:xfrm>
        </p:grpSpPr>
        <p:sp>
          <p:nvSpPr>
            <p:cNvPr id="92" name="모서리가 둥근 직사각형 9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3902169" y="3650539"/>
            <a:ext cx="234360" cy="200055"/>
            <a:chOff x="1156433" y="11706839"/>
            <a:chExt cx="234360" cy="200055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3891930" y="3409950"/>
            <a:ext cx="234360" cy="200055"/>
            <a:chOff x="1156433" y="11706839"/>
            <a:chExt cx="234360" cy="200055"/>
          </a:xfrm>
        </p:grpSpPr>
        <p:sp>
          <p:nvSpPr>
            <p:cNvPr id="98" name="모서리가 둥근 직사각형 9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5232221" y="5200625"/>
            <a:ext cx="234360" cy="200055"/>
            <a:chOff x="1156433" y="11706839"/>
            <a:chExt cx="234360" cy="200055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7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03" name="직사각형 102"/>
          <p:cNvSpPr/>
          <p:nvPr/>
        </p:nvSpPr>
        <p:spPr>
          <a:xfrm>
            <a:off x="3224808" y="1556792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3224808" y="4293096"/>
            <a:ext cx="3456384" cy="819809"/>
            <a:chOff x="5385048" y="4637346"/>
            <a:chExt cx="3456384" cy="819809"/>
          </a:xfrm>
        </p:grpSpPr>
        <p:sp>
          <p:nvSpPr>
            <p:cNvPr id="109" name="직사각형 108"/>
            <p:cNvSpPr/>
            <p:nvPr/>
          </p:nvSpPr>
          <p:spPr>
            <a:xfrm>
              <a:off x="5385048" y="4643611"/>
              <a:ext cx="3456384" cy="813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5699061" y="4637346"/>
              <a:ext cx="2880000" cy="404405"/>
              <a:chOff x="5699061" y="4637346"/>
              <a:chExt cx="2880000" cy="404405"/>
            </a:xfrm>
          </p:grpSpPr>
          <p:sp>
            <p:nvSpPr>
              <p:cNvPr id="112" name="TextBox 111"/>
              <p:cNvSpPr txBox="1"/>
              <p:nvPr/>
            </p:nvSpPr>
            <p:spPr>
              <a:xfrm>
                <a:off x="5699061" y="4824316"/>
                <a:ext cx="2880000" cy="21743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회원가입을 하신 후 </a:t>
                </a:r>
                <a:r>
                  <a:rPr lang="en-US" altLang="ko-KR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SNS</a:t>
                </a: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계정으로 로그인 하세요</a:t>
                </a:r>
                <a:endParaRPr lang="ko-KR" altLang="en-US" sz="800" kern="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6746799" y="4637346"/>
                <a:ext cx="726481" cy="25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SNS </a:t>
                </a:r>
                <a:r>
                  <a:rPr lang="ko-KR" altLang="en-US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로그인</a:t>
                </a:r>
                <a:endParaRPr lang="en-US" altLang="ko-KR" sz="800" b="1" kern="0" dirty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</p:grpSp>
      <p:grpSp>
        <p:nvGrpSpPr>
          <p:cNvPr id="501" name="그룹 500"/>
          <p:cNvGrpSpPr/>
          <p:nvPr/>
        </p:nvGrpSpPr>
        <p:grpSpPr>
          <a:xfrm>
            <a:off x="3704481" y="3824617"/>
            <a:ext cx="234360" cy="200055"/>
            <a:chOff x="1156433" y="11706839"/>
            <a:chExt cx="234360" cy="200055"/>
          </a:xfrm>
        </p:grpSpPr>
        <p:sp>
          <p:nvSpPr>
            <p:cNvPr id="512" name="모서리가 둥근 직사각형 51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3" name="직사각형 512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14" name="그룹 513"/>
          <p:cNvGrpSpPr/>
          <p:nvPr/>
        </p:nvGrpSpPr>
        <p:grpSpPr>
          <a:xfrm>
            <a:off x="4362078" y="3824617"/>
            <a:ext cx="234360" cy="200055"/>
            <a:chOff x="1156433" y="11706839"/>
            <a:chExt cx="234360" cy="200055"/>
          </a:xfrm>
        </p:grpSpPr>
        <p:sp>
          <p:nvSpPr>
            <p:cNvPr id="515" name="모서리가 둥근 직사각형 514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6" name="직사각형 535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516786" y="2281064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 로그인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한국방송통신대학교에 오신 것을 환영합니다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2685" y="1981257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일반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89" y="4725176"/>
            <a:ext cx="559543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3757439" y="3986014"/>
            <a:ext cx="2467362" cy="185333"/>
            <a:chOff x="4122812" y="4293096"/>
            <a:chExt cx="2467362" cy="185333"/>
          </a:xfrm>
        </p:grpSpPr>
        <p:grpSp>
          <p:nvGrpSpPr>
            <p:cNvPr id="105" name="그룹 104"/>
            <p:cNvGrpSpPr/>
            <p:nvPr/>
          </p:nvGrpSpPr>
          <p:grpSpPr>
            <a:xfrm>
              <a:off x="4122812" y="4298429"/>
              <a:ext cx="1718547" cy="180000"/>
              <a:chOff x="6283052" y="4113096"/>
              <a:chExt cx="1718547" cy="180000"/>
            </a:xfrm>
          </p:grpSpPr>
          <p:sp>
            <p:nvSpPr>
              <p:cNvPr id="106" name="모서리가 둥근 직사각형 105"/>
              <p:cNvSpPr/>
              <p:nvPr/>
            </p:nvSpPr>
            <p:spPr>
              <a:xfrm>
                <a:off x="6283052" y="4113096"/>
                <a:ext cx="612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회원가입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7" name="모서리가 둥근 직사각형 106"/>
              <p:cNvSpPr/>
              <p:nvPr/>
            </p:nvSpPr>
            <p:spPr>
              <a:xfrm>
                <a:off x="6921599" y="4113096"/>
                <a:ext cx="1080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아이디</a:t>
                </a:r>
                <a:r>
                  <a:rPr lang="en-US" altLang="ko-KR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비밀번호 찾기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9" name="모서리가 둥근 직사각형 58"/>
            <p:cNvSpPr/>
            <p:nvPr/>
          </p:nvSpPr>
          <p:spPr>
            <a:xfrm>
              <a:off x="5870174" y="4293096"/>
              <a:ext cx="720000" cy="18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등록</a:t>
              </a:r>
              <a:endParaRPr lang="ko-KR" alt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5466581" y="3822948"/>
            <a:ext cx="234360" cy="200055"/>
            <a:chOff x="1156433" y="11706839"/>
            <a:chExt cx="234360" cy="20005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6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3224808" y="5479132"/>
            <a:ext cx="3456384" cy="482079"/>
            <a:chOff x="5385048" y="4643611"/>
            <a:chExt cx="3456384" cy="482079"/>
          </a:xfrm>
        </p:grpSpPr>
        <p:sp>
          <p:nvSpPr>
            <p:cNvPr id="64" name="직사각형 63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66" name="모서리가 둥근 직사각형 65"/>
          <p:cNvSpPr/>
          <p:nvPr/>
        </p:nvSpPr>
        <p:spPr>
          <a:xfrm>
            <a:off x="5665751" y="5730284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5465299" y="5692229"/>
            <a:ext cx="234360" cy="200055"/>
            <a:chOff x="1156433" y="11706839"/>
            <a:chExt cx="234360" cy="200055"/>
          </a:xfrm>
        </p:grpSpPr>
        <p:sp>
          <p:nvSpPr>
            <p:cNvPr id="68" name="모서리가 둥근 직사각형 6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8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16949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8241067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err="1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모바일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로그인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최초 알림 수신 동의 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55816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" name="그룹 42"/>
          <p:cNvGrpSpPr/>
          <p:nvPr/>
        </p:nvGrpSpPr>
        <p:grpSpPr>
          <a:xfrm>
            <a:off x="3723999" y="1969790"/>
            <a:ext cx="234360" cy="200055"/>
            <a:chOff x="1156433" y="11706839"/>
            <a:chExt cx="234360" cy="20005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3906115" y="3650539"/>
            <a:ext cx="234360" cy="200055"/>
            <a:chOff x="1156433" y="11706839"/>
            <a:chExt cx="234360" cy="200055"/>
          </a:xfrm>
        </p:grpSpPr>
        <p:sp>
          <p:nvSpPr>
            <p:cNvPr id="47" name="모서리가 둥근 직사각형 4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3895876" y="3409950"/>
            <a:ext cx="234360" cy="200055"/>
            <a:chOff x="1156433" y="11706839"/>
            <a:chExt cx="234360" cy="200055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5236167" y="5200625"/>
            <a:ext cx="234360" cy="200055"/>
            <a:chOff x="1156433" y="11706839"/>
            <a:chExt cx="234360" cy="200055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KNOU_MN_A03000000_01</a:t>
            </a:r>
            <a:endParaRPr lang="ko-KR" altLang="en-US" sz="800" spc="-60" dirty="0">
              <a:latin typeface="+mn-ea"/>
            </a:endParaRPr>
          </a:p>
        </p:txBody>
      </p:sp>
      <p:graphicFrame>
        <p:nvGraphicFramePr>
          <p:cNvPr id="70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359757"/>
              </p:ext>
            </p:extLst>
          </p:nvPr>
        </p:nvGraphicFramePr>
        <p:xfrm>
          <a:off x="9496933" y="1494927"/>
          <a:ext cx="1404156" cy="45690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 수신 동의 여부 확인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최초 설정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Y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이면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대시보드로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이동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최초 설정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N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이면 알림 설정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3228754" y="1556792"/>
            <a:ext cx="3456384" cy="3878907"/>
            <a:chOff x="3228754" y="1863874"/>
            <a:chExt cx="3456384" cy="3878907"/>
          </a:xfrm>
        </p:grpSpPr>
        <p:sp>
          <p:nvSpPr>
            <p:cNvPr id="25" name="직사각형 24"/>
            <p:cNvSpPr/>
            <p:nvPr/>
          </p:nvSpPr>
          <p:spPr>
            <a:xfrm>
              <a:off x="3228754" y="2161430"/>
              <a:ext cx="3456384" cy="24196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4133483" y="3218309"/>
              <a:ext cx="1697084" cy="953212"/>
              <a:chOff x="6289777" y="3356992"/>
              <a:chExt cx="1697084" cy="953212"/>
            </a:xfrm>
          </p:grpSpPr>
          <p:grpSp>
            <p:nvGrpSpPr>
              <p:cNvPr id="28" name="그룹 27"/>
              <p:cNvGrpSpPr/>
              <p:nvPr/>
            </p:nvGrpSpPr>
            <p:grpSpPr>
              <a:xfrm>
                <a:off x="6291261" y="3356992"/>
                <a:ext cx="1695600" cy="698962"/>
                <a:chOff x="4121496" y="2970445"/>
                <a:chExt cx="1695600" cy="698962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121496" y="2970445"/>
                  <a:ext cx="1695600" cy="432048"/>
                  <a:chOff x="4140546" y="2970445"/>
                  <a:chExt cx="1695600" cy="432048"/>
                </a:xfrm>
              </p:grpSpPr>
              <p:sp>
                <p:nvSpPr>
                  <p:cNvPr id="37" name="직사각형 36"/>
                  <p:cNvSpPr/>
                  <p:nvPr/>
                </p:nvSpPr>
                <p:spPr>
                  <a:xfrm>
                    <a:off x="4140546" y="2970445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아이디를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4140546" y="3218893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비밀번호를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</p:grpSp>
            <p:sp>
              <p:nvSpPr>
                <p:cNvPr id="33" name="모서리가 둥근 직사각형 32"/>
                <p:cNvSpPr/>
                <p:nvPr/>
              </p:nvSpPr>
              <p:spPr>
                <a:xfrm>
                  <a:off x="4121496" y="3489407"/>
                  <a:ext cx="1695600" cy="180000"/>
                </a:xfrm>
                <a:prstGeom prst="roundRect">
                  <a:avLst/>
                </a:prstGeom>
                <a:solidFill>
                  <a:srgbClr val="435C7A"/>
                </a:solidFill>
                <a:ln w="3175">
                  <a:solidFill>
                    <a:srgbClr val="435C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rIns="18000" rtlCol="0" anchor="ctr"/>
                <a:lstStyle/>
                <a:p>
                  <a:pPr algn="ctr"/>
                  <a:r>
                    <a:rPr lang="ko-KR" altLang="en-US" sz="800" dirty="0" smtClean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로그인</a:t>
                  </a:r>
                  <a:endParaRPr lang="ko-KR" altLang="en-US" sz="80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9" name="그룹 28"/>
              <p:cNvGrpSpPr/>
              <p:nvPr/>
            </p:nvGrpSpPr>
            <p:grpSpPr>
              <a:xfrm>
                <a:off x="6289777" y="4086597"/>
                <a:ext cx="1695048" cy="223607"/>
                <a:chOff x="3267377" y="4473116"/>
                <a:chExt cx="1695048" cy="223607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3342425" y="4473116"/>
                  <a:ext cx="1620000" cy="22360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r>
                    <a:rPr lang="ko-KR" altLang="en-US" sz="800" kern="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자동 로그인 </a:t>
                  </a:r>
                  <a:endParaRPr lang="ko-KR" altLang="en-US" sz="8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3267377" y="4521043"/>
                  <a:ext cx="116381" cy="108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40" name="직사각형 39"/>
            <p:cNvSpPr/>
            <p:nvPr/>
          </p:nvSpPr>
          <p:spPr>
            <a:xfrm>
              <a:off x="3228754" y="5454749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강의 맛보기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228754" y="1863874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로그인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16786" y="2588146"/>
              <a:ext cx="2880000" cy="43487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한국방송통신대학교 로그인</a:t>
              </a:r>
              <a:endPara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한국방송통신대학교에 오신 것을 환영합니다</a:t>
              </a:r>
              <a:r>
                <a:rPr lang="en-US" altLang="ko-KR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3228754" y="4600178"/>
              <a:ext cx="3456384" cy="819809"/>
              <a:chOff x="5385048" y="4637346"/>
              <a:chExt cx="3456384" cy="819809"/>
            </a:xfrm>
          </p:grpSpPr>
          <p:sp>
            <p:nvSpPr>
              <p:cNvPr id="58" name="직사각형 57"/>
              <p:cNvSpPr/>
              <p:nvPr/>
            </p:nvSpPr>
            <p:spPr>
              <a:xfrm>
                <a:off x="5385048" y="4643611"/>
                <a:ext cx="3456384" cy="8135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grpSp>
            <p:nvGrpSpPr>
              <p:cNvPr id="5" name="그룹 4"/>
              <p:cNvGrpSpPr/>
              <p:nvPr/>
            </p:nvGrpSpPr>
            <p:grpSpPr>
              <a:xfrm>
                <a:off x="5699061" y="4637346"/>
                <a:ext cx="2880000" cy="404405"/>
                <a:chOff x="5699061" y="4637346"/>
                <a:chExt cx="2880000" cy="404405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5699061" y="4824316"/>
                  <a:ext cx="2880000" cy="21743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회원가입을 하신 후 </a:t>
                  </a:r>
                  <a:r>
                    <a:rPr lang="en-US" altLang="ko-KR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SNS</a:t>
                  </a: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계정으로 로그인 하세요</a:t>
                  </a:r>
                  <a:endParaRPr lang="ko-KR" altLang="en-US" sz="800" kern="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" name="직사각형 3"/>
                <p:cNvSpPr/>
                <p:nvPr/>
              </p:nvSpPr>
              <p:spPr>
                <a:xfrm>
                  <a:off x="6746799" y="4637346"/>
                  <a:ext cx="726481" cy="2532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SNS </a:t>
                  </a:r>
                  <a:r>
                    <a:rPr lang="ko-KR" altLang="en-US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로그인</a:t>
                  </a:r>
                  <a:endParaRPr lang="en-US" altLang="ko-KR" sz="800" b="1" kern="0" dirty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489" y="5032258"/>
              <a:ext cx="559543" cy="28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56" name="그룹 55"/>
          <p:cNvGrpSpPr/>
          <p:nvPr/>
        </p:nvGrpSpPr>
        <p:grpSpPr>
          <a:xfrm>
            <a:off x="5576754" y="3419474"/>
            <a:ext cx="234360" cy="200055"/>
            <a:chOff x="1156433" y="11706839"/>
            <a:chExt cx="234360" cy="200055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3522685" y="1981257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직원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224808" y="5463009"/>
            <a:ext cx="3456384" cy="482079"/>
            <a:chOff x="5385048" y="4643611"/>
            <a:chExt cx="3456384" cy="482079"/>
          </a:xfrm>
        </p:grpSpPr>
        <p:sp>
          <p:nvSpPr>
            <p:cNvPr id="77" name="직사각형 76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80" name="모서리가 둥근 직사각형 79"/>
          <p:cNvSpPr/>
          <p:nvPr/>
        </p:nvSpPr>
        <p:spPr>
          <a:xfrm>
            <a:off x="5665751" y="5714161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8754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" name="그룹 42"/>
          <p:cNvGrpSpPr/>
          <p:nvPr/>
        </p:nvGrpSpPr>
        <p:grpSpPr>
          <a:xfrm>
            <a:off x="3723999" y="1969790"/>
            <a:ext cx="234360" cy="200055"/>
            <a:chOff x="1156433" y="11706839"/>
            <a:chExt cx="234360" cy="20005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3906115" y="3650539"/>
            <a:ext cx="234360" cy="200055"/>
            <a:chOff x="1156433" y="11706839"/>
            <a:chExt cx="234360" cy="200055"/>
          </a:xfrm>
        </p:grpSpPr>
        <p:sp>
          <p:nvSpPr>
            <p:cNvPr id="47" name="모서리가 둥근 직사각형 4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3895876" y="3409950"/>
            <a:ext cx="234360" cy="200055"/>
            <a:chOff x="1156433" y="11706839"/>
            <a:chExt cx="234360" cy="200055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5236167" y="5200625"/>
            <a:ext cx="234360" cy="200055"/>
            <a:chOff x="1156433" y="11706839"/>
            <a:chExt cx="234360" cy="200055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KNOU_MN_A03000000_02</a:t>
            </a:r>
            <a:endParaRPr lang="ko-KR" altLang="en-US" sz="800" spc="-60" dirty="0">
              <a:latin typeface="+mn-ea"/>
            </a:endParaRPr>
          </a:p>
        </p:txBody>
      </p:sp>
      <p:graphicFrame>
        <p:nvGraphicFramePr>
          <p:cNvPr id="70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563129"/>
              </p:ext>
            </p:extLst>
          </p:nvPr>
        </p:nvGraphicFramePr>
        <p:xfrm>
          <a:off x="9496933" y="1494927"/>
          <a:ext cx="1404156" cy="53005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 수신동의 여부 확인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수신동의 여부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Y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이면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대시보드로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이동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수신동의 여부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 N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이면 알림 수신동의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OFF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유의사항 읽지 않음인 경우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동의 설정 불가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유의사항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3228754" y="1556792"/>
            <a:ext cx="3456384" cy="3878907"/>
            <a:chOff x="3228754" y="1863874"/>
            <a:chExt cx="3456384" cy="3878907"/>
          </a:xfrm>
        </p:grpSpPr>
        <p:sp>
          <p:nvSpPr>
            <p:cNvPr id="25" name="직사각형 24"/>
            <p:cNvSpPr/>
            <p:nvPr/>
          </p:nvSpPr>
          <p:spPr>
            <a:xfrm>
              <a:off x="3228754" y="2161430"/>
              <a:ext cx="3456384" cy="24196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4133483" y="3218309"/>
              <a:ext cx="1697084" cy="953212"/>
              <a:chOff x="6289777" y="3356992"/>
              <a:chExt cx="1697084" cy="953212"/>
            </a:xfrm>
          </p:grpSpPr>
          <p:grpSp>
            <p:nvGrpSpPr>
              <p:cNvPr id="28" name="그룹 27"/>
              <p:cNvGrpSpPr/>
              <p:nvPr/>
            </p:nvGrpSpPr>
            <p:grpSpPr>
              <a:xfrm>
                <a:off x="6291261" y="3356992"/>
                <a:ext cx="1695600" cy="698962"/>
                <a:chOff x="4121496" y="2970445"/>
                <a:chExt cx="1695600" cy="698962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121496" y="2970445"/>
                  <a:ext cx="1695600" cy="432048"/>
                  <a:chOff x="4140546" y="2970445"/>
                  <a:chExt cx="1695600" cy="432048"/>
                </a:xfrm>
              </p:grpSpPr>
              <p:sp>
                <p:nvSpPr>
                  <p:cNvPr id="37" name="직사각형 36"/>
                  <p:cNvSpPr/>
                  <p:nvPr/>
                </p:nvSpPr>
                <p:spPr>
                  <a:xfrm>
                    <a:off x="4140546" y="2970445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아이디를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4140546" y="3218893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비밀번호를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</p:grpSp>
            <p:sp>
              <p:nvSpPr>
                <p:cNvPr id="33" name="모서리가 둥근 직사각형 32"/>
                <p:cNvSpPr/>
                <p:nvPr/>
              </p:nvSpPr>
              <p:spPr>
                <a:xfrm>
                  <a:off x="4121496" y="3489407"/>
                  <a:ext cx="1695600" cy="180000"/>
                </a:xfrm>
                <a:prstGeom prst="roundRect">
                  <a:avLst/>
                </a:prstGeom>
                <a:solidFill>
                  <a:srgbClr val="435C7A"/>
                </a:solidFill>
                <a:ln w="3175">
                  <a:solidFill>
                    <a:srgbClr val="435C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rIns="18000" rtlCol="0" anchor="ctr"/>
                <a:lstStyle/>
                <a:p>
                  <a:pPr algn="ctr"/>
                  <a:r>
                    <a:rPr lang="ko-KR" altLang="en-US" sz="800" dirty="0" smtClean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로그인</a:t>
                  </a:r>
                  <a:endParaRPr lang="ko-KR" altLang="en-US" sz="80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9" name="그룹 28"/>
              <p:cNvGrpSpPr/>
              <p:nvPr/>
            </p:nvGrpSpPr>
            <p:grpSpPr>
              <a:xfrm>
                <a:off x="6289777" y="4086597"/>
                <a:ext cx="1695048" cy="223607"/>
                <a:chOff x="3267377" y="4473116"/>
                <a:chExt cx="1695048" cy="223607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3342425" y="4473116"/>
                  <a:ext cx="1620000" cy="22360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r>
                    <a:rPr lang="ko-KR" altLang="en-US" sz="800" kern="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자동 로그인 </a:t>
                  </a:r>
                  <a:endParaRPr lang="ko-KR" altLang="en-US" sz="8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3267377" y="4521043"/>
                  <a:ext cx="116381" cy="108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40" name="직사각형 39"/>
            <p:cNvSpPr/>
            <p:nvPr/>
          </p:nvSpPr>
          <p:spPr>
            <a:xfrm>
              <a:off x="3228754" y="5454749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강의 맛보기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228754" y="1863874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로그인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16786" y="2588146"/>
              <a:ext cx="2880000" cy="43487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한국방송통신대학교 로그인</a:t>
              </a:r>
              <a:endPara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한국방송통신대학교에 오신 것을 환영합니다</a:t>
              </a:r>
              <a:r>
                <a:rPr lang="en-US" altLang="ko-KR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3228754" y="4600178"/>
              <a:ext cx="3456384" cy="819809"/>
              <a:chOff x="5385048" y="4637346"/>
              <a:chExt cx="3456384" cy="819809"/>
            </a:xfrm>
          </p:grpSpPr>
          <p:sp>
            <p:nvSpPr>
              <p:cNvPr id="58" name="직사각형 57"/>
              <p:cNvSpPr/>
              <p:nvPr/>
            </p:nvSpPr>
            <p:spPr>
              <a:xfrm>
                <a:off x="5385048" y="4643611"/>
                <a:ext cx="3456384" cy="8135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grpSp>
            <p:nvGrpSpPr>
              <p:cNvPr id="5" name="그룹 4"/>
              <p:cNvGrpSpPr/>
              <p:nvPr/>
            </p:nvGrpSpPr>
            <p:grpSpPr>
              <a:xfrm>
                <a:off x="5699061" y="4637346"/>
                <a:ext cx="2880000" cy="404405"/>
                <a:chOff x="5699061" y="4637346"/>
                <a:chExt cx="2880000" cy="404405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5699061" y="4824316"/>
                  <a:ext cx="2880000" cy="21743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회원가입을 하신 후 </a:t>
                  </a:r>
                  <a:r>
                    <a:rPr lang="en-US" altLang="ko-KR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SNS</a:t>
                  </a: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계정으로 로그인 하세요</a:t>
                  </a:r>
                  <a:endParaRPr lang="ko-KR" altLang="en-US" sz="800" kern="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" name="직사각형 3"/>
                <p:cNvSpPr/>
                <p:nvPr/>
              </p:nvSpPr>
              <p:spPr>
                <a:xfrm>
                  <a:off x="6746799" y="4637346"/>
                  <a:ext cx="726481" cy="2532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SNS </a:t>
                  </a:r>
                  <a:r>
                    <a:rPr lang="ko-KR" altLang="en-US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로그인</a:t>
                  </a:r>
                  <a:endParaRPr lang="en-US" altLang="ko-KR" sz="800" b="1" kern="0" dirty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489" y="5032258"/>
              <a:ext cx="559543" cy="28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5" name="TextBox 74"/>
          <p:cNvSpPr txBox="1"/>
          <p:nvPr/>
        </p:nvSpPr>
        <p:spPr>
          <a:xfrm>
            <a:off x="3522685" y="1981257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직원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224808" y="5463009"/>
            <a:ext cx="3456384" cy="482079"/>
            <a:chOff x="5385048" y="4643611"/>
            <a:chExt cx="3456384" cy="482079"/>
          </a:xfrm>
        </p:grpSpPr>
        <p:sp>
          <p:nvSpPr>
            <p:cNvPr id="77" name="직사각형 76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80" name="모서리가 둥근 직사각형 79"/>
          <p:cNvSpPr/>
          <p:nvPr/>
        </p:nvSpPr>
        <p:spPr>
          <a:xfrm>
            <a:off x="5665751" y="5714161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421444" y="1491080"/>
            <a:ext cx="9059851" cy="4962256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1640632" y="2337400"/>
            <a:ext cx="6587481" cy="2675776"/>
            <a:chOff x="1100571" y="3168288"/>
            <a:chExt cx="6587481" cy="2865555"/>
          </a:xfrm>
        </p:grpSpPr>
        <p:sp>
          <p:nvSpPr>
            <p:cNvPr id="86" name="직사각형 85"/>
            <p:cNvSpPr/>
            <p:nvPr/>
          </p:nvSpPr>
          <p:spPr>
            <a:xfrm>
              <a:off x="1100571" y="3176973"/>
              <a:ext cx="6587481" cy="2856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100572" y="3168288"/>
              <a:ext cx="6587480" cy="252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109761" y="3201232"/>
              <a:ext cx="873957" cy="2307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알림 수신 동의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391747" y="317741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93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550468"/>
              </p:ext>
            </p:extLst>
          </p:nvPr>
        </p:nvGraphicFramePr>
        <p:xfrm>
          <a:off x="1702114" y="2890846"/>
          <a:ext cx="6481561" cy="1416545"/>
        </p:xfrm>
        <a:graphic>
          <a:graphicData uri="http://schemas.openxmlformats.org/drawingml/2006/table">
            <a:tbl>
              <a:tblPr/>
              <a:tblGrid>
                <a:gridCol w="902663"/>
                <a:gridCol w="5578898"/>
              </a:tblGrid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PUSH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PUSH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쪽지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쪽지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알림톡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알림톡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4" name="직사각형 93"/>
          <p:cNvSpPr/>
          <p:nvPr/>
        </p:nvSpPr>
        <p:spPr>
          <a:xfrm>
            <a:off x="1602532" y="2632737"/>
            <a:ext cx="225982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• </a:t>
            </a:r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알림수신 동의 설정 </a:t>
            </a:r>
            <a:endParaRPr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9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074" y="3784590"/>
            <a:ext cx="403200" cy="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Box 99"/>
          <p:cNvSpPr txBox="1"/>
          <p:nvPr/>
        </p:nvSpPr>
        <p:spPr>
          <a:xfrm>
            <a:off x="1630106" y="4343241"/>
            <a:ext cx="46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altLang="ko-KR" sz="800" b="1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!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공지 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/ 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강의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Q&amp;A / 1:1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상담에 대한 알림은 동의여부와 상관없이 발송됩니다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. </a:t>
            </a:r>
            <a:endParaRPr lang="ko-KR" altLang="en-US" sz="800" kern="0" dirty="0">
              <a:solidFill>
                <a:srgbClr val="C00000"/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6743675" y="2072489"/>
            <a:ext cx="1440000" cy="180000"/>
            <a:chOff x="8005911" y="4535619"/>
            <a:chExt cx="1440000" cy="180000"/>
          </a:xfrm>
        </p:grpSpPr>
        <p:sp>
          <p:nvSpPr>
            <p:cNvPr id="105" name="직사각형 104"/>
            <p:cNvSpPr/>
            <p:nvPr/>
          </p:nvSpPr>
          <p:spPr>
            <a:xfrm>
              <a:off x="8005911" y="4535619"/>
              <a:ext cx="1440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알림수신 유의사항  읽음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pic>
          <p:nvPicPr>
            <p:cNvPr id="106" name="Picture 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6069" y="4582756"/>
              <a:ext cx="133350" cy="10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7" name="그룹 106"/>
          <p:cNvGrpSpPr/>
          <p:nvPr/>
        </p:nvGrpSpPr>
        <p:grpSpPr>
          <a:xfrm>
            <a:off x="6743675" y="2631629"/>
            <a:ext cx="1459601" cy="230832"/>
            <a:chOff x="9499189" y="4507498"/>
            <a:chExt cx="1459601" cy="230832"/>
          </a:xfrm>
        </p:grpSpPr>
        <p:sp>
          <p:nvSpPr>
            <p:cNvPr id="108" name="직사각형 107"/>
            <p:cNvSpPr/>
            <p:nvPr/>
          </p:nvSpPr>
          <p:spPr>
            <a:xfrm>
              <a:off x="9499189" y="4528170"/>
              <a:ext cx="1440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알림수신 유의사항  읽음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10698782" y="4507498"/>
              <a:ext cx="26000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 smtClean="0">
                  <a:solidFill>
                    <a:srgbClr val="FF0000"/>
                  </a:solidFill>
                  <a:latin typeface="+mn-ea"/>
                </a:rPr>
                <a:t>X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13" name="모서리가 둥근 직사각형 112"/>
          <p:cNvSpPr/>
          <p:nvPr/>
        </p:nvSpPr>
        <p:spPr>
          <a:xfrm>
            <a:off x="4485048" y="4653136"/>
            <a:ext cx="900000" cy="180000"/>
          </a:xfrm>
          <a:prstGeom prst="roundRect">
            <a:avLst/>
          </a:prstGeom>
          <a:solidFill>
            <a:srgbClr val="4E6A8C"/>
          </a:solidFill>
          <a:ln w="3175">
            <a:solidFill>
              <a:srgbClr val="4E6A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2432720" y="2358405"/>
            <a:ext cx="234360" cy="200055"/>
            <a:chOff x="1152270" y="11706839"/>
            <a:chExt cx="234360" cy="200055"/>
          </a:xfrm>
        </p:grpSpPr>
        <p:sp>
          <p:nvSpPr>
            <p:cNvPr id="115" name="모서리가 둥근 직사각형 114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1152270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2586975" y="2771403"/>
            <a:ext cx="234360" cy="200055"/>
            <a:chOff x="1152270" y="11706839"/>
            <a:chExt cx="234360" cy="200055"/>
          </a:xfrm>
        </p:grpSpPr>
        <p:sp>
          <p:nvSpPr>
            <p:cNvPr id="118" name="모서리가 둥근 직사각형 11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1152270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0" name="직사각형 119"/>
          <p:cNvSpPr/>
          <p:nvPr/>
        </p:nvSpPr>
        <p:spPr>
          <a:xfrm>
            <a:off x="2647733" y="2893288"/>
            <a:ext cx="471972" cy="1421378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dash"/>
          </a:ln>
          <a:effectLst/>
        </p:spPr>
        <p:txBody>
          <a:bodyPr lIns="81272" tIns="40636" rIns="81272" bIns="40636" rtlCol="0" anchor="ctr"/>
          <a:lstStyle/>
          <a:p>
            <a:pPr algn="ctr" defTabSz="812719" eaLnBrk="1" hangingPunct="1">
              <a:defRPr/>
            </a:pPr>
            <a:endParaRPr kumimoji="1" lang="ko-KR" altLang="en-US" sz="700" b="1" kern="0">
              <a:solidFill>
                <a:prstClr val="white"/>
              </a:solidFill>
              <a:latin typeface="+mn-ea"/>
              <a:ea typeface="+mn-ea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6690717" y="2487304"/>
            <a:ext cx="234360" cy="200055"/>
            <a:chOff x="1152270" y="11706839"/>
            <a:chExt cx="234360" cy="200055"/>
          </a:xfrm>
        </p:grpSpPr>
        <p:sp>
          <p:nvSpPr>
            <p:cNvPr id="122" name="모서리가 둥근 직사각형 12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1152270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124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52" y="4062996"/>
            <a:ext cx="403200" cy="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117" y="3222501"/>
            <a:ext cx="403200" cy="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695" y="3500907"/>
            <a:ext cx="403200" cy="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117" y="2943994"/>
            <a:ext cx="403200" cy="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556342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" name="그룹 42"/>
          <p:cNvGrpSpPr/>
          <p:nvPr/>
        </p:nvGrpSpPr>
        <p:grpSpPr>
          <a:xfrm>
            <a:off x="3723999" y="1969790"/>
            <a:ext cx="234360" cy="200055"/>
            <a:chOff x="1156433" y="11706839"/>
            <a:chExt cx="234360" cy="20005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3906115" y="3650539"/>
            <a:ext cx="234360" cy="200055"/>
            <a:chOff x="1156433" y="11706839"/>
            <a:chExt cx="234360" cy="200055"/>
          </a:xfrm>
        </p:grpSpPr>
        <p:sp>
          <p:nvSpPr>
            <p:cNvPr id="47" name="모서리가 둥근 직사각형 4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3895876" y="3409950"/>
            <a:ext cx="234360" cy="200055"/>
            <a:chOff x="1156433" y="11706839"/>
            <a:chExt cx="234360" cy="200055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5236167" y="5200625"/>
            <a:ext cx="234360" cy="200055"/>
            <a:chOff x="1156433" y="11706839"/>
            <a:chExt cx="234360" cy="200055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KNOU_MN_A03000000_03</a:t>
            </a:r>
            <a:endParaRPr lang="ko-KR" altLang="en-US" sz="800" spc="-60" dirty="0">
              <a:latin typeface="+mn-ea"/>
            </a:endParaRPr>
          </a:p>
        </p:txBody>
      </p:sp>
      <p:graphicFrame>
        <p:nvGraphicFramePr>
          <p:cNvPr id="70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85719"/>
              </p:ext>
            </p:extLst>
          </p:nvPr>
        </p:nvGraphicFramePr>
        <p:xfrm>
          <a:off x="9496933" y="1494927"/>
          <a:ext cx="1404156" cy="43861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유의사항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유의사항 읽지 않음인 경우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동의 설정 불가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유이사항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읽음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Y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 저장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3228754" y="1556792"/>
            <a:ext cx="3456384" cy="3878907"/>
            <a:chOff x="3228754" y="1863874"/>
            <a:chExt cx="3456384" cy="3878907"/>
          </a:xfrm>
        </p:grpSpPr>
        <p:sp>
          <p:nvSpPr>
            <p:cNvPr id="25" name="직사각형 24"/>
            <p:cNvSpPr/>
            <p:nvPr/>
          </p:nvSpPr>
          <p:spPr>
            <a:xfrm>
              <a:off x="3228754" y="2161430"/>
              <a:ext cx="3456384" cy="24196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4133483" y="3218309"/>
              <a:ext cx="1697084" cy="953212"/>
              <a:chOff x="6289777" y="3356992"/>
              <a:chExt cx="1697084" cy="953212"/>
            </a:xfrm>
          </p:grpSpPr>
          <p:grpSp>
            <p:nvGrpSpPr>
              <p:cNvPr id="28" name="그룹 27"/>
              <p:cNvGrpSpPr/>
              <p:nvPr/>
            </p:nvGrpSpPr>
            <p:grpSpPr>
              <a:xfrm>
                <a:off x="6291261" y="3356992"/>
                <a:ext cx="1695600" cy="698962"/>
                <a:chOff x="4121496" y="2970445"/>
                <a:chExt cx="1695600" cy="698962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121496" y="2970445"/>
                  <a:ext cx="1695600" cy="432048"/>
                  <a:chOff x="4140546" y="2970445"/>
                  <a:chExt cx="1695600" cy="432048"/>
                </a:xfrm>
              </p:grpSpPr>
              <p:sp>
                <p:nvSpPr>
                  <p:cNvPr id="37" name="직사각형 36"/>
                  <p:cNvSpPr/>
                  <p:nvPr/>
                </p:nvSpPr>
                <p:spPr>
                  <a:xfrm>
                    <a:off x="4140546" y="2970445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아이디를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4140546" y="3218893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비밀번호를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</p:grpSp>
            <p:sp>
              <p:nvSpPr>
                <p:cNvPr id="33" name="모서리가 둥근 직사각형 32"/>
                <p:cNvSpPr/>
                <p:nvPr/>
              </p:nvSpPr>
              <p:spPr>
                <a:xfrm>
                  <a:off x="4121496" y="3489407"/>
                  <a:ext cx="1695600" cy="180000"/>
                </a:xfrm>
                <a:prstGeom prst="roundRect">
                  <a:avLst/>
                </a:prstGeom>
                <a:solidFill>
                  <a:srgbClr val="435C7A"/>
                </a:solidFill>
                <a:ln w="3175">
                  <a:solidFill>
                    <a:srgbClr val="435C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rIns="18000" rtlCol="0" anchor="ctr"/>
                <a:lstStyle/>
                <a:p>
                  <a:pPr algn="ctr"/>
                  <a:r>
                    <a:rPr lang="ko-KR" altLang="en-US" sz="800" dirty="0" smtClean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로그인</a:t>
                  </a:r>
                  <a:endParaRPr lang="ko-KR" altLang="en-US" sz="80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9" name="그룹 28"/>
              <p:cNvGrpSpPr/>
              <p:nvPr/>
            </p:nvGrpSpPr>
            <p:grpSpPr>
              <a:xfrm>
                <a:off x="6289777" y="4086597"/>
                <a:ext cx="1695048" cy="223607"/>
                <a:chOff x="3267377" y="4473116"/>
                <a:chExt cx="1695048" cy="223607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3342425" y="4473116"/>
                  <a:ext cx="1620000" cy="22360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r>
                    <a:rPr lang="ko-KR" altLang="en-US" sz="800" kern="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자동 로그인 </a:t>
                  </a:r>
                  <a:endParaRPr lang="ko-KR" altLang="en-US" sz="8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3267377" y="4521043"/>
                  <a:ext cx="116381" cy="108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40" name="직사각형 39"/>
            <p:cNvSpPr/>
            <p:nvPr/>
          </p:nvSpPr>
          <p:spPr>
            <a:xfrm>
              <a:off x="3228754" y="5454749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강의 맛보기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228754" y="1863874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로그인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16786" y="2588146"/>
              <a:ext cx="2880000" cy="43487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한국방송통신대학교 로그인</a:t>
              </a:r>
              <a:endPara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한국방송통신대학교에 오신 것을 환영합니다</a:t>
              </a:r>
              <a:r>
                <a:rPr lang="en-US" altLang="ko-KR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3228754" y="4600178"/>
              <a:ext cx="3456384" cy="819809"/>
              <a:chOff x="5385048" y="4637346"/>
              <a:chExt cx="3456384" cy="819809"/>
            </a:xfrm>
          </p:grpSpPr>
          <p:sp>
            <p:nvSpPr>
              <p:cNvPr id="58" name="직사각형 57"/>
              <p:cNvSpPr/>
              <p:nvPr/>
            </p:nvSpPr>
            <p:spPr>
              <a:xfrm>
                <a:off x="5385048" y="4643611"/>
                <a:ext cx="3456384" cy="8135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grpSp>
            <p:nvGrpSpPr>
              <p:cNvPr id="5" name="그룹 4"/>
              <p:cNvGrpSpPr/>
              <p:nvPr/>
            </p:nvGrpSpPr>
            <p:grpSpPr>
              <a:xfrm>
                <a:off x="5699061" y="4637346"/>
                <a:ext cx="2880000" cy="404405"/>
                <a:chOff x="5699061" y="4637346"/>
                <a:chExt cx="2880000" cy="404405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5699061" y="4824316"/>
                  <a:ext cx="2880000" cy="21743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회원가입을 하신 후 </a:t>
                  </a:r>
                  <a:r>
                    <a:rPr lang="en-US" altLang="ko-KR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SNS</a:t>
                  </a: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계정으로 로그인 하세요</a:t>
                  </a:r>
                  <a:endParaRPr lang="ko-KR" altLang="en-US" sz="800" kern="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" name="직사각형 3"/>
                <p:cNvSpPr/>
                <p:nvPr/>
              </p:nvSpPr>
              <p:spPr>
                <a:xfrm>
                  <a:off x="6746799" y="4637346"/>
                  <a:ext cx="726481" cy="2532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SNS </a:t>
                  </a:r>
                  <a:r>
                    <a:rPr lang="ko-KR" altLang="en-US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로그인</a:t>
                  </a:r>
                  <a:endParaRPr lang="en-US" altLang="ko-KR" sz="800" b="1" kern="0" dirty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489" y="5032258"/>
              <a:ext cx="559543" cy="28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5" name="TextBox 74"/>
          <p:cNvSpPr txBox="1"/>
          <p:nvPr/>
        </p:nvSpPr>
        <p:spPr>
          <a:xfrm>
            <a:off x="3522685" y="1981257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직원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224808" y="5463009"/>
            <a:ext cx="3456384" cy="482079"/>
            <a:chOff x="5385048" y="4643611"/>
            <a:chExt cx="3456384" cy="482079"/>
          </a:xfrm>
        </p:grpSpPr>
        <p:sp>
          <p:nvSpPr>
            <p:cNvPr id="77" name="직사각형 76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80" name="모서리가 둥근 직사각형 79"/>
          <p:cNvSpPr/>
          <p:nvPr/>
        </p:nvSpPr>
        <p:spPr>
          <a:xfrm>
            <a:off x="5665751" y="5714161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421444" y="1491080"/>
            <a:ext cx="9059851" cy="4962256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1640632" y="2337400"/>
            <a:ext cx="6587481" cy="2675776"/>
            <a:chOff x="1100571" y="3168288"/>
            <a:chExt cx="6587481" cy="2865555"/>
          </a:xfrm>
        </p:grpSpPr>
        <p:sp>
          <p:nvSpPr>
            <p:cNvPr id="86" name="직사각형 85"/>
            <p:cNvSpPr/>
            <p:nvPr/>
          </p:nvSpPr>
          <p:spPr>
            <a:xfrm>
              <a:off x="1100571" y="3176973"/>
              <a:ext cx="6587481" cy="2856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100572" y="3168288"/>
              <a:ext cx="6587480" cy="252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109761" y="3201232"/>
              <a:ext cx="873957" cy="2307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알림 수신 동의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391747" y="317741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r>
              <a:rPr lang="en-US" altLang="ko-KR" sz="800" spc="-60" dirty="0" smtClean="0">
                <a:latin typeface="+mn-ea"/>
                <a:ea typeface="+mn-ea"/>
              </a:rPr>
              <a:t>  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 </a:t>
            </a:r>
            <a:r>
              <a:rPr lang="en-US" altLang="ko-KR" sz="800" spc="-60" dirty="0" smtClean="0">
                <a:latin typeface="+mn-ea"/>
                <a:ea typeface="+mn-ea"/>
              </a:rPr>
              <a:t>: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유의사항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93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694206"/>
              </p:ext>
            </p:extLst>
          </p:nvPr>
        </p:nvGraphicFramePr>
        <p:xfrm>
          <a:off x="1702114" y="2890846"/>
          <a:ext cx="6481561" cy="1416545"/>
        </p:xfrm>
        <a:graphic>
          <a:graphicData uri="http://schemas.openxmlformats.org/drawingml/2006/table">
            <a:tbl>
              <a:tblPr/>
              <a:tblGrid>
                <a:gridCol w="902663"/>
                <a:gridCol w="5578898"/>
              </a:tblGrid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PUSH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PUSH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쪽지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쪽지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알림톡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알림톡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4" name="직사각형 93"/>
          <p:cNvSpPr/>
          <p:nvPr/>
        </p:nvSpPr>
        <p:spPr>
          <a:xfrm>
            <a:off x="1602532" y="2632737"/>
            <a:ext cx="225982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• </a:t>
            </a:r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알림수신 동의 설정 </a:t>
            </a:r>
            <a:endParaRPr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9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318" y="2939239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549" y="3784590"/>
            <a:ext cx="403200" cy="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51" y="3217995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51" y="3506027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51" y="4067233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Box 99"/>
          <p:cNvSpPr txBox="1"/>
          <p:nvPr/>
        </p:nvSpPr>
        <p:spPr>
          <a:xfrm>
            <a:off x="1630106" y="4343241"/>
            <a:ext cx="46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altLang="ko-KR" sz="800" b="1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!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공지 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/ 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강의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Q&amp;A / 1:1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상담에 대한 알림은 동의여부와 상관없이 발송됩니다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. </a:t>
            </a:r>
            <a:endParaRPr lang="ko-KR" altLang="en-US" sz="800" kern="0" dirty="0">
              <a:solidFill>
                <a:srgbClr val="C00000"/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6743675" y="2072489"/>
            <a:ext cx="1440000" cy="180000"/>
            <a:chOff x="8005911" y="4535619"/>
            <a:chExt cx="1440000" cy="180000"/>
          </a:xfrm>
        </p:grpSpPr>
        <p:sp>
          <p:nvSpPr>
            <p:cNvPr id="105" name="직사각형 104"/>
            <p:cNvSpPr/>
            <p:nvPr/>
          </p:nvSpPr>
          <p:spPr>
            <a:xfrm>
              <a:off x="8005911" y="4535619"/>
              <a:ext cx="1440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알림수신 유의사항  읽음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pic>
          <p:nvPicPr>
            <p:cNvPr id="106" name="Picture 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6069" y="4582756"/>
              <a:ext cx="133350" cy="10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7" name="그룹 106"/>
          <p:cNvGrpSpPr/>
          <p:nvPr/>
        </p:nvGrpSpPr>
        <p:grpSpPr>
          <a:xfrm>
            <a:off x="6743675" y="2631629"/>
            <a:ext cx="1459601" cy="230832"/>
            <a:chOff x="9499189" y="4507498"/>
            <a:chExt cx="1459601" cy="230832"/>
          </a:xfrm>
        </p:grpSpPr>
        <p:sp>
          <p:nvSpPr>
            <p:cNvPr id="108" name="직사각형 107"/>
            <p:cNvSpPr/>
            <p:nvPr/>
          </p:nvSpPr>
          <p:spPr>
            <a:xfrm>
              <a:off x="9499189" y="4528170"/>
              <a:ext cx="1440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알림수신 유의사항  읽음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10698782" y="4507498"/>
              <a:ext cx="26000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 smtClean="0">
                  <a:solidFill>
                    <a:srgbClr val="FF0000"/>
                  </a:solidFill>
                  <a:latin typeface="+mn-ea"/>
                </a:rPr>
                <a:t>X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13" name="모서리가 둥근 직사각형 112"/>
          <p:cNvSpPr/>
          <p:nvPr/>
        </p:nvSpPr>
        <p:spPr>
          <a:xfrm>
            <a:off x="4485048" y="4653136"/>
            <a:ext cx="900000" cy="180000"/>
          </a:xfrm>
          <a:prstGeom prst="roundRect">
            <a:avLst/>
          </a:prstGeom>
          <a:solidFill>
            <a:srgbClr val="4E6A8C"/>
          </a:solidFill>
          <a:ln w="3175">
            <a:solidFill>
              <a:srgbClr val="4E6A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6690717" y="2487304"/>
            <a:ext cx="234360" cy="200055"/>
            <a:chOff x="1152270" y="11706839"/>
            <a:chExt cx="234360" cy="200055"/>
          </a:xfrm>
        </p:grpSpPr>
        <p:sp>
          <p:nvSpPr>
            <p:cNvPr id="122" name="모서리가 둥근 직사각형 12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1152270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992560" y="1556792"/>
            <a:ext cx="5130919" cy="5033151"/>
            <a:chOff x="2774409" y="2491086"/>
            <a:chExt cx="5130919" cy="5033151"/>
          </a:xfrm>
        </p:grpSpPr>
        <p:grpSp>
          <p:nvGrpSpPr>
            <p:cNvPr id="101" name="그룹 100"/>
            <p:cNvGrpSpPr/>
            <p:nvPr/>
          </p:nvGrpSpPr>
          <p:grpSpPr>
            <a:xfrm>
              <a:off x="2809060" y="2491086"/>
              <a:ext cx="5096268" cy="5033151"/>
              <a:chOff x="2809060" y="2491086"/>
              <a:chExt cx="5096268" cy="5033151"/>
            </a:xfrm>
          </p:grpSpPr>
          <p:sp>
            <p:nvSpPr>
              <p:cNvPr id="103" name="직사각형 102"/>
              <p:cNvSpPr/>
              <p:nvPr/>
            </p:nvSpPr>
            <p:spPr>
              <a:xfrm>
                <a:off x="2809060" y="2492896"/>
                <a:ext cx="5086743" cy="50313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4E6A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813299" y="2495865"/>
                <a:ext cx="5086800" cy="216000"/>
              </a:xfrm>
              <a:prstGeom prst="rect">
                <a:avLst/>
              </a:prstGeom>
              <a:solidFill>
                <a:srgbClr val="4E6A8C"/>
              </a:solidFill>
              <a:ln w="9525">
                <a:solidFill>
                  <a:srgbClr val="4E6A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7637306" y="2491086"/>
                <a:ext cx="268022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b="1" dirty="0" smtClean="0">
                    <a:solidFill>
                      <a:schemeClr val="bg1"/>
                    </a:solidFill>
                    <a:latin typeface="+mn-ea"/>
                  </a:rPr>
                  <a:t>X</a:t>
                </a:r>
                <a:endParaRPr lang="ko-KR" altLang="en-US" sz="1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모서리가 둥근 직사각형 111"/>
              <p:cNvSpPr/>
              <p:nvPr/>
            </p:nvSpPr>
            <p:spPr>
              <a:xfrm>
                <a:off x="4883887" y="7171606"/>
                <a:ext cx="900000" cy="180000"/>
              </a:xfrm>
              <a:prstGeom prst="roundRect">
                <a:avLst/>
              </a:prstGeom>
              <a:solidFill>
                <a:srgbClr val="4E6A8C"/>
              </a:solidFill>
              <a:ln w="3175">
                <a:solidFill>
                  <a:srgbClr val="4E6A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확인</a:t>
                </a:r>
                <a:endPara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2" name="직사각형 101"/>
            <p:cNvSpPr/>
            <p:nvPr/>
          </p:nvSpPr>
          <p:spPr>
            <a:xfrm>
              <a:off x="2774409" y="2502471"/>
              <a:ext cx="111601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알림 수신 유의사항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4" name="Rectangle 251"/>
          <p:cNvSpPr>
            <a:spLocks noChangeArrowheads="1"/>
          </p:cNvSpPr>
          <p:nvPr/>
        </p:nvSpPr>
        <p:spPr bwMode="auto">
          <a:xfrm>
            <a:off x="1079426" y="1835299"/>
            <a:ext cx="5004000" cy="405149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none" lIns="72000" tIns="72000" rIns="72000" bIns="72000" anchor="t"/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유의사항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800" dirty="0" smtClean="0">
                <a:solidFill>
                  <a:srgbClr val="FF0000"/>
                </a:solidFill>
                <a:latin typeface="+mn-ea"/>
                <a:ea typeface="+mn-ea"/>
              </a:rPr>
              <a:t>문구 필요함</a:t>
            </a:r>
            <a:endParaRPr lang="en-US" altLang="ko-KR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5" name="Track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6004911" y="1872262"/>
            <a:ext cx="43200" cy="39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600" dirty="0">
                <a:solidFill>
                  <a:srgbClr val="262626"/>
                </a:solidFill>
                <a:latin typeface="+mn-ea"/>
                <a:cs typeface="Calibri" pitchFamily="34" charset="0"/>
              </a:rPr>
              <a:t>▲</a:t>
            </a: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 smtClean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600" dirty="0">
              <a:solidFill>
                <a:srgbClr val="262626"/>
              </a:solidFill>
              <a:latin typeface="+mn-ea"/>
              <a:cs typeface="Calibri" pitchFamily="34" charset="0"/>
            </a:endParaRPr>
          </a:p>
          <a:p>
            <a:pPr algn="ctr" defTabSz="8514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600" dirty="0">
                <a:solidFill>
                  <a:srgbClr val="262626"/>
                </a:solidFill>
                <a:latin typeface="+mn-ea"/>
                <a:cs typeface="Calibri" pitchFamily="34" charset="0"/>
              </a:rPr>
              <a:t>▼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3052931" y="6069049"/>
            <a:ext cx="234360" cy="200055"/>
            <a:chOff x="1161795" y="11706839"/>
            <a:chExt cx="234360" cy="200055"/>
          </a:xfrm>
        </p:grpSpPr>
        <p:sp>
          <p:nvSpPr>
            <p:cNvPr id="127" name="모서리가 둥근 직사각형 12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1161795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29" name="꺾인 연결선 128"/>
          <p:cNvCxnSpPr>
            <a:stCxn id="108" idx="2"/>
          </p:cNvCxnSpPr>
          <p:nvPr/>
        </p:nvCxnSpPr>
        <p:spPr>
          <a:xfrm rot="5400000">
            <a:off x="6129311" y="2826469"/>
            <a:ext cx="1328532" cy="134019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8905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" name="그룹 42"/>
          <p:cNvGrpSpPr/>
          <p:nvPr/>
        </p:nvGrpSpPr>
        <p:grpSpPr>
          <a:xfrm>
            <a:off x="3723999" y="1969790"/>
            <a:ext cx="234360" cy="200055"/>
            <a:chOff x="1156433" y="11706839"/>
            <a:chExt cx="234360" cy="20005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3906115" y="3650539"/>
            <a:ext cx="234360" cy="200055"/>
            <a:chOff x="1156433" y="11706839"/>
            <a:chExt cx="234360" cy="200055"/>
          </a:xfrm>
        </p:grpSpPr>
        <p:sp>
          <p:nvSpPr>
            <p:cNvPr id="47" name="모서리가 둥근 직사각형 4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3895876" y="3409950"/>
            <a:ext cx="234360" cy="200055"/>
            <a:chOff x="1156433" y="11706839"/>
            <a:chExt cx="234360" cy="200055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5236167" y="5200625"/>
            <a:ext cx="234360" cy="200055"/>
            <a:chOff x="1156433" y="11706839"/>
            <a:chExt cx="234360" cy="200055"/>
          </a:xfrm>
        </p:grpSpPr>
        <p:sp>
          <p:nvSpPr>
            <p:cNvPr id="53" name="모서리가 둥근 직사각형 5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KNOU_MN_A03000000_04</a:t>
            </a:r>
            <a:endParaRPr lang="ko-KR" altLang="en-US" sz="800" spc="-60" dirty="0">
              <a:latin typeface="+mn-ea"/>
            </a:endParaRPr>
          </a:p>
        </p:txBody>
      </p:sp>
      <p:graphicFrame>
        <p:nvGraphicFramePr>
          <p:cNvPr id="70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64010"/>
              </p:ext>
            </p:extLst>
          </p:nvPr>
        </p:nvGraphicFramePr>
        <p:xfrm>
          <a:off x="9496933" y="1494927"/>
          <a:ext cx="1404156" cy="54834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 수신동의 여부 확인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수신동의 여부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Y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이면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대시보드로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이동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수신동의 여부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 N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이면 알림 수신동의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OFF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 시 바로 저장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유의사항 읽지 않음인 경우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동의 설정 불가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알림수신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유의사항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3228754" y="1556792"/>
            <a:ext cx="3456384" cy="3878907"/>
            <a:chOff x="3228754" y="1863874"/>
            <a:chExt cx="3456384" cy="3878907"/>
          </a:xfrm>
        </p:grpSpPr>
        <p:sp>
          <p:nvSpPr>
            <p:cNvPr id="25" name="직사각형 24"/>
            <p:cNvSpPr/>
            <p:nvPr/>
          </p:nvSpPr>
          <p:spPr>
            <a:xfrm>
              <a:off x="3228754" y="2161430"/>
              <a:ext cx="3456384" cy="24196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4133483" y="3218309"/>
              <a:ext cx="1697084" cy="953212"/>
              <a:chOff x="6289777" y="3356992"/>
              <a:chExt cx="1697084" cy="953212"/>
            </a:xfrm>
          </p:grpSpPr>
          <p:grpSp>
            <p:nvGrpSpPr>
              <p:cNvPr id="28" name="그룹 27"/>
              <p:cNvGrpSpPr/>
              <p:nvPr/>
            </p:nvGrpSpPr>
            <p:grpSpPr>
              <a:xfrm>
                <a:off x="6291261" y="3356992"/>
                <a:ext cx="1695600" cy="698962"/>
                <a:chOff x="4121496" y="2970445"/>
                <a:chExt cx="1695600" cy="698962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121496" y="2970445"/>
                  <a:ext cx="1695600" cy="432048"/>
                  <a:chOff x="4140546" y="2970445"/>
                  <a:chExt cx="1695600" cy="432048"/>
                </a:xfrm>
              </p:grpSpPr>
              <p:sp>
                <p:nvSpPr>
                  <p:cNvPr id="37" name="직사각형 36"/>
                  <p:cNvSpPr/>
                  <p:nvPr/>
                </p:nvSpPr>
                <p:spPr>
                  <a:xfrm>
                    <a:off x="4140546" y="2970445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아이디를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4140546" y="3218893"/>
                    <a:ext cx="1695600" cy="1836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ko-KR" altLang="en-US" sz="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rPr>
                      <a:t>비밀번호를 입력하세요</a:t>
                    </a:r>
                    <a:endPara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endParaRPr>
                  </a:p>
                </p:txBody>
              </p:sp>
            </p:grpSp>
            <p:sp>
              <p:nvSpPr>
                <p:cNvPr id="33" name="모서리가 둥근 직사각형 32"/>
                <p:cNvSpPr/>
                <p:nvPr/>
              </p:nvSpPr>
              <p:spPr>
                <a:xfrm>
                  <a:off x="4121496" y="3489407"/>
                  <a:ext cx="1695600" cy="180000"/>
                </a:xfrm>
                <a:prstGeom prst="roundRect">
                  <a:avLst/>
                </a:prstGeom>
                <a:solidFill>
                  <a:srgbClr val="435C7A"/>
                </a:solidFill>
                <a:ln w="3175">
                  <a:solidFill>
                    <a:srgbClr val="435C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rIns="18000" rtlCol="0" anchor="ctr"/>
                <a:lstStyle/>
                <a:p>
                  <a:pPr algn="ctr"/>
                  <a:r>
                    <a:rPr lang="ko-KR" altLang="en-US" sz="800" dirty="0" smtClean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로그인</a:t>
                  </a:r>
                  <a:endParaRPr lang="ko-KR" altLang="en-US" sz="80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9" name="그룹 28"/>
              <p:cNvGrpSpPr/>
              <p:nvPr/>
            </p:nvGrpSpPr>
            <p:grpSpPr>
              <a:xfrm>
                <a:off x="6289777" y="4086597"/>
                <a:ext cx="1695048" cy="223607"/>
                <a:chOff x="3267377" y="4473116"/>
                <a:chExt cx="1695048" cy="223607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3342425" y="4473116"/>
                  <a:ext cx="1620000" cy="22360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r>
                    <a:rPr lang="ko-KR" altLang="en-US" sz="800" kern="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자동 로그인 </a:t>
                  </a:r>
                  <a:endParaRPr lang="ko-KR" altLang="en-US" sz="8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3267377" y="4521043"/>
                  <a:ext cx="116381" cy="108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40" name="직사각형 39"/>
            <p:cNvSpPr/>
            <p:nvPr/>
          </p:nvSpPr>
          <p:spPr>
            <a:xfrm>
              <a:off x="3228754" y="5454749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강의 맛보기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228754" y="1863874"/>
              <a:ext cx="3456384" cy="288032"/>
            </a:xfrm>
            <a:prstGeom prst="rect">
              <a:avLst/>
            </a:prstGeom>
            <a:solidFill>
              <a:srgbClr val="435C7A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로그인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16786" y="2588146"/>
              <a:ext cx="2880000" cy="43487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한국방송통신대학교 로그인</a:t>
              </a:r>
              <a:endPara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한국방송통신대학교에 오신 것을 환영합니다</a:t>
              </a:r>
              <a:r>
                <a:rPr lang="en-US" altLang="ko-KR" sz="800" kern="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3228754" y="4600178"/>
              <a:ext cx="3456384" cy="819809"/>
              <a:chOff x="5385048" y="4637346"/>
              <a:chExt cx="3456384" cy="819809"/>
            </a:xfrm>
          </p:grpSpPr>
          <p:sp>
            <p:nvSpPr>
              <p:cNvPr id="58" name="직사각형 57"/>
              <p:cNvSpPr/>
              <p:nvPr/>
            </p:nvSpPr>
            <p:spPr>
              <a:xfrm>
                <a:off x="5385048" y="4643611"/>
                <a:ext cx="3456384" cy="8135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grpSp>
            <p:nvGrpSpPr>
              <p:cNvPr id="5" name="그룹 4"/>
              <p:cNvGrpSpPr/>
              <p:nvPr/>
            </p:nvGrpSpPr>
            <p:grpSpPr>
              <a:xfrm>
                <a:off x="5699061" y="4637346"/>
                <a:ext cx="2880000" cy="404405"/>
                <a:chOff x="5699061" y="4637346"/>
                <a:chExt cx="2880000" cy="404405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5699061" y="4824316"/>
                  <a:ext cx="2880000" cy="21743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회원가입을 하신 후 </a:t>
                  </a:r>
                  <a:r>
                    <a:rPr lang="en-US" altLang="ko-KR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SNS</a:t>
                  </a:r>
                  <a:r>
                    <a:rPr lang="ko-KR" altLang="en-US" sz="800" kern="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ea typeface="+mn-ea"/>
                      <a:cs typeface="Arial" charset="0"/>
                    </a:rPr>
                    <a:t>계정으로 로그인 하세요</a:t>
                  </a:r>
                  <a:endParaRPr lang="ko-KR" altLang="en-US" sz="800" kern="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" name="직사각형 3"/>
                <p:cNvSpPr/>
                <p:nvPr/>
              </p:nvSpPr>
              <p:spPr>
                <a:xfrm>
                  <a:off x="6746799" y="4637346"/>
                  <a:ext cx="726481" cy="2532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SNS </a:t>
                  </a:r>
                  <a:r>
                    <a:rPr lang="ko-KR" altLang="en-US" sz="800" b="1" kern="0" dirty="0" smtClean="0">
                      <a:solidFill>
                        <a:srgbClr val="0070C0"/>
                      </a:solidFill>
                      <a:latin typeface="+mn-ea"/>
                      <a:ea typeface="+mn-ea"/>
                      <a:cs typeface="Arial" charset="0"/>
                    </a:rPr>
                    <a:t>로그인</a:t>
                  </a:r>
                  <a:endParaRPr lang="en-US" altLang="ko-KR" sz="800" b="1" kern="0" dirty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489" y="5032258"/>
              <a:ext cx="559543" cy="28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5" name="TextBox 74"/>
          <p:cNvSpPr txBox="1"/>
          <p:nvPr/>
        </p:nvSpPr>
        <p:spPr>
          <a:xfrm>
            <a:off x="3522685" y="1981257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직원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일반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224808" y="5463009"/>
            <a:ext cx="3456384" cy="482079"/>
            <a:chOff x="5385048" y="4643611"/>
            <a:chExt cx="3456384" cy="482079"/>
          </a:xfrm>
        </p:grpSpPr>
        <p:sp>
          <p:nvSpPr>
            <p:cNvPr id="77" name="직사각형 76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80" name="모서리가 둥근 직사각형 79"/>
          <p:cNvSpPr/>
          <p:nvPr/>
        </p:nvSpPr>
        <p:spPr>
          <a:xfrm>
            <a:off x="5665751" y="5714161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421444" y="1491080"/>
            <a:ext cx="9059851" cy="4962256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1640632" y="2337400"/>
            <a:ext cx="6587481" cy="2675776"/>
            <a:chOff x="1100571" y="3168288"/>
            <a:chExt cx="6587481" cy="2865555"/>
          </a:xfrm>
        </p:grpSpPr>
        <p:sp>
          <p:nvSpPr>
            <p:cNvPr id="86" name="직사각형 85"/>
            <p:cNvSpPr/>
            <p:nvPr/>
          </p:nvSpPr>
          <p:spPr>
            <a:xfrm>
              <a:off x="1100571" y="3176973"/>
              <a:ext cx="6587481" cy="2856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100572" y="3168288"/>
              <a:ext cx="6587480" cy="252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109761" y="3201232"/>
              <a:ext cx="873957" cy="2307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알림 수신 동의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7391747" y="317741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알림 수신 동의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93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90770"/>
              </p:ext>
            </p:extLst>
          </p:nvPr>
        </p:nvGraphicFramePr>
        <p:xfrm>
          <a:off x="1702114" y="2890846"/>
          <a:ext cx="6481561" cy="1416545"/>
        </p:xfrm>
        <a:graphic>
          <a:graphicData uri="http://schemas.openxmlformats.org/drawingml/2006/table">
            <a:tbl>
              <a:tblPr/>
              <a:tblGrid>
                <a:gridCol w="902663"/>
                <a:gridCol w="5578898"/>
              </a:tblGrid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PUSH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PUSH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쪽지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쪽지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알림톡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알림톡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문자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수신 동의 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4" name="직사각형 93"/>
          <p:cNvSpPr/>
          <p:nvPr/>
        </p:nvSpPr>
        <p:spPr>
          <a:xfrm>
            <a:off x="1602532" y="2632737"/>
            <a:ext cx="225982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• </a:t>
            </a:r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알림수신 동의 설정 </a:t>
            </a:r>
            <a:endParaRPr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9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318" y="2939239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549" y="3784590"/>
            <a:ext cx="403200" cy="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51" y="3217995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51" y="3506027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51" y="4067233"/>
            <a:ext cx="403200" cy="18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Box 99"/>
          <p:cNvSpPr txBox="1"/>
          <p:nvPr/>
        </p:nvSpPr>
        <p:spPr>
          <a:xfrm>
            <a:off x="1630106" y="4343241"/>
            <a:ext cx="46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altLang="ko-KR" sz="800" b="1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!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공지 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/ 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강의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Q&amp;A / 1:1</a:t>
            </a:r>
            <a:r>
              <a:rPr lang="ko-KR" altLang="en-US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상담에 대한 알림은 동의여부와 상관없이 발송됩니다</a:t>
            </a:r>
            <a:r>
              <a:rPr lang="en-US" altLang="ko-KR" sz="800" kern="0" dirty="0" smtClean="0">
                <a:solidFill>
                  <a:srgbClr val="C00000"/>
                </a:solidFill>
                <a:latin typeface="+mn-ea"/>
                <a:ea typeface="+mn-ea"/>
                <a:cs typeface="Arial" charset="0"/>
              </a:rPr>
              <a:t>. </a:t>
            </a:r>
            <a:endParaRPr lang="ko-KR" altLang="en-US" sz="800" kern="0" dirty="0">
              <a:solidFill>
                <a:srgbClr val="C00000"/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6743675" y="2634836"/>
            <a:ext cx="1440000" cy="180000"/>
            <a:chOff x="8005911" y="4535619"/>
            <a:chExt cx="1440000" cy="180000"/>
          </a:xfrm>
        </p:grpSpPr>
        <p:sp>
          <p:nvSpPr>
            <p:cNvPr id="105" name="직사각형 104"/>
            <p:cNvSpPr/>
            <p:nvPr/>
          </p:nvSpPr>
          <p:spPr>
            <a:xfrm>
              <a:off x="8005911" y="4535619"/>
              <a:ext cx="1440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알림수신 유의사항  읽음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pic>
          <p:nvPicPr>
            <p:cNvPr id="106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6069" y="4582756"/>
              <a:ext cx="133350" cy="10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3" name="모서리가 둥근 직사각형 112"/>
          <p:cNvSpPr/>
          <p:nvPr/>
        </p:nvSpPr>
        <p:spPr>
          <a:xfrm>
            <a:off x="4485048" y="4653136"/>
            <a:ext cx="900000" cy="180000"/>
          </a:xfrm>
          <a:prstGeom prst="roundRect">
            <a:avLst/>
          </a:prstGeom>
          <a:solidFill>
            <a:srgbClr val="4E6A8C"/>
          </a:solidFill>
          <a:ln w="3175">
            <a:solidFill>
              <a:srgbClr val="4E6A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2432720" y="2358405"/>
            <a:ext cx="234360" cy="200055"/>
            <a:chOff x="1152270" y="11706839"/>
            <a:chExt cx="234360" cy="200055"/>
          </a:xfrm>
        </p:grpSpPr>
        <p:sp>
          <p:nvSpPr>
            <p:cNvPr id="115" name="모서리가 둥근 직사각형 114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1152270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2586975" y="2771403"/>
            <a:ext cx="234360" cy="200055"/>
            <a:chOff x="1152270" y="11706839"/>
            <a:chExt cx="234360" cy="200055"/>
          </a:xfrm>
        </p:grpSpPr>
        <p:sp>
          <p:nvSpPr>
            <p:cNvPr id="118" name="모서리가 둥근 직사각형 11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1152270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0" name="직사각형 119"/>
          <p:cNvSpPr/>
          <p:nvPr/>
        </p:nvSpPr>
        <p:spPr>
          <a:xfrm>
            <a:off x="2647733" y="2893288"/>
            <a:ext cx="471972" cy="1421378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dash"/>
          </a:ln>
          <a:effectLst/>
        </p:spPr>
        <p:txBody>
          <a:bodyPr lIns="81272" tIns="40636" rIns="81272" bIns="40636" rtlCol="0" anchor="ctr"/>
          <a:lstStyle/>
          <a:p>
            <a:pPr algn="ctr" defTabSz="812719" eaLnBrk="1" hangingPunct="1">
              <a:defRPr/>
            </a:pPr>
            <a:endParaRPr kumimoji="1" lang="ko-KR" altLang="en-US" sz="700" b="1" kern="0">
              <a:solidFill>
                <a:prstClr val="white"/>
              </a:solidFill>
              <a:latin typeface="+mn-ea"/>
              <a:ea typeface="+mn-ea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6690717" y="2487304"/>
            <a:ext cx="234360" cy="200055"/>
            <a:chOff x="1152270" y="11706839"/>
            <a:chExt cx="234360" cy="200055"/>
          </a:xfrm>
        </p:grpSpPr>
        <p:sp>
          <p:nvSpPr>
            <p:cNvPr id="122" name="모서리가 둥근 직사각형 121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1152270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36166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69449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일반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기관회원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회원가입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32520" y="3789040"/>
            <a:ext cx="4953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가</a:t>
            </a:r>
            <a:r>
              <a:rPr lang="en-US" altLang="ko-KR" sz="800" dirty="0">
                <a:latin typeface="+mn-ea"/>
                <a:ea typeface="+mn-ea"/>
              </a:rPr>
              <a:t>. SNS</a:t>
            </a:r>
            <a:r>
              <a:rPr lang="ko-KR" altLang="en-US" sz="800" dirty="0">
                <a:latin typeface="+mn-ea"/>
                <a:ea typeface="+mn-ea"/>
              </a:rPr>
              <a:t>인증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네이버인증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카카오인증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나</a:t>
            </a:r>
            <a:r>
              <a:rPr lang="en-US" altLang="ko-KR" sz="800" dirty="0">
                <a:latin typeface="+mn-ea"/>
                <a:ea typeface="+mn-ea"/>
              </a:rPr>
              <a:t>. </a:t>
            </a:r>
            <a:r>
              <a:rPr lang="ko-KR" altLang="en-US" sz="800" dirty="0" smtClean="0">
                <a:latin typeface="+mn-ea"/>
                <a:ea typeface="+mn-ea"/>
              </a:rPr>
              <a:t>간편인증 </a:t>
            </a:r>
            <a:r>
              <a:rPr lang="ko-KR" altLang="en-US" sz="800" dirty="0">
                <a:latin typeface="+mn-ea"/>
                <a:ea typeface="+mn-ea"/>
              </a:rPr>
              <a:t>사용 안함</a:t>
            </a:r>
            <a:r>
              <a:rPr lang="en-US" altLang="ko-KR" sz="800" dirty="0">
                <a:latin typeface="+mn-ea"/>
                <a:ea typeface="+mn-ea"/>
              </a:rPr>
              <a:t>, SNS</a:t>
            </a:r>
            <a:r>
              <a:rPr lang="ko-KR" altLang="en-US" sz="800" dirty="0">
                <a:latin typeface="+mn-ea"/>
                <a:ea typeface="+mn-ea"/>
              </a:rPr>
              <a:t>인증으로 대체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다</a:t>
            </a:r>
            <a:r>
              <a:rPr lang="en-US" altLang="ko-KR" sz="800" dirty="0">
                <a:latin typeface="+mn-ea"/>
                <a:ea typeface="+mn-ea"/>
              </a:rPr>
              <a:t>. </a:t>
            </a:r>
            <a:r>
              <a:rPr lang="ko-KR" altLang="en-US" sz="800" dirty="0">
                <a:latin typeface="+mn-ea"/>
                <a:ea typeface="+mn-ea"/>
              </a:rPr>
              <a:t>시험시스템 인증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네이버공인인증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공인인증서 사용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카카오공인인증 사용여부는 검토 후 결정 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라</a:t>
            </a:r>
            <a:r>
              <a:rPr lang="en-US" altLang="ko-KR" sz="800" dirty="0">
                <a:latin typeface="+mn-ea"/>
                <a:ea typeface="+mn-ea"/>
              </a:rPr>
              <a:t>. </a:t>
            </a:r>
            <a:r>
              <a:rPr lang="ko-KR" altLang="en-US" sz="800" dirty="0">
                <a:latin typeface="+mn-ea"/>
                <a:ea typeface="+mn-ea"/>
              </a:rPr>
              <a:t>과정별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과목별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개인별 </a:t>
            </a:r>
            <a:r>
              <a:rPr lang="en-US" altLang="ko-KR" sz="800" dirty="0">
                <a:latin typeface="+mn-ea"/>
                <a:ea typeface="+mn-ea"/>
              </a:rPr>
              <a:t>2</a:t>
            </a:r>
            <a:r>
              <a:rPr lang="ko-KR" altLang="en-US" sz="800" dirty="0">
                <a:latin typeface="+mn-ea"/>
                <a:ea typeface="+mn-ea"/>
              </a:rPr>
              <a:t>차 인증 사용 옵션으로 </a:t>
            </a:r>
            <a:r>
              <a:rPr lang="ko-KR" altLang="en-US" sz="800" dirty="0" smtClean="0">
                <a:latin typeface="+mn-ea"/>
                <a:ea typeface="+mn-ea"/>
              </a:rPr>
              <a:t>설정 </a:t>
            </a:r>
            <a:r>
              <a:rPr lang="en-US" altLang="ko-KR" sz="800" dirty="0" smtClean="0">
                <a:latin typeface="+mn-ea"/>
                <a:ea typeface="+mn-ea"/>
              </a:rPr>
              <a:t>: </a:t>
            </a:r>
            <a:r>
              <a:rPr lang="ko-KR" altLang="ko-KR" sz="800" dirty="0" smtClean="0">
                <a:latin typeface="+mn-ea"/>
                <a:ea typeface="+mn-ea"/>
              </a:rPr>
              <a:t>외국인인 </a:t>
            </a:r>
            <a:r>
              <a:rPr lang="ko-KR" altLang="ko-KR" sz="800" dirty="0">
                <a:latin typeface="+mn-ea"/>
                <a:ea typeface="+mn-ea"/>
              </a:rPr>
              <a:t>경우</a:t>
            </a:r>
            <a:r>
              <a:rPr lang="en-US" altLang="ko-KR" sz="800" dirty="0">
                <a:latin typeface="+mn-ea"/>
                <a:ea typeface="+mn-ea"/>
              </a:rPr>
              <a:t> 2</a:t>
            </a:r>
            <a:r>
              <a:rPr lang="ko-KR" altLang="ko-KR" sz="800" dirty="0">
                <a:latin typeface="+mn-ea"/>
                <a:ea typeface="+mn-ea"/>
              </a:rPr>
              <a:t>차 인증 패스 </a:t>
            </a:r>
            <a:r>
              <a:rPr lang="ko-KR" altLang="ko-KR" sz="800" dirty="0" smtClean="0">
                <a:latin typeface="+mn-ea"/>
                <a:ea typeface="+mn-ea"/>
              </a:rPr>
              <a:t>기능</a:t>
            </a:r>
            <a:endParaRPr lang="ko-KR" altLang="en-US" sz="8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마</a:t>
            </a:r>
            <a:r>
              <a:rPr lang="en-US" altLang="ko-KR" sz="800" dirty="0">
                <a:latin typeface="+mn-ea"/>
                <a:ea typeface="+mn-ea"/>
              </a:rPr>
              <a:t>. </a:t>
            </a:r>
            <a:r>
              <a:rPr lang="ko-KR" altLang="en-US" sz="800" dirty="0">
                <a:latin typeface="+mn-ea"/>
                <a:ea typeface="+mn-ea"/>
              </a:rPr>
              <a:t>계정이 여러개가 있는 경우 대표계정 활용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바</a:t>
            </a:r>
            <a:r>
              <a:rPr lang="en-US" altLang="ko-KR" sz="800" dirty="0">
                <a:latin typeface="+mn-ea"/>
                <a:ea typeface="+mn-ea"/>
              </a:rPr>
              <a:t>. </a:t>
            </a:r>
            <a:r>
              <a:rPr lang="ko-KR" altLang="en-US" sz="800" dirty="0">
                <a:latin typeface="+mn-ea"/>
                <a:ea typeface="+mn-ea"/>
              </a:rPr>
              <a:t>사용자 정보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학사시스템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대학원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학위과정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허브대학</a:t>
            </a:r>
            <a:r>
              <a:rPr lang="en-US" altLang="ko-KR" sz="800" dirty="0">
                <a:latin typeface="+mn-ea"/>
                <a:ea typeface="+mn-ea"/>
              </a:rPr>
              <a:t>), </a:t>
            </a:r>
            <a:r>
              <a:rPr lang="ko-KR" altLang="en-US" sz="800" dirty="0">
                <a:latin typeface="+mn-ea"/>
                <a:ea typeface="+mn-ea"/>
              </a:rPr>
              <a:t>프라임마스터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평생교육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종합연수원</a:t>
            </a:r>
            <a:r>
              <a:rPr lang="en-US" altLang="ko-KR" sz="800" dirty="0">
                <a:latin typeface="+mn-ea"/>
                <a:ea typeface="+mn-ea"/>
              </a:rPr>
              <a:t>) </a:t>
            </a:r>
            <a:r>
              <a:rPr lang="ko-KR" altLang="en-US" sz="800" dirty="0">
                <a:latin typeface="+mn-ea"/>
                <a:ea typeface="+mn-ea"/>
              </a:rPr>
              <a:t>구분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n-ea"/>
                <a:ea typeface="+mn-ea"/>
              </a:rPr>
              <a:t>사</a:t>
            </a:r>
            <a:r>
              <a:rPr lang="en-US" altLang="ko-KR" sz="800" dirty="0">
                <a:latin typeface="+mn-ea"/>
                <a:ea typeface="+mn-ea"/>
              </a:rPr>
              <a:t>. LMS </a:t>
            </a:r>
            <a:r>
              <a:rPr lang="ko-KR" altLang="en-US" sz="800" dirty="0">
                <a:latin typeface="+mn-ea"/>
                <a:ea typeface="+mn-ea"/>
              </a:rPr>
              <a:t>회원가입 절차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n-ea"/>
                <a:ea typeface="+mn-ea"/>
              </a:rPr>
              <a:t>- </a:t>
            </a:r>
            <a:r>
              <a:rPr lang="ko-KR" altLang="en-US" sz="800" dirty="0">
                <a:latin typeface="+mn-ea"/>
                <a:ea typeface="+mn-ea"/>
              </a:rPr>
              <a:t>회원가입시 학사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프라임마스터 등록이 없으면 </a:t>
            </a:r>
            <a:r>
              <a:rPr lang="en-US" altLang="ko-KR" sz="800" dirty="0">
                <a:latin typeface="+mn-ea"/>
                <a:ea typeface="+mn-ea"/>
              </a:rPr>
              <a:t>&gt; </a:t>
            </a:r>
            <a:r>
              <a:rPr lang="ko-KR" altLang="en-US" sz="800" dirty="0">
                <a:latin typeface="+mn-ea"/>
                <a:ea typeface="+mn-ea"/>
              </a:rPr>
              <a:t>실명인증 </a:t>
            </a:r>
            <a:r>
              <a:rPr lang="en-US" altLang="ko-KR" sz="800" dirty="0">
                <a:latin typeface="+mn-ea"/>
                <a:ea typeface="+mn-ea"/>
              </a:rPr>
              <a:t>&gt; </a:t>
            </a:r>
            <a:r>
              <a:rPr lang="ko-KR" altLang="en-US" sz="800" dirty="0">
                <a:latin typeface="+mn-ea"/>
                <a:ea typeface="+mn-ea"/>
              </a:rPr>
              <a:t>회원가입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latin typeface="+mn-ea"/>
                <a:ea typeface="+mn-ea"/>
              </a:rPr>
              <a:t>- </a:t>
            </a:r>
            <a:r>
              <a:rPr lang="ko-KR" altLang="en-US" sz="800" dirty="0" smtClean="0">
                <a:latin typeface="+mn-ea"/>
                <a:ea typeface="+mn-ea"/>
              </a:rPr>
              <a:t>회원가입시 </a:t>
            </a:r>
            <a:r>
              <a:rPr lang="ko-KR" altLang="en-US" sz="800" dirty="0">
                <a:latin typeface="+mn-ea"/>
                <a:ea typeface="+mn-ea"/>
              </a:rPr>
              <a:t>학사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프라임마스터 등록이 있으면 </a:t>
            </a:r>
            <a:r>
              <a:rPr lang="en-US" altLang="ko-KR" sz="800" dirty="0">
                <a:latin typeface="+mn-ea"/>
                <a:ea typeface="+mn-ea"/>
              </a:rPr>
              <a:t>&gt; </a:t>
            </a:r>
            <a:r>
              <a:rPr lang="ko-KR" altLang="en-US" sz="800" dirty="0">
                <a:latin typeface="+mn-ea"/>
                <a:ea typeface="+mn-ea"/>
              </a:rPr>
              <a:t>등록됨 확인 메시지 </a:t>
            </a:r>
            <a:r>
              <a:rPr lang="en-US" altLang="ko-KR" sz="800" dirty="0">
                <a:latin typeface="+mn-ea"/>
                <a:ea typeface="+mn-ea"/>
              </a:rPr>
              <a:t>&gt; </a:t>
            </a:r>
            <a:r>
              <a:rPr lang="ko-KR" altLang="en-US" sz="800" dirty="0">
                <a:latin typeface="+mn-ea"/>
                <a:ea typeface="+mn-ea"/>
              </a:rPr>
              <a:t>회원가입 </a:t>
            </a:r>
            <a:r>
              <a:rPr lang="ko-KR" altLang="en-US" sz="800" dirty="0" smtClean="0">
                <a:latin typeface="+mn-ea"/>
                <a:ea typeface="+mn-ea"/>
              </a:rPr>
              <a:t>불가</a:t>
            </a:r>
            <a:endParaRPr lang="en-US" altLang="ko-KR" sz="8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smtClean="0">
                <a:latin typeface="+mn-ea"/>
                <a:ea typeface="+mn-ea"/>
              </a:rPr>
              <a:t>아</a:t>
            </a:r>
            <a:r>
              <a:rPr lang="en-US" altLang="ko-KR" sz="800" dirty="0" smtClean="0">
                <a:latin typeface="+mn-ea"/>
                <a:ea typeface="+mn-ea"/>
              </a:rPr>
              <a:t>. </a:t>
            </a:r>
            <a:r>
              <a:rPr lang="en-US" altLang="ko-KR" sz="800" dirty="0">
                <a:latin typeface="+mn-ea"/>
                <a:ea typeface="+mn-ea"/>
              </a:rPr>
              <a:t>LMS </a:t>
            </a:r>
            <a:r>
              <a:rPr lang="ko-KR" altLang="ko-KR" sz="800" dirty="0">
                <a:latin typeface="+mn-ea"/>
                <a:ea typeface="+mn-ea"/>
              </a:rPr>
              <a:t>회원가입 </a:t>
            </a:r>
            <a:r>
              <a:rPr lang="en-US" altLang="ko-KR" sz="800" dirty="0">
                <a:latin typeface="+mn-ea"/>
                <a:ea typeface="+mn-ea"/>
              </a:rPr>
              <a:t>&gt; </a:t>
            </a:r>
            <a:r>
              <a:rPr lang="ko-KR" altLang="ko-KR" sz="800" dirty="0">
                <a:latin typeface="+mn-ea"/>
                <a:ea typeface="+mn-ea"/>
              </a:rPr>
              <a:t>학사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ko-KR" sz="800" dirty="0">
                <a:latin typeface="+mn-ea"/>
                <a:ea typeface="+mn-ea"/>
              </a:rPr>
              <a:t>프라임마스터에 등록여부 확인 </a:t>
            </a:r>
            <a:r>
              <a:rPr lang="en-US" altLang="ko-KR" sz="800" dirty="0">
                <a:latin typeface="+mn-ea"/>
                <a:ea typeface="+mn-ea"/>
              </a:rPr>
              <a:t>&gt; </a:t>
            </a:r>
            <a:r>
              <a:rPr lang="ko-KR" altLang="ko-KR" sz="800" dirty="0">
                <a:latin typeface="+mn-ea"/>
                <a:ea typeface="+mn-ea"/>
              </a:rPr>
              <a:t>실명인증</a:t>
            </a:r>
            <a:r>
              <a:rPr lang="en-US" altLang="ko-KR" sz="800" dirty="0">
                <a:latin typeface="+mn-ea"/>
                <a:ea typeface="+mn-ea"/>
              </a:rPr>
              <a:t> &gt; </a:t>
            </a:r>
            <a:r>
              <a:rPr lang="ko-KR" altLang="ko-KR" sz="800" dirty="0">
                <a:latin typeface="+mn-ea"/>
                <a:ea typeface="+mn-ea"/>
              </a:rPr>
              <a:t>회원가입 </a:t>
            </a:r>
          </a:p>
          <a:p>
            <a:pPr>
              <a:lnSpc>
                <a:spcPct val="150000"/>
              </a:lnSpc>
            </a:pPr>
            <a:r>
              <a:rPr lang="ko-KR" altLang="en-US" sz="800" dirty="0" smtClean="0">
                <a:latin typeface="+mn-ea"/>
                <a:ea typeface="+mn-ea"/>
              </a:rPr>
              <a:t>자</a:t>
            </a:r>
            <a:r>
              <a:rPr lang="en-US" altLang="ko-KR" sz="800" dirty="0" smtClean="0">
                <a:latin typeface="+mn-ea"/>
                <a:ea typeface="+mn-ea"/>
              </a:rPr>
              <a:t>. </a:t>
            </a:r>
            <a:r>
              <a:rPr lang="en-US" altLang="ko-KR" sz="800" dirty="0">
                <a:latin typeface="+mn-ea"/>
                <a:ea typeface="+mn-ea"/>
              </a:rPr>
              <a:t>LMS </a:t>
            </a:r>
            <a:r>
              <a:rPr lang="ko-KR" altLang="ko-KR" sz="800" dirty="0">
                <a:latin typeface="+mn-ea"/>
                <a:ea typeface="+mn-ea"/>
              </a:rPr>
              <a:t>회원가입 후 수강신청시</a:t>
            </a:r>
            <a:r>
              <a:rPr lang="en-US" altLang="ko-KR" sz="800" dirty="0">
                <a:latin typeface="+mn-ea"/>
                <a:ea typeface="+mn-ea"/>
              </a:rPr>
              <a:t> &gt; </a:t>
            </a:r>
            <a:r>
              <a:rPr lang="ko-KR" altLang="ko-KR" sz="800" dirty="0">
                <a:latin typeface="+mn-ea"/>
                <a:ea typeface="+mn-ea"/>
              </a:rPr>
              <a:t>프라임마스터로 회원정보 연계 필요</a:t>
            </a:r>
          </a:p>
          <a:p>
            <a:pPr>
              <a:lnSpc>
                <a:spcPct val="150000"/>
              </a:lnSpc>
            </a:pPr>
            <a:r>
              <a:rPr lang="ko-KR" altLang="en-US" sz="800" dirty="0" smtClean="0">
                <a:latin typeface="+mn-ea"/>
                <a:ea typeface="+mn-ea"/>
              </a:rPr>
              <a:t>차</a:t>
            </a:r>
            <a:r>
              <a:rPr lang="en-US" altLang="ko-KR" sz="800" dirty="0" smtClean="0">
                <a:latin typeface="+mn-ea"/>
                <a:ea typeface="+mn-ea"/>
              </a:rPr>
              <a:t>. </a:t>
            </a:r>
            <a:r>
              <a:rPr lang="ko-KR" altLang="ko-KR" sz="800" dirty="0">
                <a:latin typeface="+mn-ea"/>
                <a:ea typeface="+mn-ea"/>
              </a:rPr>
              <a:t>수강신청시 추가 정보 입력 후 프라임마스터에 저장됨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2514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/</a:t>
            </a:r>
            <a:r>
              <a:rPr lang="ko-KR" altLang="en-US" sz="800" spc="-60" dirty="0" smtClean="0">
                <a:latin typeface="+mn-ea"/>
                <a:ea typeface="+mn-ea"/>
              </a:rPr>
              <a:t>기관 회원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/</a:t>
            </a:r>
            <a:r>
              <a:rPr lang="ko-KR" altLang="en-US" sz="800" spc="-60" dirty="0" smtClean="0">
                <a:latin typeface="+mn-ea"/>
                <a:ea typeface="+mn-ea"/>
              </a:rPr>
              <a:t>기관 회원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661248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일발</a:t>
            </a:r>
            <a:r>
              <a:rPr lang="en-US" altLang="ko-KR" sz="800" spc="-60" dirty="0" smtClean="0">
                <a:latin typeface="+mn-ea"/>
                <a:ea typeface="+mn-ea"/>
              </a:rPr>
              <a:t>/</a:t>
            </a:r>
            <a:r>
              <a:rPr lang="ko-KR" altLang="en-US" sz="800" spc="-60" dirty="0" smtClean="0">
                <a:latin typeface="+mn-ea"/>
                <a:ea typeface="+mn-ea"/>
              </a:rPr>
              <a:t>기관 회원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035871"/>
              </p:ext>
            </p:extLst>
          </p:nvPr>
        </p:nvGraphicFramePr>
        <p:xfrm>
          <a:off x="9496933" y="1494927"/>
          <a:ext cx="1404156" cy="402036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약관 동의 전체 체크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약관보기 펼침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숨김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필수항목 체크 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이용약관 체크</a:t>
                      </a:r>
                      <a:r>
                        <a:rPr lang="en-US" altLang="ko-KR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개인정보처리방침 체크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취소 버튼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 닫힘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3215283" y="2204864"/>
            <a:ext cx="3456384" cy="2448272"/>
            <a:chOff x="3215283" y="1916832"/>
            <a:chExt cx="3456384" cy="2448272"/>
          </a:xfrm>
        </p:grpSpPr>
        <p:sp>
          <p:nvSpPr>
            <p:cNvPr id="445" name="직사각형 444"/>
            <p:cNvSpPr/>
            <p:nvPr/>
          </p:nvSpPr>
          <p:spPr>
            <a:xfrm>
              <a:off x="3215283" y="1916832"/>
              <a:ext cx="3456384" cy="2448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3499123" y="2132856"/>
              <a:ext cx="2880000" cy="22360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SSO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간편인증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 비밀번호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지문인식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 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ko-KR" altLang="en-US" sz="8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일반로그인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101893" y="2852936"/>
            <a:ext cx="1716519" cy="1500519"/>
            <a:chOff x="4101893" y="2648561"/>
            <a:chExt cx="1716519" cy="1500519"/>
          </a:xfrm>
        </p:grpSpPr>
        <p:grpSp>
          <p:nvGrpSpPr>
            <p:cNvPr id="19" name="그룹 18"/>
            <p:cNvGrpSpPr/>
            <p:nvPr/>
          </p:nvGrpSpPr>
          <p:grpSpPr>
            <a:xfrm>
              <a:off x="4101893" y="2648561"/>
              <a:ext cx="1715203" cy="1020846"/>
              <a:chOff x="4101893" y="2648561"/>
              <a:chExt cx="1715203" cy="1020846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4101893" y="2648561"/>
                <a:ext cx="1715203" cy="753932"/>
                <a:chOff x="4120943" y="2648561"/>
                <a:chExt cx="1715203" cy="753932"/>
              </a:xfrm>
            </p:grpSpPr>
            <p:pic>
              <p:nvPicPr>
                <p:cNvPr id="523" name="Picture 4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20943" y="2648561"/>
                  <a:ext cx="1696153" cy="252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4" name="직사각형 453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465" name="직사각형 464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466" name="모서리가 둥근 직사각형 465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1000" b="1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10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69" name="그룹 468"/>
            <p:cNvGrpSpPr/>
            <p:nvPr/>
          </p:nvGrpSpPr>
          <p:grpSpPr>
            <a:xfrm>
              <a:off x="4120012" y="3718974"/>
              <a:ext cx="1695048" cy="223607"/>
              <a:chOff x="3267377" y="4473116"/>
              <a:chExt cx="1695048" cy="223607"/>
            </a:xfrm>
          </p:grpSpPr>
          <p:sp>
            <p:nvSpPr>
              <p:cNvPr id="473" name="TextBox 472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477" name="직사각형 476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478" name="TextBox 477"/>
            <p:cNvSpPr txBox="1"/>
            <p:nvPr/>
          </p:nvSpPr>
          <p:spPr>
            <a:xfrm>
              <a:off x="4122812" y="3969080"/>
              <a:ext cx="16956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36000" rIns="0" bIns="0" rtlCol="0" anchor="ctr">
              <a:noAutofit/>
            </a:bodyPr>
            <a:lstStyle/>
            <a:p>
              <a:pPr algn="ctr"/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회원가입  </a:t>
              </a:r>
              <a:r>
                <a:rPr lang="en-US" altLang="ko-KR" sz="600" kern="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아이디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비번 찾기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483" name="직사각형 482"/>
          <p:cNvSpPr/>
          <p:nvPr/>
        </p:nvSpPr>
        <p:spPr>
          <a:xfrm>
            <a:off x="3215283" y="4571603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421444" y="1492213"/>
            <a:ext cx="9059851" cy="7265379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471104" y="1672233"/>
            <a:ext cx="7010288" cy="67253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3163692" y="2708920"/>
            <a:ext cx="36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/>
          <p:cNvGrpSpPr/>
          <p:nvPr/>
        </p:nvGrpSpPr>
        <p:grpSpPr>
          <a:xfrm>
            <a:off x="2517026" y="2348880"/>
            <a:ext cx="720000" cy="943454"/>
            <a:chOff x="1606434" y="2528900"/>
            <a:chExt cx="720000" cy="943454"/>
          </a:xfrm>
        </p:grpSpPr>
        <p:sp>
          <p:nvSpPr>
            <p:cNvPr id="52" name="타원 51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rgbClr val="009BE5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687060" y="2801720"/>
              <a:ext cx="574196" cy="1780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STEP 01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약관 동의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4605327" y="2348880"/>
            <a:ext cx="720000" cy="943454"/>
            <a:chOff x="1606434" y="2528900"/>
            <a:chExt cx="720000" cy="943454"/>
          </a:xfrm>
        </p:grpSpPr>
        <p:sp>
          <p:nvSpPr>
            <p:cNvPr id="56" name="타원 55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687060" y="2803582"/>
              <a:ext cx="5741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STEP 02</a:t>
              </a:r>
              <a:endPara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정보 입력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6657555" y="2348880"/>
            <a:ext cx="720000" cy="943454"/>
            <a:chOff x="1606434" y="2528900"/>
            <a:chExt cx="720000" cy="943454"/>
          </a:xfrm>
        </p:grpSpPr>
        <p:sp>
          <p:nvSpPr>
            <p:cNvPr id="60" name="타원 59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1696585" y="2794057"/>
              <a:ext cx="5741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STEP 03</a:t>
              </a:r>
              <a:endPara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가입 완료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120" y="4041068"/>
            <a:ext cx="18000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그룹 64"/>
          <p:cNvGrpSpPr/>
          <p:nvPr/>
        </p:nvGrpSpPr>
        <p:grpSpPr>
          <a:xfrm>
            <a:off x="1605595" y="3599495"/>
            <a:ext cx="1501123" cy="215444"/>
            <a:chOff x="875023" y="3823422"/>
            <a:chExt cx="1501123" cy="215444"/>
          </a:xfrm>
        </p:grpSpPr>
        <p:grpSp>
          <p:nvGrpSpPr>
            <p:cNvPr id="66" name="그룹 65"/>
            <p:cNvGrpSpPr/>
            <p:nvPr/>
          </p:nvGrpSpPr>
          <p:grpSpPr>
            <a:xfrm>
              <a:off x="875023" y="3825044"/>
              <a:ext cx="180000" cy="180000"/>
              <a:chOff x="2528210" y="4506525"/>
              <a:chExt cx="180000" cy="180000"/>
            </a:xfrm>
          </p:grpSpPr>
          <p:sp>
            <p:nvSpPr>
              <p:cNvPr id="68" name="타원 67"/>
              <p:cNvSpPr/>
              <p:nvPr/>
            </p:nvSpPr>
            <p:spPr>
              <a:xfrm>
                <a:off x="2528210" y="4506525"/>
                <a:ext cx="180000" cy="180000"/>
              </a:xfrm>
              <a:prstGeom prst="ellipse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endParaRPr lang="ko-KR" altLang="en-US" sz="11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69" name="Picture 3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69307" y="4562700"/>
                <a:ext cx="112500" cy="9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7" name="직사각형 66"/>
            <p:cNvSpPr/>
            <p:nvPr/>
          </p:nvSpPr>
          <p:spPr>
            <a:xfrm>
              <a:off x="1064568" y="3823422"/>
              <a:ext cx="131157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 약관에 동의합니다</a:t>
              </a:r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70" name="직선 연결선 69"/>
          <p:cNvCxnSpPr/>
          <p:nvPr/>
        </p:nvCxnSpPr>
        <p:spPr>
          <a:xfrm>
            <a:off x="1552637" y="3897052"/>
            <a:ext cx="684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795140" y="4029921"/>
            <a:ext cx="252184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이용약관을 확인하고 이에 동의합니다</a:t>
            </a:r>
            <a:r>
              <a:rPr lang="en-US" altLang="ko-KR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(</a:t>
            </a:r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동의 필수</a:t>
            </a:r>
            <a:r>
              <a:rPr lang="en-US" altLang="ko-KR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7427096" y="4004728"/>
            <a:ext cx="1075245" cy="246695"/>
            <a:chOff x="2472471" y="2864111"/>
            <a:chExt cx="1075245" cy="246695"/>
          </a:xfrm>
        </p:grpSpPr>
        <p:sp>
          <p:nvSpPr>
            <p:cNvPr id="73" name="직사각형 72"/>
            <p:cNvSpPr/>
            <p:nvPr/>
          </p:nvSpPr>
          <p:spPr>
            <a:xfrm>
              <a:off x="2472471" y="2864111"/>
              <a:ext cx="95788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약관 보기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 rot="10800000">
              <a:off x="3066144" y="2864585"/>
              <a:ext cx="481572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000" b="1" dirty="0" smtClean="0"/>
                <a:t>  ⌵</a:t>
              </a:r>
              <a:endParaRPr lang="ko-KR" altLang="en-US" sz="1000" b="1" dirty="0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1639742" y="4329100"/>
            <a:ext cx="6756094" cy="1445985"/>
            <a:chOff x="909170" y="4509120"/>
            <a:chExt cx="6756094" cy="1445985"/>
          </a:xfrm>
        </p:grpSpPr>
        <p:sp>
          <p:nvSpPr>
            <p:cNvPr id="77" name="직사각형 76"/>
            <p:cNvSpPr/>
            <p:nvPr/>
          </p:nvSpPr>
          <p:spPr>
            <a:xfrm>
              <a:off x="909170" y="4509120"/>
              <a:ext cx="6753600" cy="14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이용약관 문구</a:t>
              </a:r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sp>
          <p:nvSpPr>
            <p:cNvPr id="79" name="Track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7611264" y="4515105"/>
              <a:ext cx="54000" cy="144000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▲</a:t>
              </a: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 smtClean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 smtClean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 smtClean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▼</a:t>
              </a: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1599271" y="5925174"/>
            <a:ext cx="3121758" cy="215444"/>
            <a:chOff x="875023" y="3813897"/>
            <a:chExt cx="3121758" cy="215444"/>
          </a:xfrm>
        </p:grpSpPr>
        <p:grpSp>
          <p:nvGrpSpPr>
            <p:cNvPr id="81" name="그룹 80"/>
            <p:cNvGrpSpPr/>
            <p:nvPr/>
          </p:nvGrpSpPr>
          <p:grpSpPr>
            <a:xfrm>
              <a:off x="875023" y="3825044"/>
              <a:ext cx="180000" cy="180000"/>
              <a:chOff x="2528210" y="4506525"/>
              <a:chExt cx="180000" cy="180000"/>
            </a:xfrm>
          </p:grpSpPr>
          <p:sp>
            <p:nvSpPr>
              <p:cNvPr id="85" name="타원 84"/>
              <p:cNvSpPr/>
              <p:nvPr/>
            </p:nvSpPr>
            <p:spPr>
              <a:xfrm>
                <a:off x="2528210" y="4506525"/>
                <a:ext cx="180000" cy="180000"/>
              </a:xfrm>
              <a:prstGeom prst="ellipse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endParaRPr lang="ko-KR" altLang="en-US" sz="11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87" name="Picture 3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69307" y="4562700"/>
                <a:ext cx="112500" cy="9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2" name="직사각형 81"/>
            <p:cNvSpPr/>
            <p:nvPr/>
          </p:nvSpPr>
          <p:spPr>
            <a:xfrm>
              <a:off x="1064568" y="3813897"/>
              <a:ext cx="293221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개인정보처리방침을 확인하고 이에 동의합니다</a:t>
              </a:r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 (</a:t>
              </a:r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동의 필수</a:t>
              </a:r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7444050" y="5922465"/>
            <a:ext cx="1067816" cy="246695"/>
            <a:chOff x="2472471" y="2864111"/>
            <a:chExt cx="1067816" cy="246695"/>
          </a:xfrm>
        </p:grpSpPr>
        <p:sp>
          <p:nvSpPr>
            <p:cNvPr id="89" name="직사각형 88"/>
            <p:cNvSpPr/>
            <p:nvPr/>
          </p:nvSpPr>
          <p:spPr>
            <a:xfrm>
              <a:off x="2472471" y="2864111"/>
              <a:ext cx="95788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약관 보기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 rot="10800000">
              <a:off x="3058715" y="2864585"/>
              <a:ext cx="481572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000" b="1" dirty="0" smtClean="0"/>
                <a:t>  ⌵</a:t>
              </a:r>
              <a:endParaRPr lang="ko-KR" altLang="en-US" sz="1000" b="1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1632313" y="6231782"/>
            <a:ext cx="6753600" cy="1445985"/>
            <a:chOff x="909170" y="4509120"/>
            <a:chExt cx="6753600" cy="1445985"/>
          </a:xfrm>
        </p:grpSpPr>
        <p:sp>
          <p:nvSpPr>
            <p:cNvPr id="93" name="직사각형 92"/>
            <p:cNvSpPr/>
            <p:nvPr/>
          </p:nvSpPr>
          <p:spPr>
            <a:xfrm>
              <a:off x="909170" y="4509120"/>
              <a:ext cx="6753600" cy="14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개인정보처리방침 문구</a:t>
              </a:r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sp>
          <p:nvSpPr>
            <p:cNvPr id="94" name="Track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7611264" y="4515105"/>
              <a:ext cx="46800" cy="144000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▲</a:t>
              </a: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 smtClean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 smtClean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 smtClean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 smtClean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70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sz="700" dirty="0">
                  <a:solidFill>
                    <a:srgbClr val="262626"/>
                  </a:solidFill>
                  <a:latin typeface="+mn-ea"/>
                  <a:cs typeface="Calibri" pitchFamily="34" charset="0"/>
                </a:rPr>
                <a:t>▼</a:t>
              </a: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1353924" y="3581564"/>
            <a:ext cx="234360" cy="200055"/>
            <a:chOff x="1156433" y="11706839"/>
            <a:chExt cx="234360" cy="200055"/>
          </a:xfrm>
        </p:grpSpPr>
        <p:sp>
          <p:nvSpPr>
            <p:cNvPr id="98" name="모서리가 둥근 직사각형 9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7215504" y="4005064"/>
            <a:ext cx="234360" cy="200055"/>
            <a:chOff x="1156433" y="11706839"/>
            <a:chExt cx="234360" cy="200055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3969271" y="8053481"/>
            <a:ext cx="234360" cy="200055"/>
            <a:chOff x="1156433" y="11638582"/>
            <a:chExt cx="234360" cy="200055"/>
          </a:xfrm>
        </p:grpSpPr>
        <p:sp>
          <p:nvSpPr>
            <p:cNvPr id="104" name="모서리가 둥근 직사각형 103"/>
            <p:cNvSpPr/>
            <p:nvPr/>
          </p:nvSpPr>
          <p:spPr>
            <a:xfrm>
              <a:off x="1208584" y="11677185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1156433" y="11638582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4933950" y="8056562"/>
            <a:ext cx="234360" cy="200055"/>
            <a:chOff x="1156433" y="11638582"/>
            <a:chExt cx="234360" cy="20005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1218109" y="11682456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156433" y="11638582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2" name="모서리가 둥근 직사각형 111"/>
          <p:cNvSpPr/>
          <p:nvPr/>
        </p:nvSpPr>
        <p:spPr>
          <a:xfrm>
            <a:off x="4010796" y="7893496"/>
            <a:ext cx="9000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978442" y="7896017"/>
            <a:ext cx="9000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7238920" y="5912291"/>
            <a:ext cx="234360" cy="200055"/>
            <a:chOff x="1156433" y="11706839"/>
            <a:chExt cx="234360" cy="200055"/>
          </a:xfrm>
        </p:grpSpPr>
        <p:sp>
          <p:nvSpPr>
            <p:cNvPr id="115" name="모서리가 둥근 직사각형 114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477566" y="1672233"/>
            <a:ext cx="7013351" cy="246221"/>
            <a:chOff x="1477566" y="2093134"/>
            <a:chExt cx="7013351" cy="246221"/>
          </a:xfrm>
        </p:grpSpPr>
        <p:sp>
          <p:nvSpPr>
            <p:cNvPr id="120" name="직사각형 119"/>
            <p:cNvSpPr/>
            <p:nvPr/>
          </p:nvSpPr>
          <p:spPr>
            <a:xfrm>
              <a:off x="1477566" y="2107438"/>
              <a:ext cx="6994800" cy="216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8222895" y="209313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1487091" y="2114386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회원가입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KNOU_MN_A04010000_01</a:t>
            </a:r>
            <a:endParaRPr lang="ko-KR" altLang="en-US" sz="800" spc="-6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821220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661248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858179"/>
              </p:ext>
            </p:extLst>
          </p:nvPr>
        </p:nvGraphicFramePr>
        <p:xfrm>
          <a:off x="9496933" y="1494927"/>
          <a:ext cx="1404156" cy="746196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 입력 후 중복 확인 필수</a:t>
                      </a:r>
                      <a:endParaRPr lang="en-US" altLang="ko-KR" sz="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 가능 아이디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“</a:t>
                      </a:r>
                      <a:r>
                        <a:rPr lang="ko-KR" altLang="en-US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사용 가능한 학번</a:t>
                      </a:r>
                      <a:r>
                        <a:rPr lang="en-US" altLang="ko-KR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아이디 입니다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중복 아이디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“</a:t>
                      </a:r>
                      <a:r>
                        <a:rPr lang="ko-KR" altLang="en-US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이미 사용중인 학번</a:t>
                      </a:r>
                      <a:r>
                        <a:rPr lang="en-US" altLang="ko-KR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아이디입니다</a:t>
                      </a:r>
                      <a:r>
                        <a:rPr lang="en-US" altLang="ko-KR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다른 학번</a:t>
                      </a:r>
                      <a:r>
                        <a:rPr lang="en-US" altLang="ko-KR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아이디를 입력해 주세요</a:t>
                      </a:r>
                      <a:r>
                        <a:rPr lang="en-US" altLang="ko-KR" sz="800" kern="1200" dirty="0" smtClean="0">
                          <a:solidFill>
                            <a:srgbClr val="007DC5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비밀번호 입력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비밀번호 입력시 실시간 체크 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자 이상 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자 이하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</a:rPr>
                        <a:t> 조건이 안 맞는 경우 </a:t>
                      </a:r>
                      <a:r>
                        <a:rPr lang="en-US" altLang="ko-KR" sz="800" baseline="0" dirty="0" smtClean="0">
                          <a:solidFill>
                            <a:srgbClr val="0070C0"/>
                          </a:solidFill>
                        </a:rPr>
                        <a:t>“</a:t>
                      </a:r>
                      <a:r>
                        <a:rPr lang="en-US" altLang="ko-KR" sz="800" dirty="0" smtClean="0">
                          <a:solidFill>
                            <a:srgbClr val="0070C0"/>
                          </a:solidFill>
                        </a:rPr>
                        <a:t>* 8</a:t>
                      </a:r>
                      <a:r>
                        <a:rPr lang="ko-KR" altLang="en-US" sz="800" dirty="0" smtClean="0">
                          <a:solidFill>
                            <a:srgbClr val="0070C0"/>
                          </a:solidFill>
                        </a:rPr>
                        <a:t>자 이상 </a:t>
                      </a:r>
                      <a:r>
                        <a:rPr lang="en-US" altLang="ko-KR" sz="800" dirty="0" smtClean="0">
                          <a:solidFill>
                            <a:srgbClr val="0070C0"/>
                          </a:solidFill>
                        </a:rPr>
                        <a:t>16</a:t>
                      </a:r>
                      <a:r>
                        <a:rPr lang="ko-KR" altLang="en-US" sz="800" dirty="0" smtClean="0">
                          <a:solidFill>
                            <a:srgbClr val="0070C0"/>
                          </a:solidFill>
                        </a:rPr>
                        <a:t>자 이하로 입력 하세요</a:t>
                      </a:r>
                      <a:r>
                        <a:rPr lang="en-US" altLang="ko-KR" sz="800" baseline="0" dirty="0" smtClean="0">
                          <a:solidFill>
                            <a:srgbClr val="0070C0"/>
                          </a:solidFill>
                        </a:rPr>
                        <a:t>” 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</a:rPr>
                        <a:t>문구 노출</a:t>
                      </a:r>
                      <a:endParaRPr lang="en-US" altLang="ko-KR" sz="8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가지 이상 조합 조건이 안 맞는 경우 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altLang="ko-KR" sz="800" dirty="0" smtClean="0">
                          <a:solidFill>
                            <a:srgbClr val="007DC5"/>
                          </a:solidFill>
                        </a:rPr>
                        <a:t>* </a:t>
                      </a:r>
                      <a:r>
                        <a:rPr lang="ko-KR" altLang="en-US" sz="800" dirty="0" smtClean="0">
                          <a:solidFill>
                            <a:srgbClr val="007DC5"/>
                          </a:solidFill>
                        </a:rPr>
                        <a:t>영문</a:t>
                      </a:r>
                      <a:r>
                        <a:rPr lang="en-US" altLang="ko-KR" sz="800" dirty="0" smtClean="0">
                          <a:solidFill>
                            <a:srgbClr val="007DC5"/>
                          </a:solidFill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rgbClr val="007DC5"/>
                          </a:solidFill>
                        </a:rPr>
                        <a:t>대소문자구분</a:t>
                      </a:r>
                      <a:r>
                        <a:rPr lang="en-US" altLang="ko-KR" sz="800" dirty="0" smtClean="0">
                          <a:solidFill>
                            <a:srgbClr val="007DC5"/>
                          </a:solidFill>
                        </a:rPr>
                        <a:t>)/</a:t>
                      </a:r>
                      <a:r>
                        <a:rPr lang="ko-KR" altLang="en-US" sz="800" dirty="0" smtClean="0">
                          <a:solidFill>
                            <a:srgbClr val="007DC5"/>
                          </a:solidFill>
                        </a:rPr>
                        <a:t>숫자</a:t>
                      </a:r>
                      <a:r>
                        <a:rPr lang="en-US" altLang="ko-KR" sz="800" dirty="0" smtClean="0">
                          <a:solidFill>
                            <a:srgbClr val="007DC5"/>
                          </a:solidFill>
                        </a:rPr>
                        <a:t>/</a:t>
                      </a:r>
                      <a:r>
                        <a:rPr lang="ko-KR" altLang="en-US" sz="800" dirty="0" smtClean="0">
                          <a:solidFill>
                            <a:srgbClr val="007DC5"/>
                          </a:solidFill>
                        </a:rPr>
                        <a:t>특수문자 중 </a:t>
                      </a:r>
                      <a:r>
                        <a:rPr lang="en-US" altLang="ko-KR" sz="800" dirty="0" smtClean="0">
                          <a:solidFill>
                            <a:srgbClr val="007DC5"/>
                          </a:solidFill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007DC5"/>
                          </a:solidFill>
                        </a:rPr>
                        <a:t>가지 이상 조합해 주세요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문구 노출</a:t>
                      </a:r>
                      <a:endParaRPr lang="en-US" altLang="ko-KR" sz="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파일첨부 모듈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 항목 체크 이상 없는 경우 회원정보 저장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완료화면으로 이동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취소 버튼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레이어팝업 닫음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프로필사진 삭제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3215283" y="2204864"/>
            <a:ext cx="3456384" cy="2448272"/>
            <a:chOff x="3215283" y="1916832"/>
            <a:chExt cx="3456384" cy="2448272"/>
          </a:xfrm>
        </p:grpSpPr>
        <p:sp>
          <p:nvSpPr>
            <p:cNvPr id="445" name="직사각형 444"/>
            <p:cNvSpPr/>
            <p:nvPr/>
          </p:nvSpPr>
          <p:spPr>
            <a:xfrm>
              <a:off x="3215283" y="1916832"/>
              <a:ext cx="3456384" cy="2448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3499123" y="2132856"/>
              <a:ext cx="2880000" cy="22360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SSO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간편인증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 비밀번호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지문인식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 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ko-KR" altLang="en-US" sz="8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일반로그인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101893" y="2852936"/>
            <a:ext cx="1716519" cy="1500519"/>
            <a:chOff x="4101893" y="2648561"/>
            <a:chExt cx="1716519" cy="1500519"/>
          </a:xfrm>
        </p:grpSpPr>
        <p:grpSp>
          <p:nvGrpSpPr>
            <p:cNvPr id="19" name="그룹 18"/>
            <p:cNvGrpSpPr/>
            <p:nvPr/>
          </p:nvGrpSpPr>
          <p:grpSpPr>
            <a:xfrm>
              <a:off x="4101893" y="2648561"/>
              <a:ext cx="1715203" cy="1020846"/>
              <a:chOff x="4101893" y="2648561"/>
              <a:chExt cx="1715203" cy="1020846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4101893" y="2648561"/>
                <a:ext cx="1715203" cy="753932"/>
                <a:chOff x="4120943" y="2648561"/>
                <a:chExt cx="1715203" cy="753932"/>
              </a:xfrm>
            </p:grpSpPr>
            <p:pic>
              <p:nvPicPr>
                <p:cNvPr id="523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20943" y="2648561"/>
                  <a:ext cx="1696153" cy="252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4" name="직사각형 453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465" name="직사각형 464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466" name="모서리가 둥근 직사각형 465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1000" b="1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10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69" name="그룹 468"/>
            <p:cNvGrpSpPr/>
            <p:nvPr/>
          </p:nvGrpSpPr>
          <p:grpSpPr>
            <a:xfrm>
              <a:off x="4120012" y="3718974"/>
              <a:ext cx="1695048" cy="223607"/>
              <a:chOff x="3267377" y="4473116"/>
              <a:chExt cx="1695048" cy="223607"/>
            </a:xfrm>
          </p:grpSpPr>
          <p:sp>
            <p:nvSpPr>
              <p:cNvPr id="473" name="TextBox 472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477" name="직사각형 476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478" name="TextBox 477"/>
            <p:cNvSpPr txBox="1"/>
            <p:nvPr/>
          </p:nvSpPr>
          <p:spPr>
            <a:xfrm>
              <a:off x="4122812" y="3969080"/>
              <a:ext cx="16956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36000" rIns="0" bIns="0" rtlCol="0" anchor="ctr">
              <a:noAutofit/>
            </a:bodyPr>
            <a:lstStyle/>
            <a:p>
              <a:pPr algn="ctr"/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회원가입  </a:t>
              </a:r>
              <a:r>
                <a:rPr lang="en-US" altLang="ko-KR" sz="600" kern="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아이디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비번 찾기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483" name="직사각형 482"/>
          <p:cNvSpPr/>
          <p:nvPr/>
        </p:nvSpPr>
        <p:spPr>
          <a:xfrm>
            <a:off x="3358053" y="4215755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421444" y="1492213"/>
            <a:ext cx="9059851" cy="10001683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471104" y="1672232"/>
            <a:ext cx="7874256" cy="58643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3163692" y="2708920"/>
            <a:ext cx="36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/>
          <p:cNvGrpSpPr/>
          <p:nvPr/>
        </p:nvGrpSpPr>
        <p:grpSpPr>
          <a:xfrm>
            <a:off x="2517026" y="2348880"/>
            <a:ext cx="720000" cy="943454"/>
            <a:chOff x="1606434" y="2528900"/>
            <a:chExt cx="720000" cy="943454"/>
          </a:xfrm>
        </p:grpSpPr>
        <p:sp>
          <p:nvSpPr>
            <p:cNvPr id="52" name="타원 51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687060" y="2801720"/>
              <a:ext cx="57419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STEP 01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약관 동의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4605327" y="2348880"/>
            <a:ext cx="720000" cy="943454"/>
            <a:chOff x="1606434" y="2528900"/>
            <a:chExt cx="720000" cy="943454"/>
          </a:xfrm>
        </p:grpSpPr>
        <p:sp>
          <p:nvSpPr>
            <p:cNvPr id="56" name="타원 55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rgbClr val="00B0F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687060" y="2803582"/>
              <a:ext cx="5741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STEP 02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정보 입력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6657555" y="2348880"/>
            <a:ext cx="720000" cy="943454"/>
            <a:chOff x="1606434" y="2528900"/>
            <a:chExt cx="720000" cy="943454"/>
          </a:xfrm>
        </p:grpSpPr>
        <p:sp>
          <p:nvSpPr>
            <p:cNvPr id="60" name="타원 59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1696585" y="2794057"/>
              <a:ext cx="5741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STEP 03</a:t>
              </a:r>
              <a:endPara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가입 완료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4483989" y="7333401"/>
            <a:ext cx="234360" cy="200055"/>
            <a:chOff x="1156433" y="11638582"/>
            <a:chExt cx="234360" cy="200055"/>
          </a:xfrm>
        </p:grpSpPr>
        <p:sp>
          <p:nvSpPr>
            <p:cNvPr id="104" name="모서리가 둥근 직사각형 103"/>
            <p:cNvSpPr/>
            <p:nvPr/>
          </p:nvSpPr>
          <p:spPr>
            <a:xfrm>
              <a:off x="1208584" y="11677185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1156433" y="11638582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5448668" y="7336482"/>
            <a:ext cx="234360" cy="200055"/>
            <a:chOff x="1156433" y="11638582"/>
            <a:chExt cx="234360" cy="20005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1218109" y="11682456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156433" y="11638582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6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2" name="모서리가 둥근 직사각형 111"/>
          <p:cNvSpPr/>
          <p:nvPr/>
        </p:nvSpPr>
        <p:spPr>
          <a:xfrm>
            <a:off x="4525514" y="7173416"/>
            <a:ext cx="9000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5493160" y="7175937"/>
            <a:ext cx="9000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2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891870"/>
              </p:ext>
            </p:extLst>
          </p:nvPr>
        </p:nvGraphicFramePr>
        <p:xfrm>
          <a:off x="1621582" y="3717032"/>
          <a:ext cx="7579890" cy="3315890"/>
        </p:xfrm>
        <a:graphic>
          <a:graphicData uri="http://schemas.openxmlformats.org/drawingml/2006/table">
            <a:tbl>
              <a:tblPr/>
              <a:tblGrid>
                <a:gridCol w="1061070"/>
                <a:gridCol w="6518820"/>
              </a:tblGrid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아이디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rgbClr val="C00000"/>
                          </a:solidFill>
                          <a:latin typeface="+mn-ea"/>
                        </a:rPr>
                        <a:t>                                                       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비밀번호확인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성별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휴대폰번호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개인 이메일 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33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프로필사진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91" name="그룹 190"/>
          <p:cNvGrpSpPr/>
          <p:nvPr/>
        </p:nvGrpSpPr>
        <p:grpSpPr>
          <a:xfrm>
            <a:off x="2208535" y="7614516"/>
            <a:ext cx="3260105" cy="709640"/>
            <a:chOff x="-653870" y="266865"/>
            <a:chExt cx="3260105" cy="709640"/>
          </a:xfrm>
        </p:grpSpPr>
        <p:grpSp>
          <p:nvGrpSpPr>
            <p:cNvPr id="192" name="그룹 191"/>
            <p:cNvGrpSpPr/>
            <p:nvPr/>
          </p:nvGrpSpPr>
          <p:grpSpPr>
            <a:xfrm>
              <a:off x="-653870" y="266865"/>
              <a:ext cx="3260105" cy="709640"/>
              <a:chOff x="1100571" y="3148839"/>
              <a:chExt cx="3260105" cy="709640"/>
            </a:xfrm>
          </p:grpSpPr>
          <p:sp>
            <p:nvSpPr>
              <p:cNvPr id="194" name="직사각형 193"/>
              <p:cNvSpPr/>
              <p:nvPr/>
            </p:nvSpPr>
            <p:spPr>
              <a:xfrm>
                <a:off x="1100571" y="3176972"/>
                <a:ext cx="3240000" cy="6815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195" name="직사각형 194"/>
              <p:cNvSpPr/>
              <p:nvPr/>
            </p:nvSpPr>
            <p:spPr>
              <a:xfrm>
                <a:off x="1110097" y="3177813"/>
                <a:ext cx="3218400" cy="180000"/>
              </a:xfrm>
              <a:prstGeom prst="rect">
                <a:avLst/>
              </a:prstGeom>
              <a:solidFill>
                <a:srgbClr val="435C7A"/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196" name="직사각형 195"/>
              <p:cNvSpPr/>
              <p:nvPr/>
            </p:nvSpPr>
            <p:spPr>
              <a:xfrm>
                <a:off x="1109441" y="3152589"/>
                <a:ext cx="939681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중복확인 메시지</a:t>
                </a:r>
                <a:endParaRPr lang="ko-KR" altLang="en-US" sz="8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7" name="직사각형 196"/>
              <p:cNvSpPr/>
              <p:nvPr/>
            </p:nvSpPr>
            <p:spPr>
              <a:xfrm>
                <a:off x="4108684" y="3148839"/>
                <a:ext cx="251992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b="1" dirty="0" smtClean="0">
                    <a:solidFill>
                      <a:schemeClr val="bg1"/>
                    </a:solidFill>
                    <a:latin typeface="+mn-ea"/>
                  </a:rPr>
                  <a:t>X</a:t>
                </a:r>
                <a:endParaRPr lang="ko-KR" altLang="en-US" sz="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3" name="직사각형 192"/>
            <p:cNvSpPr/>
            <p:nvPr/>
          </p:nvSpPr>
          <p:spPr>
            <a:xfrm>
              <a:off x="265392" y="619172"/>
              <a:ext cx="146386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사용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가능한 아이디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입니다</a:t>
              </a:r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98" name="그룹 197"/>
          <p:cNvGrpSpPr/>
          <p:nvPr/>
        </p:nvGrpSpPr>
        <p:grpSpPr>
          <a:xfrm>
            <a:off x="5509319" y="7605464"/>
            <a:ext cx="3260105" cy="709640"/>
            <a:chOff x="-653870" y="266865"/>
            <a:chExt cx="3260105" cy="709640"/>
          </a:xfrm>
        </p:grpSpPr>
        <p:grpSp>
          <p:nvGrpSpPr>
            <p:cNvPr id="199" name="그룹 198"/>
            <p:cNvGrpSpPr/>
            <p:nvPr/>
          </p:nvGrpSpPr>
          <p:grpSpPr>
            <a:xfrm>
              <a:off x="-653870" y="266865"/>
              <a:ext cx="3260105" cy="709640"/>
              <a:chOff x="1100571" y="3148839"/>
              <a:chExt cx="3260105" cy="709640"/>
            </a:xfrm>
          </p:grpSpPr>
          <p:sp>
            <p:nvSpPr>
              <p:cNvPr id="201" name="직사각형 200"/>
              <p:cNvSpPr/>
              <p:nvPr/>
            </p:nvSpPr>
            <p:spPr>
              <a:xfrm>
                <a:off x="1100571" y="3176972"/>
                <a:ext cx="3232800" cy="6815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202" name="직사각형 201"/>
              <p:cNvSpPr/>
              <p:nvPr/>
            </p:nvSpPr>
            <p:spPr>
              <a:xfrm>
                <a:off x="1110097" y="3177813"/>
                <a:ext cx="3218400" cy="180000"/>
              </a:xfrm>
              <a:prstGeom prst="rect">
                <a:avLst/>
              </a:prstGeom>
              <a:solidFill>
                <a:srgbClr val="435C7A"/>
              </a:solidFill>
              <a:ln w="952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 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+mn-ea"/>
                    <a:sym typeface="Wingdings" pitchFamily="2" charset="2"/>
                  </a:rPr>
                  <a:t> </a:t>
                </a:r>
                <a:endParaRPr lang="en-US" altLang="ko-KR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sp>
            <p:nvSpPr>
              <p:cNvPr id="203" name="직사각형 202"/>
              <p:cNvSpPr/>
              <p:nvPr/>
            </p:nvSpPr>
            <p:spPr>
              <a:xfrm>
                <a:off x="1109441" y="3152589"/>
                <a:ext cx="939681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중복확인 메시지</a:t>
                </a:r>
                <a:endParaRPr lang="ko-KR" altLang="en-US" sz="8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4" name="직사각형 203"/>
              <p:cNvSpPr/>
              <p:nvPr/>
            </p:nvSpPr>
            <p:spPr>
              <a:xfrm>
                <a:off x="4108684" y="3148839"/>
                <a:ext cx="251992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b="1" dirty="0" smtClean="0">
                    <a:solidFill>
                      <a:schemeClr val="bg1"/>
                    </a:solidFill>
                    <a:latin typeface="+mn-ea"/>
                  </a:rPr>
                  <a:t>X</a:t>
                </a:r>
                <a:endParaRPr lang="ko-KR" altLang="en-US" sz="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00" name="직사각형 199"/>
            <p:cNvSpPr/>
            <p:nvPr/>
          </p:nvSpPr>
          <p:spPr>
            <a:xfrm>
              <a:off x="234133" y="619172"/>
              <a:ext cx="15263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사용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불가능한 아이디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입니다</a:t>
              </a:r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12" name="TextBox 211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일발 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213" name="그룹 212"/>
          <p:cNvGrpSpPr/>
          <p:nvPr/>
        </p:nvGrpSpPr>
        <p:grpSpPr>
          <a:xfrm>
            <a:off x="1477566" y="1672233"/>
            <a:ext cx="7013351" cy="246221"/>
            <a:chOff x="1477566" y="2093134"/>
            <a:chExt cx="7013351" cy="246221"/>
          </a:xfrm>
        </p:grpSpPr>
        <p:sp>
          <p:nvSpPr>
            <p:cNvPr id="214" name="직사각형 213"/>
            <p:cNvSpPr/>
            <p:nvPr/>
          </p:nvSpPr>
          <p:spPr>
            <a:xfrm>
              <a:off x="1477566" y="2107438"/>
              <a:ext cx="6994800" cy="216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15" name="직사각형 214"/>
            <p:cNvSpPr/>
            <p:nvPr/>
          </p:nvSpPr>
          <p:spPr>
            <a:xfrm>
              <a:off x="8222895" y="209313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216" name="직사각형 215"/>
            <p:cNvSpPr/>
            <p:nvPr/>
          </p:nvSpPr>
          <p:spPr>
            <a:xfrm>
              <a:off x="1487091" y="2114386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회원가입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-375592" y="1916832"/>
            <a:ext cx="1728192" cy="434869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학생 구분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학부생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대학원생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경영대학원생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종합교육연수원생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학위과정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학부생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비학위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수강생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교직원 및 기타 구분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학과튜터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경영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대학원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튜터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지역튜터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사이버튜터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학과 외부강사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경영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대학원 외부강사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교직원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실습지도교수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기타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(ID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신청자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교수자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튜터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비학위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강사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비학위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튜터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-2535832" y="1916832"/>
            <a:ext cx="2126332" cy="434869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기관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기관 구분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허브대학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(=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대학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대학원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(=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대학원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경영대학원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(=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경영대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종합교육연수원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(=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연수원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학위과정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(=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학위과정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프라임칼리지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평생교육과정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(=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평생교육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2729031" y="5140258"/>
            <a:ext cx="1980000" cy="18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>
                    <a:lumMod val="65000"/>
                  </a:schemeClr>
                </a:solidFill>
                <a:latin typeface="+mn-ea"/>
              </a:rPr>
              <a:t>이름입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력</a:t>
            </a:r>
            <a:endParaRPr lang="en-US" altLang="ko-KR" sz="8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2727359" y="5704965"/>
            <a:ext cx="1958889" cy="219024"/>
            <a:chOff x="2171085" y="5731303"/>
            <a:chExt cx="1958889" cy="219024"/>
          </a:xfrm>
        </p:grpSpPr>
        <p:sp>
          <p:nvSpPr>
            <p:cNvPr id="109" name="직사각형 108"/>
            <p:cNvSpPr/>
            <p:nvPr/>
          </p:nvSpPr>
          <p:spPr>
            <a:xfrm>
              <a:off x="2171085" y="5736978"/>
              <a:ext cx="5400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010</a:t>
              </a:r>
              <a:r>
                <a: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  ▼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2886643" y="5734883"/>
              <a:ext cx="5400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3589974" y="5731303"/>
              <a:ext cx="5400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2684747" y="5732886"/>
              <a:ext cx="22634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rPr>
                <a:t>-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endParaRP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3399494" y="5734883"/>
              <a:ext cx="22634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rPr>
                <a:t>-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2724944" y="5979983"/>
            <a:ext cx="4445446" cy="216524"/>
            <a:chOff x="4604981" y="4688283"/>
            <a:chExt cx="4445446" cy="216524"/>
          </a:xfrm>
        </p:grpSpPr>
        <p:grpSp>
          <p:nvGrpSpPr>
            <p:cNvPr id="145" name="그룹 144"/>
            <p:cNvGrpSpPr/>
            <p:nvPr/>
          </p:nvGrpSpPr>
          <p:grpSpPr>
            <a:xfrm>
              <a:off x="4604981" y="4689363"/>
              <a:ext cx="2359250" cy="215444"/>
              <a:chOff x="2171085" y="5732886"/>
              <a:chExt cx="2359250" cy="215444"/>
            </a:xfrm>
          </p:grpSpPr>
          <p:sp>
            <p:nvSpPr>
              <p:cNvPr id="148" name="직사각형 147"/>
              <p:cNvSpPr/>
              <p:nvPr/>
            </p:nvSpPr>
            <p:spPr>
              <a:xfrm>
                <a:off x="2171085" y="5736978"/>
                <a:ext cx="108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 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49" name="직사각형 148"/>
              <p:cNvSpPr/>
              <p:nvPr/>
            </p:nvSpPr>
            <p:spPr>
              <a:xfrm>
                <a:off x="3450335" y="5734883"/>
                <a:ext cx="108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0" name="직사각형 149"/>
              <p:cNvSpPr/>
              <p:nvPr/>
            </p:nvSpPr>
            <p:spPr>
              <a:xfrm>
                <a:off x="3210148" y="5732886"/>
                <a:ext cx="285656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@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endParaRPr>
              </a:p>
            </p:txBody>
          </p:sp>
        </p:grpSp>
        <p:sp>
          <p:nvSpPr>
            <p:cNvPr id="146" name="직사각형 145"/>
            <p:cNvSpPr/>
            <p:nvPr/>
          </p:nvSpPr>
          <p:spPr>
            <a:xfrm>
              <a:off x="8150427" y="4688283"/>
              <a:ext cx="900000" cy="18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bg1"/>
                  </a:solidFill>
                  <a:latin typeface="+mn-ea"/>
                </a:rPr>
                <a:t>    직접입</a:t>
              </a:r>
              <a:r>
                <a:rPr lang="ko-KR" altLang="en-US" sz="800" dirty="0">
                  <a:solidFill>
                    <a:schemeClr val="bg1"/>
                  </a:solidFill>
                  <a:latin typeface="+mn-ea"/>
                </a:rPr>
                <a:t>력</a:t>
              </a:r>
              <a:endParaRPr lang="en-US" altLang="ko-KR" sz="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7" name="직사각형 146"/>
            <p:cNvSpPr/>
            <p:nvPr/>
          </p:nvSpPr>
          <p:spPr>
            <a:xfrm>
              <a:off x="7028990" y="4690780"/>
              <a:ext cx="10800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선택        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        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▼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sp>
        <p:nvSpPr>
          <p:cNvPr id="173" name="직사각형 172"/>
          <p:cNvSpPr/>
          <p:nvPr/>
        </p:nvSpPr>
        <p:spPr>
          <a:xfrm>
            <a:off x="2728401" y="4857559"/>
            <a:ext cx="1980000" cy="18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>
                    <a:lumMod val="65000"/>
                  </a:schemeClr>
                </a:solidFill>
                <a:latin typeface="+mn-ea"/>
              </a:rPr>
              <a:t>비밀번호 재입력</a:t>
            </a:r>
            <a:endParaRPr lang="en-US" altLang="ko-KR" sz="8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727440" y="4047019"/>
            <a:ext cx="3603237" cy="742361"/>
            <a:chOff x="2765540" y="4325526"/>
            <a:chExt cx="3603237" cy="742361"/>
          </a:xfrm>
        </p:grpSpPr>
        <p:sp>
          <p:nvSpPr>
            <p:cNvPr id="123" name="직사각형 122"/>
            <p:cNvSpPr/>
            <p:nvPr/>
          </p:nvSpPr>
          <p:spPr>
            <a:xfrm>
              <a:off x="2765540" y="4325526"/>
              <a:ext cx="1980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비밀번호 입력</a:t>
              </a:r>
              <a:endParaRPr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2768777" y="4523978"/>
              <a:ext cx="3600000" cy="54390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FF0000"/>
                  </a:solidFill>
                  <a:latin typeface="+mn-ea"/>
                </a:rPr>
                <a:t>* 8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+mn-ea"/>
                </a:rPr>
                <a:t>자 이상 </a:t>
              </a:r>
              <a:r>
                <a:rPr lang="en-US" altLang="ko-KR" sz="800" dirty="0" smtClean="0">
                  <a:solidFill>
                    <a:srgbClr val="FF0000"/>
                  </a:solidFill>
                  <a:latin typeface="+mn-ea"/>
                </a:rPr>
                <a:t>16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+mn-ea"/>
                </a:rPr>
                <a:t>자 이하로 입력 하세요</a:t>
              </a:r>
              <a:r>
                <a:rPr lang="en-US" altLang="ko-KR" sz="800" dirty="0" smtClean="0">
                  <a:solidFill>
                    <a:srgbClr val="FF0000"/>
                  </a:solidFill>
                  <a:latin typeface="+mn-ea"/>
                </a:rPr>
                <a:t>.</a:t>
              </a:r>
              <a:br>
                <a:rPr lang="en-US" altLang="ko-KR" sz="800" dirty="0" smtClean="0">
                  <a:solidFill>
                    <a:srgbClr val="FF0000"/>
                  </a:solidFill>
                  <a:latin typeface="+mn-ea"/>
                </a:rPr>
              </a:br>
              <a:r>
                <a:rPr lang="en-US" altLang="ko-KR" sz="800" dirty="0" smtClean="0">
                  <a:solidFill>
                    <a:srgbClr val="FF0000"/>
                  </a:solidFill>
                  <a:latin typeface="+mn-ea"/>
                </a:rPr>
                <a:t>* 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+mn-ea"/>
                </a:rPr>
                <a:t>영문</a:t>
              </a:r>
              <a:r>
                <a:rPr lang="en-US" altLang="ko-KR" sz="800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rgbClr val="FF0000"/>
                  </a:solidFill>
                  <a:latin typeface="+mn-ea"/>
                </a:rPr>
                <a:t>대소문자구분</a:t>
              </a:r>
              <a:r>
                <a:rPr lang="en-US" altLang="ko-KR" sz="800" dirty="0">
                  <a:solidFill>
                    <a:srgbClr val="FF0000"/>
                  </a:solidFill>
                  <a:latin typeface="+mn-ea"/>
                </a:rPr>
                <a:t>)/</a:t>
              </a:r>
              <a:r>
                <a:rPr lang="ko-KR" altLang="en-US" sz="800" dirty="0">
                  <a:solidFill>
                    <a:srgbClr val="FF0000"/>
                  </a:solidFill>
                  <a:latin typeface="+mn-ea"/>
                </a:rPr>
                <a:t>숫자</a:t>
              </a:r>
              <a:r>
                <a:rPr lang="en-US" altLang="ko-KR" sz="800" dirty="0">
                  <a:solidFill>
                    <a:srgbClr val="FF0000"/>
                  </a:solidFill>
                  <a:latin typeface="+mn-ea"/>
                </a:rPr>
                <a:t>/</a:t>
              </a:r>
              <a:r>
                <a:rPr lang="ko-KR" altLang="en-US" sz="800" dirty="0">
                  <a:solidFill>
                    <a:srgbClr val="FF0000"/>
                  </a:solidFill>
                  <a:latin typeface="+mn-ea"/>
                </a:rPr>
                <a:t>특수문자 중 </a:t>
              </a:r>
              <a:r>
                <a:rPr lang="en-US" altLang="ko-KR" sz="800" dirty="0">
                  <a:solidFill>
                    <a:srgbClr val="FF0000"/>
                  </a:solidFill>
                  <a:latin typeface="+mn-ea"/>
                </a:rPr>
                <a:t>2</a:t>
              </a:r>
              <a:r>
                <a:rPr lang="ko-KR" altLang="en-US" sz="800" dirty="0">
                  <a:solidFill>
                    <a:srgbClr val="FF0000"/>
                  </a:solidFill>
                  <a:latin typeface="+mn-ea"/>
                </a:rPr>
                <a:t>가지 이상 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+mn-ea"/>
                </a:rPr>
                <a:t>조합해 주세요</a:t>
              </a:r>
              <a:r>
                <a:rPr lang="en-US" altLang="ko-KR" sz="800" dirty="0" smtClean="0">
                  <a:solidFill>
                    <a:srgbClr val="FF0000"/>
                  </a:solidFill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DC5"/>
                  </a:solidFill>
                  <a:latin typeface="+mn-ea"/>
                </a:rPr>
                <a:t>* </a:t>
              </a:r>
              <a:r>
                <a:rPr lang="ko-KR" altLang="en-US" sz="800" dirty="0" smtClean="0">
                  <a:solidFill>
                    <a:srgbClr val="007DC5"/>
                  </a:solidFill>
                  <a:latin typeface="+mn-ea"/>
                </a:rPr>
                <a:t>영문</a:t>
              </a:r>
              <a:r>
                <a:rPr lang="en-US" altLang="ko-KR" sz="800" dirty="0" smtClean="0">
                  <a:solidFill>
                    <a:srgbClr val="007DC5"/>
                  </a:solidFill>
                  <a:latin typeface="+mn-ea"/>
                </a:rPr>
                <a:t>(</a:t>
              </a:r>
              <a:r>
                <a:rPr lang="ko-KR" altLang="en-US" sz="800" dirty="0" smtClean="0">
                  <a:solidFill>
                    <a:srgbClr val="007DC5"/>
                  </a:solidFill>
                  <a:latin typeface="+mn-ea"/>
                </a:rPr>
                <a:t>대소문자구분</a:t>
              </a:r>
              <a:r>
                <a:rPr lang="en-US" altLang="ko-KR" sz="800" dirty="0" smtClean="0">
                  <a:solidFill>
                    <a:srgbClr val="007DC5"/>
                  </a:solidFill>
                  <a:latin typeface="+mn-ea"/>
                </a:rPr>
                <a:t>)/</a:t>
              </a:r>
              <a:r>
                <a:rPr lang="ko-KR" altLang="en-US" sz="800" dirty="0" smtClean="0">
                  <a:solidFill>
                    <a:srgbClr val="007DC5"/>
                  </a:solidFill>
                  <a:latin typeface="+mn-ea"/>
                </a:rPr>
                <a:t>숫자</a:t>
              </a:r>
              <a:r>
                <a:rPr lang="en-US" altLang="ko-KR" sz="800" dirty="0" smtClean="0">
                  <a:solidFill>
                    <a:srgbClr val="007DC5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rgbClr val="007DC5"/>
                  </a:solidFill>
                  <a:latin typeface="+mn-ea"/>
                </a:rPr>
                <a:t>특수문자 중 </a:t>
              </a:r>
              <a:r>
                <a:rPr lang="en-US" altLang="ko-KR" sz="800" dirty="0" smtClean="0">
                  <a:solidFill>
                    <a:srgbClr val="007DC5"/>
                  </a:solidFill>
                  <a:latin typeface="+mn-ea"/>
                </a:rPr>
                <a:t>2</a:t>
              </a:r>
              <a:r>
                <a:rPr lang="ko-KR" altLang="en-US" sz="800" dirty="0" smtClean="0">
                  <a:solidFill>
                    <a:srgbClr val="007DC5"/>
                  </a:solidFill>
                  <a:latin typeface="+mn-ea"/>
                </a:rPr>
                <a:t>가지 이상조합</a:t>
              </a:r>
              <a:r>
                <a:rPr lang="en-US" altLang="ko-KR" sz="800" dirty="0" smtClean="0">
                  <a:solidFill>
                    <a:srgbClr val="007DC5"/>
                  </a:solidFill>
                  <a:latin typeface="+mn-ea"/>
                </a:rPr>
                <a:t>, 8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자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~16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자</a:t>
              </a:r>
              <a:endParaRPr lang="en-US" altLang="ko-KR" sz="800" dirty="0">
                <a:solidFill>
                  <a:srgbClr val="0070C0"/>
                </a:solidFill>
                <a:latin typeface="+mn-ea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2726065" y="3764657"/>
            <a:ext cx="4114001" cy="185333"/>
            <a:chOff x="2764165" y="4043164"/>
            <a:chExt cx="4114001" cy="185333"/>
          </a:xfrm>
        </p:grpSpPr>
        <p:sp>
          <p:nvSpPr>
            <p:cNvPr id="175" name="직사각형 174"/>
            <p:cNvSpPr/>
            <p:nvPr/>
          </p:nvSpPr>
          <p:spPr>
            <a:xfrm>
              <a:off x="2764165" y="4043164"/>
              <a:ext cx="36000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아이디 입력</a:t>
              </a:r>
              <a:endParaRPr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5978166" y="4048497"/>
              <a:ext cx="900000" cy="18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 smtClean="0">
                  <a:solidFill>
                    <a:schemeClr val="bg1"/>
                  </a:solidFill>
                  <a:latin typeface="+mn-ea"/>
                </a:rPr>
                <a:t>    중복확인</a:t>
              </a:r>
              <a:endParaRPr lang="en-US" altLang="ko-KR" sz="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20795" y="6211445"/>
            <a:ext cx="5578481" cy="745947"/>
            <a:chOff x="2758895" y="6509002"/>
            <a:chExt cx="5578481" cy="745947"/>
          </a:xfrm>
        </p:grpSpPr>
        <p:grpSp>
          <p:nvGrpSpPr>
            <p:cNvPr id="124" name="그룹 123"/>
            <p:cNvGrpSpPr/>
            <p:nvPr/>
          </p:nvGrpSpPr>
          <p:grpSpPr>
            <a:xfrm>
              <a:off x="2758895" y="6589955"/>
              <a:ext cx="4449595" cy="664994"/>
              <a:chOff x="3280646" y="4407396"/>
              <a:chExt cx="4449595" cy="664994"/>
            </a:xfrm>
          </p:grpSpPr>
          <p:sp>
            <p:nvSpPr>
              <p:cNvPr id="125" name="직사각형 124"/>
              <p:cNvSpPr/>
              <p:nvPr/>
            </p:nvSpPr>
            <p:spPr>
              <a:xfrm>
                <a:off x="3280646" y="4407396"/>
                <a:ext cx="4449595" cy="66499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                                                                                                                               </a:t>
                </a:r>
                <a:r>
                  <a:rPr lang="en-US" altLang="ko-KR" sz="80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</a:t>
                </a:r>
                <a:r>
                  <a:rPr lang="ko-KR" altLang="en-US" sz="800" dirty="0" smtClean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</a:t>
                </a:r>
                <a:endParaRPr lang="ko-KR" altLang="en-US" sz="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26" name="Picture 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92818" y="4522174"/>
                <a:ext cx="414947" cy="440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7" name="Rectangle 122"/>
              <p:cNvSpPr>
                <a:spLocks noChangeArrowheads="1"/>
              </p:cNvSpPr>
              <p:nvPr/>
            </p:nvSpPr>
            <p:spPr bwMode="auto">
              <a:xfrm>
                <a:off x="4371988" y="4650936"/>
                <a:ext cx="1080000" cy="172800"/>
              </a:xfrm>
              <a:prstGeom prst="rect">
                <a:avLst/>
              </a:prstGeom>
              <a:solidFill>
                <a:srgbClr val="99CCFF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3924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파일함</a:t>
                </a:r>
                <a:r>
                  <a:rPr lang="ko-KR" altLang="en-US" sz="800" kern="0" dirty="0" smtClean="0">
                    <a:solidFill>
                      <a:sysClr val="windowText" lastClr="000000"/>
                    </a:solidFill>
                    <a:latin typeface="+mn-ea"/>
                    <a:ea typeface="+mn-ea"/>
                  </a:rPr>
                  <a:t>에서 가져오기</a:t>
                </a:r>
                <a:endParaRPr lang="ko-KR" altLang="en-US" sz="800" kern="0" dirty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8" name="Rectangle 122"/>
              <p:cNvSpPr>
                <a:spLocks noChangeArrowheads="1"/>
              </p:cNvSpPr>
              <p:nvPr/>
            </p:nvSpPr>
            <p:spPr bwMode="auto">
              <a:xfrm>
                <a:off x="5488969" y="4652589"/>
                <a:ext cx="720000" cy="165600"/>
              </a:xfrm>
              <a:prstGeom prst="rect">
                <a:avLst/>
              </a:prstGeom>
              <a:solidFill>
                <a:srgbClr val="99CCFF"/>
              </a:solidFill>
              <a:ln w="9525" algn="ctr">
                <a:solidFill>
                  <a:srgbClr val="80808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3924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ysClr val="windowText" lastClr="000000"/>
                    </a:solidFill>
                    <a:latin typeface="+mn-ea"/>
                    <a:ea typeface="+mn-ea"/>
                  </a:rPr>
                  <a:t>파일 선택</a:t>
                </a:r>
                <a:endParaRPr lang="ko-KR" altLang="en-US" sz="800" kern="0" dirty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173045" y="4632840"/>
                <a:ext cx="1538146" cy="228041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또는 파일을 여기에 드래그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7266780" y="6509002"/>
              <a:ext cx="1070596" cy="741298"/>
              <a:chOff x="7266780" y="6228367"/>
              <a:chExt cx="1070596" cy="741298"/>
            </a:xfrm>
          </p:grpSpPr>
          <p:pic>
            <p:nvPicPr>
              <p:cNvPr id="177" name="Picture 2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66780" y="6303665"/>
                <a:ext cx="891128" cy="66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8" name="직사각형 177"/>
              <p:cNvSpPr/>
              <p:nvPr/>
            </p:nvSpPr>
            <p:spPr>
              <a:xfrm>
                <a:off x="8085384" y="6228367"/>
                <a:ext cx="251992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X</a:t>
                </a:r>
                <a:endParaRPr lang="ko-KR" altLang="en-US" sz="800" dirty="0"/>
              </a:p>
            </p:txBody>
          </p:sp>
        </p:grpSp>
      </p:grpSp>
      <p:grpSp>
        <p:nvGrpSpPr>
          <p:cNvPr id="182" name="그룹 181"/>
          <p:cNvGrpSpPr/>
          <p:nvPr/>
        </p:nvGrpSpPr>
        <p:grpSpPr>
          <a:xfrm>
            <a:off x="6659157" y="3755132"/>
            <a:ext cx="234360" cy="200055"/>
            <a:chOff x="1156433" y="11706839"/>
            <a:chExt cx="234360" cy="200055"/>
          </a:xfrm>
        </p:grpSpPr>
        <p:sp>
          <p:nvSpPr>
            <p:cNvPr id="183" name="모서리가 둥근 직사각형 18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85" name="그룹 184"/>
          <p:cNvGrpSpPr/>
          <p:nvPr/>
        </p:nvGrpSpPr>
        <p:grpSpPr>
          <a:xfrm>
            <a:off x="4495070" y="4036489"/>
            <a:ext cx="234360" cy="200055"/>
            <a:chOff x="1156433" y="11706839"/>
            <a:chExt cx="234360" cy="200055"/>
          </a:xfrm>
        </p:grpSpPr>
        <p:sp>
          <p:nvSpPr>
            <p:cNvPr id="186" name="모서리가 둥근 직사각형 185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2706769" y="6286743"/>
            <a:ext cx="234360" cy="200055"/>
            <a:chOff x="1156433" y="11706839"/>
            <a:chExt cx="234360" cy="200055"/>
          </a:xfrm>
        </p:grpSpPr>
        <p:sp>
          <p:nvSpPr>
            <p:cNvPr id="189" name="모서리가 둥근 직사각형 188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05" name="그룹 204"/>
          <p:cNvGrpSpPr/>
          <p:nvPr/>
        </p:nvGrpSpPr>
        <p:grpSpPr>
          <a:xfrm>
            <a:off x="8047605" y="6127476"/>
            <a:ext cx="234360" cy="200055"/>
            <a:chOff x="1156433" y="11638582"/>
            <a:chExt cx="234360" cy="200055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1218109" y="11682456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직사각형 206"/>
            <p:cNvSpPr/>
            <p:nvPr/>
          </p:nvSpPr>
          <p:spPr>
            <a:xfrm>
              <a:off x="1156433" y="11638582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7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735610" y="5435699"/>
            <a:ext cx="955154" cy="192285"/>
            <a:chOff x="2773710" y="5714206"/>
            <a:chExt cx="955154" cy="192285"/>
          </a:xfrm>
        </p:grpSpPr>
        <p:grpSp>
          <p:nvGrpSpPr>
            <p:cNvPr id="5" name="그룹 4"/>
            <p:cNvGrpSpPr/>
            <p:nvPr/>
          </p:nvGrpSpPr>
          <p:grpSpPr>
            <a:xfrm>
              <a:off x="2773710" y="5714206"/>
              <a:ext cx="402564" cy="182760"/>
              <a:chOff x="2773710" y="5714206"/>
              <a:chExt cx="402564" cy="182760"/>
            </a:xfrm>
          </p:grpSpPr>
          <p:sp>
            <p:nvSpPr>
              <p:cNvPr id="130" name="직사각형 129"/>
              <p:cNvSpPr/>
              <p:nvPr/>
            </p:nvSpPr>
            <p:spPr bwMode="auto">
              <a:xfrm>
                <a:off x="2911441" y="5714206"/>
                <a:ext cx="264833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남자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grpSp>
            <p:nvGrpSpPr>
              <p:cNvPr id="131" name="그룹 144"/>
              <p:cNvGrpSpPr>
                <a:grpSpLocks/>
              </p:cNvGrpSpPr>
              <p:nvPr/>
            </p:nvGrpSpPr>
            <p:grpSpPr bwMode="auto">
              <a:xfrm>
                <a:off x="2773710" y="5740628"/>
                <a:ext cx="115974" cy="110868"/>
                <a:chOff x="4146550" y="1085850"/>
                <a:chExt cx="184150" cy="184150"/>
              </a:xfrm>
            </p:grpSpPr>
            <p:sp>
              <p:nvSpPr>
                <p:cNvPr id="132" name="타원 131"/>
                <p:cNvSpPr/>
                <p:nvPr/>
              </p:nvSpPr>
              <p:spPr bwMode="auto">
                <a:xfrm>
                  <a:off x="4146550" y="1085850"/>
                  <a:ext cx="184150" cy="184150"/>
                </a:xfrm>
                <a:prstGeom prst="ellipse">
                  <a:avLst/>
                </a:prstGeom>
                <a:solidFill>
                  <a:srgbClr val="FFFFFF"/>
                </a:solidFill>
                <a:ln w="3175" algn="ctr">
                  <a:solidFill>
                    <a:srgbClr val="000000">
                      <a:lumMod val="50000"/>
                      <a:lumOff val="50000"/>
                    </a:srgbClr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700" kern="0" dirty="0" err="1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133" name="타원 132"/>
                <p:cNvSpPr/>
                <p:nvPr/>
              </p:nvSpPr>
              <p:spPr bwMode="auto">
                <a:xfrm>
                  <a:off x="4194381" y="1133681"/>
                  <a:ext cx="88488" cy="88487"/>
                </a:xfrm>
                <a:prstGeom prst="ellipse">
                  <a:avLst/>
                </a:prstGeom>
                <a:solidFill>
                  <a:srgbClr val="000000"/>
                </a:solidFill>
                <a:ln w="317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700" kern="0" dirty="0" err="1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3326300" y="5723731"/>
              <a:ext cx="402564" cy="182760"/>
              <a:chOff x="2926110" y="5876131"/>
              <a:chExt cx="402564" cy="182760"/>
            </a:xfrm>
          </p:grpSpPr>
          <p:sp>
            <p:nvSpPr>
              <p:cNvPr id="134" name="직사각형 133"/>
              <p:cNvSpPr/>
              <p:nvPr/>
            </p:nvSpPr>
            <p:spPr bwMode="auto">
              <a:xfrm>
                <a:off x="3063841" y="5876131"/>
                <a:ext cx="264833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여자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136" name="타원 135"/>
              <p:cNvSpPr/>
              <p:nvPr/>
            </p:nvSpPr>
            <p:spPr bwMode="auto">
              <a:xfrm>
                <a:off x="2926110" y="5893028"/>
                <a:ext cx="115974" cy="110868"/>
              </a:xfrm>
              <a:prstGeom prst="ellipse">
                <a:avLst/>
              </a:prstGeom>
              <a:solidFill>
                <a:srgbClr val="FFFFFF"/>
              </a:solidFill>
              <a:ln w="3175" algn="ctr">
                <a:solidFill>
                  <a:srgbClr val="000000">
                    <a:lumMod val="50000"/>
                    <a:lumOff val="50000"/>
                  </a:srgbClr>
                </a:solidFill>
                <a:miter lim="800000"/>
                <a:headEnd/>
                <a:tailEnd/>
              </a:ln>
              <a:effectLst/>
            </p:spPr>
            <p:txBody>
              <a:bodyPr lIns="33231" tIns="33231" rIns="33231" bIns="33231" anchor="ctr"/>
              <a:lstStyle/>
              <a:p>
                <a:pPr algn="ctr"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 sz="700" kern="0" dirty="0" err="1">
                  <a:solidFill>
                    <a:srgbClr val="00000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135" name="TextBox 134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KNOU_MN_A04010000_02</a:t>
            </a:r>
            <a:endParaRPr lang="ko-KR" altLang="en-US" sz="800" spc="-6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217010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661248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571881"/>
              </p:ext>
            </p:extLst>
          </p:nvPr>
        </p:nvGraphicFramePr>
        <p:xfrm>
          <a:off x="9496933" y="1494927"/>
          <a:ext cx="1404156" cy="36546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 닫음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로그인 화면으로 이동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3215283" y="2204864"/>
            <a:ext cx="3456384" cy="2448272"/>
            <a:chOff x="3215283" y="1916832"/>
            <a:chExt cx="3456384" cy="2448272"/>
          </a:xfrm>
        </p:grpSpPr>
        <p:sp>
          <p:nvSpPr>
            <p:cNvPr id="445" name="직사각형 444"/>
            <p:cNvSpPr/>
            <p:nvPr/>
          </p:nvSpPr>
          <p:spPr>
            <a:xfrm>
              <a:off x="3215283" y="1916832"/>
              <a:ext cx="3456384" cy="2448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3499123" y="2132856"/>
              <a:ext cx="2880000" cy="22360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SSO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간편인증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 비밀번호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지문인식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 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ko-KR" altLang="en-US" sz="8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일반로그인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101893" y="2852936"/>
            <a:ext cx="1716519" cy="1500519"/>
            <a:chOff x="4101893" y="2648561"/>
            <a:chExt cx="1716519" cy="1500519"/>
          </a:xfrm>
        </p:grpSpPr>
        <p:grpSp>
          <p:nvGrpSpPr>
            <p:cNvPr id="19" name="그룹 18"/>
            <p:cNvGrpSpPr/>
            <p:nvPr/>
          </p:nvGrpSpPr>
          <p:grpSpPr>
            <a:xfrm>
              <a:off x="4101893" y="2648561"/>
              <a:ext cx="1715203" cy="1020846"/>
              <a:chOff x="4101893" y="2648561"/>
              <a:chExt cx="1715203" cy="1020846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4101893" y="2648561"/>
                <a:ext cx="1715203" cy="753932"/>
                <a:chOff x="4120943" y="2648561"/>
                <a:chExt cx="1715203" cy="753932"/>
              </a:xfrm>
            </p:grpSpPr>
            <p:pic>
              <p:nvPicPr>
                <p:cNvPr id="523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20943" y="2648561"/>
                  <a:ext cx="1696153" cy="252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4" name="직사각형 453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465" name="직사각형 464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466" name="모서리가 둥근 직사각형 465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1000" b="1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10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69" name="그룹 468"/>
            <p:cNvGrpSpPr/>
            <p:nvPr/>
          </p:nvGrpSpPr>
          <p:grpSpPr>
            <a:xfrm>
              <a:off x="4120012" y="3718974"/>
              <a:ext cx="1695048" cy="223607"/>
              <a:chOff x="3267377" y="4473116"/>
              <a:chExt cx="1695048" cy="223607"/>
            </a:xfrm>
          </p:grpSpPr>
          <p:sp>
            <p:nvSpPr>
              <p:cNvPr id="473" name="TextBox 472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477" name="직사각형 476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478" name="TextBox 477"/>
            <p:cNvSpPr txBox="1"/>
            <p:nvPr/>
          </p:nvSpPr>
          <p:spPr>
            <a:xfrm>
              <a:off x="4122812" y="3969080"/>
              <a:ext cx="16956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36000" rIns="0" bIns="0" rtlCol="0" anchor="ctr">
              <a:noAutofit/>
            </a:bodyPr>
            <a:lstStyle/>
            <a:p>
              <a:pPr algn="ctr"/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회원가입  </a:t>
              </a:r>
              <a:r>
                <a:rPr lang="en-US" altLang="ko-KR" sz="600" kern="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아이디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비번 찾기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47" name="직사각형 46"/>
          <p:cNvSpPr/>
          <p:nvPr/>
        </p:nvSpPr>
        <p:spPr bwMode="auto">
          <a:xfrm>
            <a:off x="421444" y="1492213"/>
            <a:ext cx="9059851" cy="5365787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471104" y="1672233"/>
            <a:ext cx="7010288" cy="46370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3163692" y="2708920"/>
            <a:ext cx="36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/>
          <p:cNvGrpSpPr/>
          <p:nvPr/>
        </p:nvGrpSpPr>
        <p:grpSpPr>
          <a:xfrm>
            <a:off x="2517026" y="2348880"/>
            <a:ext cx="720000" cy="943454"/>
            <a:chOff x="1606434" y="2528900"/>
            <a:chExt cx="720000" cy="943454"/>
          </a:xfrm>
        </p:grpSpPr>
        <p:sp>
          <p:nvSpPr>
            <p:cNvPr id="52" name="타원 51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687060" y="2801720"/>
              <a:ext cx="57419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STEP 01</a:t>
              </a:r>
              <a:endPara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약관 동의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4605327" y="2348880"/>
            <a:ext cx="720000" cy="943454"/>
            <a:chOff x="1606434" y="2528900"/>
            <a:chExt cx="720000" cy="943454"/>
          </a:xfrm>
        </p:grpSpPr>
        <p:sp>
          <p:nvSpPr>
            <p:cNvPr id="56" name="타원 55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687060" y="2803582"/>
              <a:ext cx="5741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STEP 02</a:t>
              </a:r>
              <a:endPara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정보 입력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6657555" y="2348880"/>
            <a:ext cx="720000" cy="943454"/>
            <a:chOff x="1606434" y="2528900"/>
            <a:chExt cx="720000" cy="943454"/>
          </a:xfrm>
        </p:grpSpPr>
        <p:sp>
          <p:nvSpPr>
            <p:cNvPr id="60" name="타원 59"/>
            <p:cNvSpPr/>
            <p:nvPr/>
          </p:nvSpPr>
          <p:spPr>
            <a:xfrm>
              <a:off x="1606434" y="2528900"/>
              <a:ext cx="720000" cy="720080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endParaRPr lang="ko-KR" altLang="en-US" sz="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1696585" y="2794057"/>
              <a:ext cx="5741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STEP 03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660982" y="3256910"/>
              <a:ext cx="6319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가입 완료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4482852" y="5968330"/>
            <a:ext cx="234360" cy="200055"/>
            <a:chOff x="1156433" y="11638582"/>
            <a:chExt cx="234360" cy="20005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1218109" y="11682456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156433" y="11638582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2" name="모서리가 둥근 직사각형 111"/>
          <p:cNvSpPr/>
          <p:nvPr/>
        </p:nvSpPr>
        <p:spPr>
          <a:xfrm>
            <a:off x="4538006" y="5805264"/>
            <a:ext cx="9000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가입완료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1602826" y="3645024"/>
            <a:ext cx="6753600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800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ko-KR" altLang="en-US" sz="8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3836368" y="3768472"/>
            <a:ext cx="22349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회원 가입이 완료 되었습니다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4274793" y="4412604"/>
            <a:ext cx="135806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 smtClean="0">
                <a:solidFill>
                  <a:srgbClr val="FF0000"/>
                </a:solidFill>
                <a:latin typeface="+mn-ea"/>
                <a:ea typeface="+mn-ea"/>
              </a:rPr>
              <a:t>회원가입 완료 문구 필요</a:t>
            </a:r>
            <a:endParaRPr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일발 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회원가입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1477566" y="1672233"/>
            <a:ext cx="7013351" cy="246221"/>
            <a:chOff x="1477566" y="2093134"/>
            <a:chExt cx="7013351" cy="246221"/>
          </a:xfrm>
        </p:grpSpPr>
        <p:sp>
          <p:nvSpPr>
            <p:cNvPr id="122" name="직사각형 121"/>
            <p:cNvSpPr/>
            <p:nvPr/>
          </p:nvSpPr>
          <p:spPr>
            <a:xfrm>
              <a:off x="1477566" y="2107438"/>
              <a:ext cx="6994800" cy="216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8222895" y="209313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1487091" y="2114386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회원가입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KNOU_MN_A04010000_03</a:t>
            </a:r>
            <a:endParaRPr lang="ko-KR" altLang="en-US" sz="800" spc="-6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74392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9033155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일반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기관회원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아이디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비밀번호찾기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3210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아이디</a:t>
            </a:r>
            <a:r>
              <a:rPr lang="en-US" altLang="ko-KR" sz="800" spc="-60" dirty="0" smtClean="0">
                <a:latin typeface="+mn-ea"/>
                <a:ea typeface="+mn-ea"/>
              </a:rPr>
              <a:t>/</a:t>
            </a:r>
            <a:r>
              <a:rPr lang="ko-KR" altLang="en-US" sz="800" spc="-60" dirty="0" smtClean="0">
                <a:latin typeface="+mn-ea"/>
                <a:ea typeface="+mn-ea"/>
              </a:rPr>
              <a:t>비밀번호찾기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</a:t>
            </a:r>
            <a:r>
              <a:rPr lang="en-US" altLang="ko-KR" sz="800" spc="-60" dirty="0" smtClean="0">
                <a:latin typeface="+mn-ea"/>
                <a:ea typeface="+mn-ea"/>
              </a:rPr>
              <a:t> </a:t>
            </a: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아이디</a:t>
            </a:r>
            <a:r>
              <a:rPr lang="en-US" altLang="ko-KR" sz="800" spc="-60" dirty="0" smtClean="0">
                <a:latin typeface="+mn-ea"/>
                <a:ea typeface="+mn-ea"/>
              </a:rPr>
              <a:t>/</a:t>
            </a:r>
            <a:r>
              <a:rPr lang="ko-KR" altLang="en-US" sz="800" spc="-60" dirty="0" smtClean="0">
                <a:latin typeface="+mn-ea"/>
                <a:ea typeface="+mn-ea"/>
              </a:rPr>
              <a:t>비밀번호찾기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661248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일반로그인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아이디</a:t>
            </a:r>
            <a:r>
              <a:rPr lang="en-US" altLang="ko-KR" sz="800" spc="-60" dirty="0" smtClean="0">
                <a:latin typeface="+mn-ea"/>
                <a:ea typeface="+mn-ea"/>
              </a:rPr>
              <a:t>/</a:t>
            </a:r>
            <a:r>
              <a:rPr lang="ko-KR" altLang="en-US" sz="800" spc="-60" dirty="0" smtClean="0">
                <a:latin typeface="+mn-ea"/>
                <a:ea typeface="+mn-ea"/>
              </a:rPr>
              <a:t>비밀번호찾기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932828"/>
              </p:ext>
            </p:extLst>
          </p:nvPr>
        </p:nvGraphicFramePr>
        <p:xfrm>
          <a:off x="9496933" y="1494927"/>
          <a:ext cx="1404156" cy="5802051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이메일로 찾기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휴대폰번호로 찾기 선택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선택에 따라 입력폼이 달라짐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이메일 형식 체크</a:t>
                      </a:r>
                      <a:endParaRPr lang="en-US" altLang="ko-KR" sz="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이메일 발송 여부 체크</a:t>
                      </a:r>
                      <a:endParaRPr lang="en-US" altLang="ko-KR" sz="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오류 메시지 레이어팝업 띄움</a:t>
                      </a:r>
                      <a:endParaRPr lang="en-US" altLang="ko-KR" sz="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오류 메시지 확인 필요</a:t>
                      </a:r>
                      <a:endParaRPr lang="en-US" altLang="ko-KR" sz="8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휴대폰 번호로 찾기 입력폼</a:t>
                      </a:r>
                      <a:endParaRPr lang="en-US" altLang="ko-KR" sz="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인증번호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6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자리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이메일로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발송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인증번호 맞으면 비밀번호 찾기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인증번호 틀리면 틀림 카운터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증가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틀림 안내 문구 표시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3215283" y="2204864"/>
            <a:ext cx="3456384" cy="2448272"/>
            <a:chOff x="3215283" y="1916832"/>
            <a:chExt cx="3456384" cy="2448272"/>
          </a:xfrm>
        </p:grpSpPr>
        <p:sp>
          <p:nvSpPr>
            <p:cNvPr id="445" name="직사각형 444"/>
            <p:cNvSpPr/>
            <p:nvPr/>
          </p:nvSpPr>
          <p:spPr>
            <a:xfrm>
              <a:off x="3215283" y="1916832"/>
              <a:ext cx="3456384" cy="2448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3499123" y="2132856"/>
              <a:ext cx="2880000" cy="22360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SSO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간편인증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간편 비밀번호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지문인식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en-US" altLang="ko-KR" sz="800" b="1" kern="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  <a:cs typeface="Arial" charset="0"/>
                </a:rPr>
                <a:t>| </a:t>
              </a:r>
              <a:r>
                <a:rPr lang="ko-KR" altLang="en-US" sz="800" b="1" kern="0" dirty="0" smtClean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rPr>
                <a:t> </a:t>
              </a:r>
              <a:r>
                <a:rPr lang="ko-KR" altLang="en-US" sz="8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일반로그인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101893" y="2852936"/>
            <a:ext cx="1716519" cy="1500519"/>
            <a:chOff x="4101893" y="2648561"/>
            <a:chExt cx="1716519" cy="1500519"/>
          </a:xfrm>
        </p:grpSpPr>
        <p:grpSp>
          <p:nvGrpSpPr>
            <p:cNvPr id="19" name="그룹 18"/>
            <p:cNvGrpSpPr/>
            <p:nvPr/>
          </p:nvGrpSpPr>
          <p:grpSpPr>
            <a:xfrm>
              <a:off x="4101893" y="2648561"/>
              <a:ext cx="1715203" cy="1020846"/>
              <a:chOff x="4101893" y="2648561"/>
              <a:chExt cx="1715203" cy="1020846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4101893" y="2648561"/>
                <a:ext cx="1715203" cy="753932"/>
                <a:chOff x="4120943" y="2648561"/>
                <a:chExt cx="1715203" cy="753932"/>
              </a:xfrm>
            </p:grpSpPr>
            <p:pic>
              <p:nvPicPr>
                <p:cNvPr id="523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20943" y="2648561"/>
                  <a:ext cx="1696153" cy="252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4" name="직사각형 453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465" name="직사각형 464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466" name="모서리가 둥근 직사각형 465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1000" b="1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10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69" name="그룹 468"/>
            <p:cNvGrpSpPr/>
            <p:nvPr/>
          </p:nvGrpSpPr>
          <p:grpSpPr>
            <a:xfrm>
              <a:off x="4120012" y="3718974"/>
              <a:ext cx="1695048" cy="223607"/>
              <a:chOff x="3267377" y="4473116"/>
              <a:chExt cx="1695048" cy="223607"/>
            </a:xfrm>
          </p:grpSpPr>
          <p:sp>
            <p:nvSpPr>
              <p:cNvPr id="473" name="TextBox 472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477" name="직사각형 476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478" name="TextBox 477"/>
            <p:cNvSpPr txBox="1"/>
            <p:nvPr/>
          </p:nvSpPr>
          <p:spPr>
            <a:xfrm>
              <a:off x="4122812" y="3969080"/>
              <a:ext cx="16956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0" tIns="36000" rIns="0" bIns="0" rtlCol="0" anchor="ctr">
              <a:noAutofit/>
            </a:bodyPr>
            <a:lstStyle/>
            <a:p>
              <a:pPr algn="ctr"/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회원가입  </a:t>
              </a:r>
              <a:r>
                <a:rPr lang="en-US" altLang="ko-KR" sz="600" kern="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  <a:cs typeface="Arial" charset="0"/>
                </a:rPr>
                <a:t>|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아이디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비번 찾기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47" name="직사각형 46"/>
          <p:cNvSpPr/>
          <p:nvPr/>
        </p:nvSpPr>
        <p:spPr bwMode="auto">
          <a:xfrm>
            <a:off x="421444" y="1492213"/>
            <a:ext cx="9059851" cy="6905339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471104" y="1672233"/>
            <a:ext cx="7010288" cy="290889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530477" y="4230613"/>
            <a:ext cx="9000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557379" y="2032273"/>
            <a:ext cx="3384000" cy="2062103"/>
            <a:chOff x="1557379" y="2456892"/>
            <a:chExt cx="3384000" cy="2062103"/>
          </a:xfrm>
        </p:grpSpPr>
        <p:sp>
          <p:nvSpPr>
            <p:cNvPr id="500" name="직사각형 499"/>
            <p:cNvSpPr/>
            <p:nvPr/>
          </p:nvSpPr>
          <p:spPr>
            <a:xfrm>
              <a:off x="1557379" y="2456892"/>
              <a:ext cx="3384000" cy="2062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sp>
          <p:nvSpPr>
            <p:cNvPr id="502" name="직사각형 501"/>
            <p:cNvSpPr/>
            <p:nvPr/>
          </p:nvSpPr>
          <p:spPr>
            <a:xfrm>
              <a:off x="1576429" y="2515657"/>
              <a:ext cx="87075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아이디 찾기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504" name="그룹 503"/>
            <p:cNvGrpSpPr/>
            <p:nvPr/>
          </p:nvGrpSpPr>
          <p:grpSpPr>
            <a:xfrm>
              <a:off x="1662264" y="2898472"/>
              <a:ext cx="853527" cy="182760"/>
              <a:chOff x="4527048" y="4072124"/>
              <a:chExt cx="853527" cy="182760"/>
            </a:xfrm>
          </p:grpSpPr>
          <p:sp>
            <p:nvSpPr>
              <p:cNvPr id="505" name="직사각형 504"/>
              <p:cNvSpPr/>
              <p:nvPr/>
            </p:nvSpPr>
            <p:spPr bwMode="auto">
              <a:xfrm>
                <a:off x="4668503" y="4072124"/>
                <a:ext cx="712072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rPr>
                  <a:t>이메일로 찾기</a:t>
                </a:r>
                <a:endParaRPr lang="ko-KR" altLang="en-US" sz="8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endParaRPr>
              </a:p>
            </p:txBody>
          </p:sp>
          <p:grpSp>
            <p:nvGrpSpPr>
              <p:cNvPr id="506" name="그룹 144"/>
              <p:cNvGrpSpPr>
                <a:grpSpLocks/>
              </p:cNvGrpSpPr>
              <p:nvPr/>
            </p:nvGrpSpPr>
            <p:grpSpPr bwMode="auto">
              <a:xfrm>
                <a:off x="4527048" y="4098546"/>
                <a:ext cx="107053" cy="110868"/>
                <a:chOff x="4146550" y="1085850"/>
                <a:chExt cx="184150" cy="184150"/>
              </a:xfrm>
            </p:grpSpPr>
            <p:sp>
              <p:nvSpPr>
                <p:cNvPr id="507" name="타원 506"/>
                <p:cNvSpPr/>
                <p:nvPr/>
              </p:nvSpPr>
              <p:spPr bwMode="auto">
                <a:xfrm>
                  <a:off x="4146550" y="1085850"/>
                  <a:ext cx="184150" cy="184150"/>
                </a:xfrm>
                <a:prstGeom prst="ellipse">
                  <a:avLst/>
                </a:prstGeom>
                <a:solidFill>
                  <a:srgbClr val="FFFFFF"/>
                </a:solidFill>
                <a:ln w="3175" algn="ctr">
                  <a:solidFill>
                    <a:srgbClr val="000000">
                      <a:lumMod val="50000"/>
                      <a:lumOff val="50000"/>
                    </a:srgbClr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700" kern="0" dirty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endParaRPr>
                </a:p>
              </p:txBody>
            </p:sp>
            <p:sp>
              <p:nvSpPr>
                <p:cNvPr id="508" name="타원 507"/>
                <p:cNvSpPr/>
                <p:nvPr/>
              </p:nvSpPr>
              <p:spPr bwMode="auto">
                <a:xfrm>
                  <a:off x="4194381" y="1133681"/>
                  <a:ext cx="88488" cy="88487"/>
                </a:xfrm>
                <a:prstGeom prst="ellipse">
                  <a:avLst/>
                </a:prstGeom>
                <a:solidFill>
                  <a:srgbClr val="000000"/>
                </a:solidFill>
                <a:ln w="317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700" kern="0" dirty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endParaRPr>
                </a:p>
              </p:txBody>
            </p:sp>
          </p:grpSp>
        </p:grpSp>
        <p:grpSp>
          <p:nvGrpSpPr>
            <p:cNvPr id="509" name="그룹 508"/>
            <p:cNvGrpSpPr/>
            <p:nvPr/>
          </p:nvGrpSpPr>
          <p:grpSpPr>
            <a:xfrm>
              <a:off x="2716230" y="2903154"/>
              <a:ext cx="1082922" cy="182760"/>
              <a:chOff x="4793334" y="9271173"/>
              <a:chExt cx="1082922" cy="182760"/>
            </a:xfrm>
          </p:grpSpPr>
          <p:pic>
            <p:nvPicPr>
              <p:cNvPr id="510" name="Picture 525" descr="radio_off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4793334" y="9306272"/>
                <a:ext cx="117480" cy="112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1" name="직사각형 510"/>
              <p:cNvSpPr/>
              <p:nvPr/>
            </p:nvSpPr>
            <p:spPr bwMode="auto">
              <a:xfrm>
                <a:off x="4922131" y="9271173"/>
                <a:ext cx="954125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rPr>
                  <a:t>휴대폰 번호로 찾기</a:t>
                </a:r>
                <a:endParaRPr lang="ko-KR" altLang="en-US" sz="8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endParaRPr>
              </a:p>
            </p:txBody>
          </p:sp>
        </p:grpSp>
        <p:grpSp>
          <p:nvGrpSpPr>
            <p:cNvPr id="512" name="그룹 511"/>
            <p:cNvGrpSpPr/>
            <p:nvPr/>
          </p:nvGrpSpPr>
          <p:grpSpPr>
            <a:xfrm>
              <a:off x="1576429" y="3176972"/>
              <a:ext cx="3252087" cy="401720"/>
              <a:chOff x="848544" y="3392996"/>
              <a:chExt cx="3252087" cy="401720"/>
            </a:xfrm>
          </p:grpSpPr>
          <p:sp>
            <p:nvSpPr>
              <p:cNvPr id="513" name="직사각형 512"/>
              <p:cNvSpPr/>
              <p:nvPr/>
            </p:nvSpPr>
            <p:spPr>
              <a:xfrm>
                <a:off x="947031" y="3611116"/>
                <a:ext cx="31536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test@hycu.ac.kr</a:t>
                </a:r>
                <a:endPara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14" name="직사각형 513"/>
              <p:cNvSpPr/>
              <p:nvPr/>
            </p:nvSpPr>
            <p:spPr>
              <a:xfrm>
                <a:off x="848544" y="3392996"/>
                <a:ext cx="862080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이메일</a:t>
                </a:r>
                <a:r>
                  <a:rPr lang="ko-KR" altLang="en-US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*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515" name="모서리가 둥근 직사각형 514"/>
            <p:cNvSpPr/>
            <p:nvPr/>
          </p:nvSpPr>
          <p:spPr>
            <a:xfrm>
              <a:off x="3763148" y="4223184"/>
              <a:ext cx="108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아이디 찾기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28" name="그룹 527"/>
          <p:cNvGrpSpPr/>
          <p:nvPr/>
        </p:nvGrpSpPr>
        <p:grpSpPr>
          <a:xfrm>
            <a:off x="5030611" y="3658398"/>
            <a:ext cx="3252087" cy="401720"/>
            <a:chOff x="848544" y="3392996"/>
            <a:chExt cx="3252087" cy="401720"/>
          </a:xfrm>
        </p:grpSpPr>
        <p:sp>
          <p:nvSpPr>
            <p:cNvPr id="529" name="직사각형 528"/>
            <p:cNvSpPr/>
            <p:nvPr/>
          </p:nvSpPr>
          <p:spPr>
            <a:xfrm>
              <a:off x="947031" y="3611116"/>
              <a:ext cx="3153600" cy="183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test@hycu.ac.kr</a:t>
              </a:r>
              <a:endParaRPr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530" name="직사각형 529"/>
            <p:cNvSpPr/>
            <p:nvPr/>
          </p:nvSpPr>
          <p:spPr>
            <a:xfrm>
              <a:off x="848544" y="3392996"/>
              <a:ext cx="862080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이메일</a:t>
              </a:r>
              <a:r>
                <a:rPr lang="ko-KR" altLang="en-US" sz="800" dirty="0" smtClean="0">
                  <a:solidFill>
                    <a:schemeClr val="accent1"/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 smtClean="0">
                  <a:solidFill>
                    <a:schemeClr val="accent1"/>
                  </a:solidFill>
                  <a:latin typeface="+mn-ea"/>
                  <a:ea typeface="+mn-ea"/>
                </a:rPr>
                <a:t>*</a:t>
              </a:r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5013763" y="2032273"/>
            <a:ext cx="3384000" cy="2062103"/>
            <a:chOff x="5013763" y="2456892"/>
            <a:chExt cx="3384000" cy="2062103"/>
          </a:xfrm>
        </p:grpSpPr>
        <p:sp>
          <p:nvSpPr>
            <p:cNvPr id="501" name="직사각형 500"/>
            <p:cNvSpPr/>
            <p:nvPr/>
          </p:nvSpPr>
          <p:spPr>
            <a:xfrm>
              <a:off x="5013763" y="2456892"/>
              <a:ext cx="3384000" cy="2062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sp>
          <p:nvSpPr>
            <p:cNvPr id="503" name="직사각형 502"/>
            <p:cNvSpPr/>
            <p:nvPr/>
          </p:nvSpPr>
          <p:spPr>
            <a:xfrm>
              <a:off x="5026158" y="2519375"/>
              <a:ext cx="99899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비밀번호 찾기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516" name="그룹 515"/>
            <p:cNvGrpSpPr/>
            <p:nvPr/>
          </p:nvGrpSpPr>
          <p:grpSpPr>
            <a:xfrm>
              <a:off x="5128173" y="2898465"/>
              <a:ext cx="853527" cy="182760"/>
              <a:chOff x="4527048" y="4072124"/>
              <a:chExt cx="853527" cy="182760"/>
            </a:xfrm>
          </p:grpSpPr>
          <p:sp>
            <p:nvSpPr>
              <p:cNvPr id="517" name="직사각형 516"/>
              <p:cNvSpPr/>
              <p:nvPr/>
            </p:nvSpPr>
            <p:spPr bwMode="auto">
              <a:xfrm>
                <a:off x="4668503" y="4072124"/>
                <a:ext cx="712072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rPr>
                  <a:t>이메일로 찾기</a:t>
                </a:r>
                <a:endParaRPr lang="ko-KR" altLang="en-US" sz="8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endParaRPr>
              </a:p>
            </p:txBody>
          </p:sp>
          <p:grpSp>
            <p:nvGrpSpPr>
              <p:cNvPr id="518" name="그룹 144"/>
              <p:cNvGrpSpPr>
                <a:grpSpLocks/>
              </p:cNvGrpSpPr>
              <p:nvPr/>
            </p:nvGrpSpPr>
            <p:grpSpPr bwMode="auto">
              <a:xfrm>
                <a:off x="4527048" y="4098546"/>
                <a:ext cx="107053" cy="110868"/>
                <a:chOff x="4146550" y="1085850"/>
                <a:chExt cx="184150" cy="184150"/>
              </a:xfrm>
            </p:grpSpPr>
            <p:sp>
              <p:nvSpPr>
                <p:cNvPr id="519" name="타원 518"/>
                <p:cNvSpPr/>
                <p:nvPr/>
              </p:nvSpPr>
              <p:spPr bwMode="auto">
                <a:xfrm>
                  <a:off x="4146550" y="1085850"/>
                  <a:ext cx="184150" cy="184150"/>
                </a:xfrm>
                <a:prstGeom prst="ellipse">
                  <a:avLst/>
                </a:prstGeom>
                <a:solidFill>
                  <a:srgbClr val="FFFFFF"/>
                </a:solidFill>
                <a:ln w="3175" algn="ctr">
                  <a:solidFill>
                    <a:srgbClr val="000000">
                      <a:lumMod val="50000"/>
                      <a:lumOff val="50000"/>
                    </a:srgbClr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700" kern="0" dirty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endParaRPr>
                </a:p>
              </p:txBody>
            </p:sp>
            <p:sp>
              <p:nvSpPr>
                <p:cNvPr id="520" name="타원 519"/>
                <p:cNvSpPr/>
                <p:nvPr/>
              </p:nvSpPr>
              <p:spPr bwMode="auto">
                <a:xfrm>
                  <a:off x="4194381" y="1133681"/>
                  <a:ext cx="88488" cy="88487"/>
                </a:xfrm>
                <a:prstGeom prst="ellipse">
                  <a:avLst/>
                </a:prstGeom>
                <a:solidFill>
                  <a:srgbClr val="000000"/>
                </a:solidFill>
                <a:ln w="317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700" kern="0" dirty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endParaRPr>
                </a:p>
              </p:txBody>
            </p:sp>
          </p:grpSp>
        </p:grpSp>
        <p:grpSp>
          <p:nvGrpSpPr>
            <p:cNvPr id="521" name="그룹 520"/>
            <p:cNvGrpSpPr/>
            <p:nvPr/>
          </p:nvGrpSpPr>
          <p:grpSpPr>
            <a:xfrm>
              <a:off x="6182139" y="2903147"/>
              <a:ext cx="1082922" cy="182760"/>
              <a:chOff x="4793334" y="9271173"/>
              <a:chExt cx="1082922" cy="182760"/>
            </a:xfrm>
          </p:grpSpPr>
          <p:pic>
            <p:nvPicPr>
              <p:cNvPr id="522" name="Picture 525" descr="radio_off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4793334" y="9306272"/>
                <a:ext cx="117480" cy="112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24" name="직사각형 523"/>
              <p:cNvSpPr/>
              <p:nvPr/>
            </p:nvSpPr>
            <p:spPr bwMode="auto">
              <a:xfrm>
                <a:off x="4922131" y="9271173"/>
                <a:ext cx="954125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 smtClean="0">
                    <a:solidFill>
                      <a:srgbClr val="000000"/>
                    </a:solidFill>
                    <a:latin typeface="+mj-ea"/>
                    <a:ea typeface="+mj-ea"/>
                    <a:cs typeface="Arial" charset="0"/>
                  </a:rPr>
                  <a:t>휴대폰 번호로 찾기</a:t>
                </a:r>
                <a:endParaRPr lang="ko-KR" altLang="en-US" sz="8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endParaRPr>
              </a:p>
            </p:txBody>
          </p:sp>
        </p:grpSp>
        <p:grpSp>
          <p:nvGrpSpPr>
            <p:cNvPr id="525" name="그룹 524"/>
            <p:cNvGrpSpPr/>
            <p:nvPr/>
          </p:nvGrpSpPr>
          <p:grpSpPr>
            <a:xfrm>
              <a:off x="5032813" y="3176972"/>
              <a:ext cx="3252087" cy="401720"/>
              <a:chOff x="848544" y="3392996"/>
              <a:chExt cx="3252087" cy="401720"/>
            </a:xfrm>
          </p:grpSpPr>
          <p:sp>
            <p:nvSpPr>
              <p:cNvPr id="526" name="직사각형 525"/>
              <p:cNvSpPr/>
              <p:nvPr/>
            </p:nvSpPr>
            <p:spPr>
              <a:xfrm>
                <a:off x="947031" y="3611116"/>
                <a:ext cx="31536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아이디를 입력해 주세요</a:t>
                </a:r>
                <a:endPara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27" name="직사각형 526"/>
              <p:cNvSpPr/>
              <p:nvPr/>
            </p:nvSpPr>
            <p:spPr>
              <a:xfrm>
                <a:off x="848544" y="3392996"/>
                <a:ext cx="862080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아이디 </a:t>
                </a:r>
                <a:r>
                  <a:rPr lang="ko-KR" altLang="en-US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*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531" name="모서리가 둥근 직사각형 530"/>
            <p:cNvSpPr/>
            <p:nvPr/>
          </p:nvSpPr>
          <p:spPr>
            <a:xfrm>
              <a:off x="7202698" y="4215755"/>
              <a:ext cx="108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발송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76" name="그룹 575"/>
          <p:cNvGrpSpPr/>
          <p:nvPr/>
        </p:nvGrpSpPr>
        <p:grpSpPr>
          <a:xfrm>
            <a:off x="1430566" y="2464321"/>
            <a:ext cx="234360" cy="200055"/>
            <a:chOff x="1156433" y="11706839"/>
            <a:chExt cx="234360" cy="200055"/>
          </a:xfrm>
        </p:grpSpPr>
        <p:sp>
          <p:nvSpPr>
            <p:cNvPr id="577" name="모서리가 둥근 직사각형 57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8" name="직사각형 57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79" name="그룹 578"/>
          <p:cNvGrpSpPr/>
          <p:nvPr/>
        </p:nvGrpSpPr>
        <p:grpSpPr>
          <a:xfrm>
            <a:off x="3735532" y="3777419"/>
            <a:ext cx="234360" cy="200055"/>
            <a:chOff x="1156433" y="11706839"/>
            <a:chExt cx="234360" cy="200055"/>
          </a:xfrm>
        </p:grpSpPr>
        <p:sp>
          <p:nvSpPr>
            <p:cNvPr id="580" name="모서리가 둥근 직사각형 57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1" name="직사각형 58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087867" y="5687377"/>
            <a:ext cx="3393525" cy="2062103"/>
            <a:chOff x="5015859" y="5157192"/>
            <a:chExt cx="3393525" cy="2062103"/>
          </a:xfrm>
        </p:grpSpPr>
        <p:sp>
          <p:nvSpPr>
            <p:cNvPr id="554" name="직사각형 553"/>
            <p:cNvSpPr/>
            <p:nvPr/>
          </p:nvSpPr>
          <p:spPr>
            <a:xfrm>
              <a:off x="5015859" y="5157192"/>
              <a:ext cx="3384000" cy="2062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cxnSp>
          <p:nvCxnSpPr>
            <p:cNvPr id="555" name="직선 연결선 554"/>
            <p:cNvCxnSpPr/>
            <p:nvPr/>
          </p:nvCxnSpPr>
          <p:spPr>
            <a:xfrm>
              <a:off x="5025384" y="5517232"/>
              <a:ext cx="338400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직사각형 555"/>
            <p:cNvSpPr/>
            <p:nvPr/>
          </p:nvSpPr>
          <p:spPr>
            <a:xfrm>
              <a:off x="5028254" y="5219675"/>
              <a:ext cx="99899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비밀번호 찾기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557" name="그룹 556"/>
            <p:cNvGrpSpPr/>
            <p:nvPr/>
          </p:nvGrpSpPr>
          <p:grpSpPr>
            <a:xfrm>
              <a:off x="5034909" y="5877272"/>
              <a:ext cx="3252087" cy="401720"/>
              <a:chOff x="848544" y="3392996"/>
              <a:chExt cx="3252087" cy="401720"/>
            </a:xfrm>
          </p:grpSpPr>
          <p:sp>
            <p:nvSpPr>
              <p:cNvPr id="558" name="직사각형 557"/>
              <p:cNvSpPr/>
              <p:nvPr/>
            </p:nvSpPr>
            <p:spPr>
              <a:xfrm>
                <a:off x="947031" y="3611116"/>
                <a:ext cx="31536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800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아이디를 입력해 주세요</a:t>
                </a:r>
                <a:endPara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59" name="직사각형 558"/>
              <p:cNvSpPr/>
              <p:nvPr/>
            </p:nvSpPr>
            <p:spPr>
              <a:xfrm>
                <a:off x="848544" y="3392996"/>
                <a:ext cx="862080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아이디 </a:t>
                </a:r>
                <a:r>
                  <a:rPr lang="ko-KR" altLang="en-US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*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560" name="모서리가 둥근 직사각형 559"/>
            <p:cNvSpPr/>
            <p:nvPr/>
          </p:nvSpPr>
          <p:spPr>
            <a:xfrm>
              <a:off x="7204794" y="6916055"/>
              <a:ext cx="108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발송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61" name="그룹 560"/>
            <p:cNvGrpSpPr/>
            <p:nvPr/>
          </p:nvGrpSpPr>
          <p:grpSpPr>
            <a:xfrm>
              <a:off x="6169481" y="5597019"/>
              <a:ext cx="1095580" cy="182760"/>
              <a:chOff x="4527048" y="4072124"/>
              <a:chExt cx="1095580" cy="182760"/>
            </a:xfrm>
          </p:grpSpPr>
          <p:sp>
            <p:nvSpPr>
              <p:cNvPr id="562" name="직사각형 561"/>
              <p:cNvSpPr/>
              <p:nvPr/>
            </p:nvSpPr>
            <p:spPr bwMode="auto">
              <a:xfrm>
                <a:off x="4668503" y="4072124"/>
                <a:ext cx="954125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rPr>
                  <a:t>휴대폰 번호로 </a:t>
                </a:r>
                <a:r>
                  <a:rPr lang="ko-KR" altLang="en-US" sz="800" kern="0" dirty="0" smtClean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rPr>
                  <a:t>찾기</a:t>
                </a:r>
              </a:p>
            </p:txBody>
          </p:sp>
          <p:grpSp>
            <p:nvGrpSpPr>
              <p:cNvPr id="563" name="그룹 144"/>
              <p:cNvGrpSpPr>
                <a:grpSpLocks/>
              </p:cNvGrpSpPr>
              <p:nvPr/>
            </p:nvGrpSpPr>
            <p:grpSpPr bwMode="auto">
              <a:xfrm>
                <a:off x="4527048" y="4098546"/>
                <a:ext cx="107053" cy="110868"/>
                <a:chOff x="4146550" y="1085850"/>
                <a:chExt cx="184150" cy="184150"/>
              </a:xfrm>
            </p:grpSpPr>
            <p:sp>
              <p:nvSpPr>
                <p:cNvPr id="564" name="타원 563"/>
                <p:cNvSpPr/>
                <p:nvPr/>
              </p:nvSpPr>
              <p:spPr bwMode="auto">
                <a:xfrm>
                  <a:off x="4146550" y="1085850"/>
                  <a:ext cx="184150" cy="184150"/>
                </a:xfrm>
                <a:prstGeom prst="ellipse">
                  <a:avLst/>
                </a:prstGeom>
                <a:solidFill>
                  <a:srgbClr val="FFFFFF"/>
                </a:solidFill>
                <a:ln w="3175" algn="ctr">
                  <a:solidFill>
                    <a:srgbClr val="000000">
                      <a:lumMod val="50000"/>
                      <a:lumOff val="50000"/>
                    </a:srgbClr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565" name="타원 564"/>
                <p:cNvSpPr/>
                <p:nvPr/>
              </p:nvSpPr>
              <p:spPr bwMode="auto">
                <a:xfrm>
                  <a:off x="4194381" y="1133681"/>
                  <a:ext cx="88488" cy="88487"/>
                </a:xfrm>
                <a:prstGeom prst="ellipse">
                  <a:avLst/>
                </a:prstGeom>
                <a:solidFill>
                  <a:srgbClr val="000000"/>
                </a:solidFill>
                <a:ln w="317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566" name="그룹 565"/>
            <p:cNvGrpSpPr/>
            <p:nvPr/>
          </p:nvGrpSpPr>
          <p:grpSpPr>
            <a:xfrm>
              <a:off x="5125365" y="5601701"/>
              <a:ext cx="840869" cy="182760"/>
              <a:chOff x="4793334" y="9271173"/>
              <a:chExt cx="840869" cy="182760"/>
            </a:xfrm>
          </p:grpSpPr>
          <p:pic>
            <p:nvPicPr>
              <p:cNvPr id="567" name="Picture 525" descr="radio_off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4793334" y="9306272"/>
                <a:ext cx="117480" cy="112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68" name="직사각형 567"/>
              <p:cNvSpPr/>
              <p:nvPr/>
            </p:nvSpPr>
            <p:spPr bwMode="auto">
              <a:xfrm>
                <a:off x="4922131" y="9271173"/>
                <a:ext cx="712072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rPr>
                  <a:t>이메일로 찾기</a:t>
                </a:r>
              </a:p>
            </p:txBody>
          </p:sp>
        </p:grpSp>
        <p:grpSp>
          <p:nvGrpSpPr>
            <p:cNvPr id="569" name="그룹 568"/>
            <p:cNvGrpSpPr/>
            <p:nvPr/>
          </p:nvGrpSpPr>
          <p:grpSpPr>
            <a:xfrm>
              <a:off x="5040242" y="6365304"/>
              <a:ext cx="3196927" cy="421943"/>
              <a:chOff x="884548" y="6174829"/>
              <a:chExt cx="3196927" cy="421943"/>
            </a:xfrm>
          </p:grpSpPr>
          <p:sp>
            <p:nvSpPr>
              <p:cNvPr id="570" name="직사각형 569"/>
              <p:cNvSpPr/>
              <p:nvPr/>
            </p:nvSpPr>
            <p:spPr>
              <a:xfrm>
                <a:off x="983034" y="6392948"/>
                <a:ext cx="90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010            </a:t>
                </a:r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▼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71" name="직사각형 570"/>
              <p:cNvSpPr/>
              <p:nvPr/>
            </p:nvSpPr>
            <p:spPr>
              <a:xfrm>
                <a:off x="884548" y="6174829"/>
                <a:ext cx="862080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휴대폰 번호</a:t>
                </a:r>
                <a:r>
                  <a:rPr lang="ko-KR" altLang="en-US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*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72" name="직사각형 571"/>
              <p:cNvSpPr/>
              <p:nvPr/>
            </p:nvSpPr>
            <p:spPr>
              <a:xfrm>
                <a:off x="2089734" y="6400378"/>
                <a:ext cx="90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73" name="직사각형 572"/>
              <p:cNvSpPr/>
              <p:nvPr/>
            </p:nvSpPr>
            <p:spPr>
              <a:xfrm>
                <a:off x="3181475" y="6396798"/>
                <a:ext cx="90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74" name="직사각형 573"/>
              <p:cNvSpPr/>
              <p:nvPr/>
            </p:nvSpPr>
            <p:spPr>
              <a:xfrm>
                <a:off x="1877526" y="6379331"/>
                <a:ext cx="226344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</a:rPr>
                  <a:t>-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endParaRPr>
              </a:p>
            </p:txBody>
          </p:sp>
          <p:sp>
            <p:nvSpPr>
              <p:cNvPr id="575" name="직사각형 574"/>
              <p:cNvSpPr/>
              <p:nvPr/>
            </p:nvSpPr>
            <p:spPr>
              <a:xfrm>
                <a:off x="2971985" y="6381328"/>
                <a:ext cx="226344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</a:rPr>
                  <a:t>-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endParaRPr>
              </a:p>
            </p:txBody>
          </p:sp>
        </p:grpSp>
        <p:sp>
          <p:nvSpPr>
            <p:cNvPr id="587" name="직사각형 586"/>
            <p:cNvSpPr/>
            <p:nvPr/>
          </p:nvSpPr>
          <p:spPr>
            <a:xfrm>
              <a:off x="5986585" y="5229550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-529133" y="4696569"/>
            <a:ext cx="5390699" cy="2062103"/>
            <a:chOff x="-439795" y="5157542"/>
            <a:chExt cx="5390699" cy="2062103"/>
          </a:xfrm>
        </p:grpSpPr>
        <p:sp>
          <p:nvSpPr>
            <p:cNvPr id="532" name="직사각형 531"/>
            <p:cNvSpPr/>
            <p:nvPr/>
          </p:nvSpPr>
          <p:spPr>
            <a:xfrm>
              <a:off x="1566904" y="5157542"/>
              <a:ext cx="3384000" cy="2062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sp>
          <p:nvSpPr>
            <p:cNvPr id="533" name="직사각형 532"/>
            <p:cNvSpPr/>
            <p:nvPr/>
          </p:nvSpPr>
          <p:spPr>
            <a:xfrm>
              <a:off x="1585954" y="5216307"/>
              <a:ext cx="87075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아이디 찾기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534" name="그룹 533"/>
            <p:cNvGrpSpPr/>
            <p:nvPr/>
          </p:nvGrpSpPr>
          <p:grpSpPr>
            <a:xfrm>
              <a:off x="2728557" y="5599122"/>
              <a:ext cx="1095580" cy="182760"/>
              <a:chOff x="4527048" y="4072124"/>
              <a:chExt cx="1095580" cy="182760"/>
            </a:xfrm>
          </p:grpSpPr>
          <p:sp>
            <p:nvSpPr>
              <p:cNvPr id="535" name="직사각형 534"/>
              <p:cNvSpPr/>
              <p:nvPr/>
            </p:nvSpPr>
            <p:spPr bwMode="auto">
              <a:xfrm>
                <a:off x="4668503" y="4072124"/>
                <a:ext cx="954125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rPr>
                  <a:t>휴대폰 번호로 </a:t>
                </a:r>
                <a:r>
                  <a:rPr lang="ko-KR" altLang="en-US" sz="800" kern="0" dirty="0" smtClean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rPr>
                  <a:t>찾기</a:t>
                </a:r>
              </a:p>
            </p:txBody>
          </p:sp>
          <p:grpSp>
            <p:nvGrpSpPr>
              <p:cNvPr id="536" name="그룹 144"/>
              <p:cNvGrpSpPr>
                <a:grpSpLocks/>
              </p:cNvGrpSpPr>
              <p:nvPr/>
            </p:nvGrpSpPr>
            <p:grpSpPr bwMode="auto">
              <a:xfrm>
                <a:off x="4527048" y="4098546"/>
                <a:ext cx="107053" cy="110868"/>
                <a:chOff x="4146550" y="1085850"/>
                <a:chExt cx="184150" cy="184150"/>
              </a:xfrm>
            </p:grpSpPr>
            <p:sp>
              <p:nvSpPr>
                <p:cNvPr id="537" name="타원 536"/>
                <p:cNvSpPr/>
                <p:nvPr/>
              </p:nvSpPr>
              <p:spPr bwMode="auto">
                <a:xfrm>
                  <a:off x="4146550" y="1085850"/>
                  <a:ext cx="184150" cy="184150"/>
                </a:xfrm>
                <a:prstGeom prst="ellipse">
                  <a:avLst/>
                </a:prstGeom>
                <a:solidFill>
                  <a:srgbClr val="FFFFFF"/>
                </a:solidFill>
                <a:ln w="3175" algn="ctr">
                  <a:solidFill>
                    <a:srgbClr val="000000">
                      <a:lumMod val="50000"/>
                      <a:lumOff val="50000"/>
                    </a:srgbClr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538" name="타원 537"/>
                <p:cNvSpPr/>
                <p:nvPr/>
              </p:nvSpPr>
              <p:spPr bwMode="auto">
                <a:xfrm>
                  <a:off x="4194381" y="1133681"/>
                  <a:ext cx="88488" cy="88487"/>
                </a:xfrm>
                <a:prstGeom prst="ellipse">
                  <a:avLst/>
                </a:prstGeom>
                <a:solidFill>
                  <a:srgbClr val="000000"/>
                </a:solidFill>
                <a:ln w="317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lIns="33231" tIns="33231" rIns="33231" bIns="33231" anchor="ctr"/>
                <a:lstStyle/>
                <a:p>
                  <a:pPr algn="ctr" defTabSz="785387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539" name="그룹 538"/>
            <p:cNvGrpSpPr/>
            <p:nvPr/>
          </p:nvGrpSpPr>
          <p:grpSpPr>
            <a:xfrm>
              <a:off x="1684441" y="5603804"/>
              <a:ext cx="840869" cy="182760"/>
              <a:chOff x="4793334" y="9271173"/>
              <a:chExt cx="840869" cy="182760"/>
            </a:xfrm>
          </p:grpSpPr>
          <p:pic>
            <p:nvPicPr>
              <p:cNvPr id="540" name="Picture 525" descr="radio_off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4793334" y="9306272"/>
                <a:ext cx="117480" cy="112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41" name="직사각형 540"/>
              <p:cNvSpPr/>
              <p:nvPr/>
            </p:nvSpPr>
            <p:spPr bwMode="auto">
              <a:xfrm>
                <a:off x="4922131" y="9271173"/>
                <a:ext cx="712072" cy="182760"/>
              </a:xfrm>
              <a:prstGeom prst="rect">
                <a:avLst/>
              </a:prstGeom>
              <a:noFill/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29536" tIns="29536" rIns="29536" bIns="29536" anchor="ctr">
                <a:spAutoFit/>
              </a:bodyPr>
              <a:lstStyle/>
              <a:p>
                <a:pPr defTabSz="785387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800" kern="0" dirty="0">
                    <a:solidFill>
                      <a:srgbClr val="000000"/>
                    </a:solidFill>
                    <a:latin typeface="+mn-ea"/>
                    <a:ea typeface="+mn-ea"/>
                    <a:cs typeface="Arial" charset="0"/>
                  </a:rPr>
                  <a:t>이메일로 찾기</a:t>
                </a:r>
              </a:p>
            </p:txBody>
          </p:sp>
        </p:grpSp>
        <p:sp>
          <p:nvSpPr>
            <p:cNvPr id="542" name="모서리가 둥근 직사각형 541"/>
            <p:cNvSpPr/>
            <p:nvPr/>
          </p:nvSpPr>
          <p:spPr>
            <a:xfrm>
              <a:off x="3772673" y="6923834"/>
              <a:ext cx="108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아이디 찾기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543" name="직선 연결선 542"/>
            <p:cNvCxnSpPr/>
            <p:nvPr/>
          </p:nvCxnSpPr>
          <p:spPr>
            <a:xfrm>
              <a:off x="1566904" y="5508057"/>
              <a:ext cx="338400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4" name="그룹 543"/>
            <p:cNvGrpSpPr/>
            <p:nvPr/>
          </p:nvGrpSpPr>
          <p:grpSpPr>
            <a:xfrm>
              <a:off x="1612433" y="5887147"/>
              <a:ext cx="3196927" cy="421943"/>
              <a:chOff x="884548" y="6174829"/>
              <a:chExt cx="3196927" cy="421943"/>
            </a:xfrm>
          </p:grpSpPr>
          <p:sp>
            <p:nvSpPr>
              <p:cNvPr id="545" name="직사각형 544"/>
              <p:cNvSpPr/>
              <p:nvPr/>
            </p:nvSpPr>
            <p:spPr>
              <a:xfrm>
                <a:off x="983034" y="6392948"/>
                <a:ext cx="90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010            </a:t>
                </a:r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▼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46" name="직사각형 545"/>
              <p:cNvSpPr/>
              <p:nvPr/>
            </p:nvSpPr>
            <p:spPr>
              <a:xfrm>
                <a:off x="884548" y="6174829"/>
                <a:ext cx="862080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휴대폰 번호</a:t>
                </a:r>
                <a:r>
                  <a:rPr lang="ko-KR" altLang="en-US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800" dirty="0" smtClean="0">
                    <a:solidFill>
                      <a:schemeClr val="accent1"/>
                    </a:solidFill>
                    <a:latin typeface="+mn-ea"/>
                    <a:ea typeface="+mn-ea"/>
                  </a:rPr>
                  <a:t>*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47" name="직사각형 546"/>
              <p:cNvSpPr/>
              <p:nvPr/>
            </p:nvSpPr>
            <p:spPr>
              <a:xfrm>
                <a:off x="2089734" y="6400378"/>
                <a:ext cx="90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48" name="직사각형 547"/>
              <p:cNvSpPr/>
              <p:nvPr/>
            </p:nvSpPr>
            <p:spPr>
              <a:xfrm>
                <a:off x="3181475" y="6396798"/>
                <a:ext cx="90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49" name="직사각형 548"/>
              <p:cNvSpPr/>
              <p:nvPr/>
            </p:nvSpPr>
            <p:spPr>
              <a:xfrm>
                <a:off x="1877526" y="6379331"/>
                <a:ext cx="226344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</a:rPr>
                  <a:t>-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endParaRPr>
              </a:p>
            </p:txBody>
          </p:sp>
          <p:sp>
            <p:nvSpPr>
              <p:cNvPr id="550" name="직사각형 549"/>
              <p:cNvSpPr/>
              <p:nvPr/>
            </p:nvSpPr>
            <p:spPr>
              <a:xfrm>
                <a:off x="2971985" y="6381328"/>
                <a:ext cx="226344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</a:rPr>
                  <a:t>-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</a:endParaRPr>
              </a:p>
            </p:txBody>
          </p:sp>
        </p:grpSp>
        <p:grpSp>
          <p:nvGrpSpPr>
            <p:cNvPr id="551" name="그룹 550"/>
            <p:cNvGrpSpPr/>
            <p:nvPr/>
          </p:nvGrpSpPr>
          <p:grpSpPr>
            <a:xfrm>
              <a:off x="-439795" y="5301558"/>
              <a:ext cx="1440000" cy="1224136"/>
              <a:chOff x="-1167680" y="1619275"/>
              <a:chExt cx="1440000" cy="870968"/>
            </a:xfrm>
          </p:grpSpPr>
          <p:sp>
            <p:nvSpPr>
              <p:cNvPr id="552" name="직사각형 551"/>
              <p:cNvSpPr/>
              <p:nvPr/>
            </p:nvSpPr>
            <p:spPr>
              <a:xfrm>
                <a:off x="-1167680" y="1619275"/>
                <a:ext cx="1440000" cy="1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010      </a:t>
                </a:r>
                <a:r>
                  <a:rPr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   </a:t>
                </a:r>
                <a:r>
                  <a:rPr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▼</a:t>
                </a:r>
              </a:p>
            </p:txBody>
          </p:sp>
          <p:sp>
            <p:nvSpPr>
              <p:cNvPr id="553" name="직사각형 552"/>
              <p:cNvSpPr/>
              <p:nvPr/>
            </p:nvSpPr>
            <p:spPr>
              <a:xfrm>
                <a:off x="-1167680" y="1792899"/>
                <a:ext cx="1440000" cy="6973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011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016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017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018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019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582" name="그룹 581"/>
            <p:cNvGrpSpPr/>
            <p:nvPr/>
          </p:nvGrpSpPr>
          <p:grpSpPr>
            <a:xfrm>
              <a:off x="2447180" y="5229550"/>
              <a:ext cx="234360" cy="200055"/>
              <a:chOff x="1156433" y="11706839"/>
              <a:chExt cx="234360" cy="200055"/>
            </a:xfrm>
          </p:grpSpPr>
          <p:sp>
            <p:nvSpPr>
              <p:cNvPr id="583" name="모서리가 둥근 직사각형 582"/>
              <p:cNvSpPr/>
              <p:nvPr/>
            </p:nvSpPr>
            <p:spPr>
              <a:xfrm>
                <a:off x="1208584" y="11754308"/>
                <a:ext cx="118457" cy="113790"/>
              </a:xfrm>
              <a:prstGeom prst="roundRect">
                <a:avLst/>
              </a:prstGeom>
              <a:solidFill>
                <a:srgbClr val="FF0000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84" name="직사각형 583"/>
              <p:cNvSpPr/>
              <p:nvPr/>
            </p:nvSpPr>
            <p:spPr>
              <a:xfrm>
                <a:off x="1156433" y="11706839"/>
                <a:ext cx="234360" cy="2000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7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3</a:t>
                </a:r>
                <a:endParaRPr lang="ko-KR" altLang="en-US" sz="7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588" name="꺾인 연결선 587"/>
            <p:cNvCxnSpPr>
              <a:stCxn id="545" idx="1"/>
              <a:endCxn id="553" idx="3"/>
            </p:cNvCxnSpPr>
            <p:nvPr/>
          </p:nvCxnSpPr>
          <p:spPr>
            <a:xfrm rot="10800000">
              <a:off x="1000205" y="6035640"/>
              <a:ext cx="710714" cy="16142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9" name="그룹 588"/>
          <p:cNvGrpSpPr/>
          <p:nvPr/>
        </p:nvGrpSpPr>
        <p:grpSpPr>
          <a:xfrm>
            <a:off x="1477566" y="1672233"/>
            <a:ext cx="7013351" cy="246221"/>
            <a:chOff x="1477566" y="2093134"/>
            <a:chExt cx="7013351" cy="246221"/>
          </a:xfrm>
        </p:grpSpPr>
        <p:sp>
          <p:nvSpPr>
            <p:cNvPr id="590" name="직사각형 589"/>
            <p:cNvSpPr/>
            <p:nvPr/>
          </p:nvSpPr>
          <p:spPr>
            <a:xfrm>
              <a:off x="1477566" y="2107438"/>
              <a:ext cx="6994800" cy="216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91" name="직사각형 590"/>
            <p:cNvSpPr/>
            <p:nvPr/>
          </p:nvSpPr>
          <p:spPr>
            <a:xfrm>
              <a:off x="8222895" y="209313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592" name="직사각형 591"/>
            <p:cNvSpPr/>
            <p:nvPr/>
          </p:nvSpPr>
          <p:spPr>
            <a:xfrm>
              <a:off x="1487091" y="2114386"/>
              <a:ext cx="118974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아이디</a:t>
              </a:r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/</a:t>
              </a: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비밀번호 찾기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KNOU_MN_A04020000_01</a:t>
            </a:r>
            <a:endParaRPr lang="ko-KR" altLang="en-US" sz="800" spc="-60" dirty="0">
              <a:latin typeface="+mn-ea"/>
            </a:endParaRPr>
          </a:p>
        </p:txBody>
      </p:sp>
      <p:cxnSp>
        <p:nvCxnSpPr>
          <p:cNvPr id="129" name="꺾인 연결선 128"/>
          <p:cNvCxnSpPr>
            <a:stCxn id="515" idx="2"/>
            <a:endCxn id="532" idx="0"/>
          </p:cNvCxnSpPr>
          <p:nvPr/>
        </p:nvCxnSpPr>
        <p:spPr>
          <a:xfrm rot="5400000">
            <a:off x="3377355" y="3770776"/>
            <a:ext cx="718004" cy="113358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그룹 130"/>
          <p:cNvGrpSpPr/>
          <p:nvPr/>
        </p:nvGrpSpPr>
        <p:grpSpPr>
          <a:xfrm>
            <a:off x="5087491" y="4672186"/>
            <a:ext cx="3393525" cy="900000"/>
            <a:chOff x="5015859" y="5157192"/>
            <a:chExt cx="3393525" cy="900000"/>
          </a:xfrm>
        </p:grpSpPr>
        <p:sp>
          <p:nvSpPr>
            <p:cNvPr id="132" name="직사각형 131"/>
            <p:cNvSpPr/>
            <p:nvPr/>
          </p:nvSpPr>
          <p:spPr>
            <a:xfrm>
              <a:off x="5015859" y="5157192"/>
              <a:ext cx="3384000" cy="90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cxnSp>
          <p:nvCxnSpPr>
            <p:cNvPr id="133" name="직선 연결선 132"/>
            <p:cNvCxnSpPr/>
            <p:nvPr/>
          </p:nvCxnSpPr>
          <p:spPr>
            <a:xfrm>
              <a:off x="5025384" y="5517232"/>
              <a:ext cx="338400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직사각형 133"/>
            <p:cNvSpPr/>
            <p:nvPr/>
          </p:nvSpPr>
          <p:spPr>
            <a:xfrm>
              <a:off x="5028254" y="5219675"/>
              <a:ext cx="69762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인증번호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>
              <a:off x="5034909" y="5579715"/>
              <a:ext cx="1718547" cy="215444"/>
              <a:chOff x="848544" y="3095439"/>
              <a:chExt cx="1718547" cy="215444"/>
            </a:xfrm>
          </p:grpSpPr>
          <p:sp>
            <p:nvSpPr>
              <p:cNvPr id="155" name="직사각형 154"/>
              <p:cNvSpPr/>
              <p:nvPr/>
            </p:nvSpPr>
            <p:spPr>
              <a:xfrm>
                <a:off x="1487091" y="3104964"/>
                <a:ext cx="108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인증번호 </a:t>
                </a:r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입력</a:t>
                </a:r>
                <a:endPara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6" name="직사각형 155"/>
              <p:cNvSpPr/>
              <p:nvPr/>
            </p:nvSpPr>
            <p:spPr>
              <a:xfrm>
                <a:off x="848544" y="3095439"/>
                <a:ext cx="862080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인증번호 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: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36" name="모서리가 둥근 직사각형 135"/>
            <p:cNvSpPr/>
            <p:nvPr/>
          </p:nvSpPr>
          <p:spPr>
            <a:xfrm>
              <a:off x="6787604" y="5594573"/>
              <a:ext cx="540000" cy="1728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5986585" y="5229550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57" name="꺾인 연결선 156"/>
          <p:cNvCxnSpPr>
            <a:stCxn id="531" idx="2"/>
            <a:endCxn id="132" idx="0"/>
          </p:cNvCxnSpPr>
          <p:nvPr/>
        </p:nvCxnSpPr>
        <p:spPr>
          <a:xfrm rot="5400000">
            <a:off x="6910570" y="3840058"/>
            <a:ext cx="701050" cy="96320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5190169" y="5324425"/>
            <a:ext cx="3207593" cy="215444"/>
          </a:xfrm>
          <a:prstGeom prst="rect">
            <a:avLst/>
          </a:prstGeom>
        </p:spPr>
        <p:txBody>
          <a:bodyPr wrap="square" lIns="36000">
            <a:spAutoFit/>
          </a:bodyPr>
          <a:lstStyle/>
          <a:p>
            <a:r>
              <a:rPr lang="en-US" altLang="ko-KR" sz="800" dirty="0" smtClean="0">
                <a:solidFill>
                  <a:srgbClr val="C00000"/>
                </a:solidFill>
                <a:latin typeface="+mn-ea"/>
                <a:ea typeface="+mn-ea"/>
              </a:rPr>
              <a:t>! 1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회 틀렸습니다</a:t>
            </a:r>
            <a:r>
              <a:rPr lang="en-US" altLang="ko-KR" sz="800" dirty="0" smtClean="0">
                <a:solidFill>
                  <a:srgbClr val="C00000"/>
                </a:solidFill>
                <a:latin typeface="+mn-ea"/>
                <a:ea typeface="+mn-ea"/>
              </a:rPr>
              <a:t>. 5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회 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이상 틀릴 경우 사용 불가합니다</a:t>
            </a:r>
            <a:r>
              <a:rPr lang="en-US" altLang="ko-KR" sz="800" dirty="0" smtClean="0">
                <a:solidFill>
                  <a:srgbClr val="C00000"/>
                </a:solidFill>
                <a:latin typeface="+mn-ea"/>
                <a:ea typeface="+mn-ea"/>
              </a:rPr>
              <a:t>.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cxnSp>
        <p:nvCxnSpPr>
          <p:cNvPr id="162" name="꺾인 연결선 161"/>
          <p:cNvCxnSpPr>
            <a:stCxn id="136" idx="2"/>
            <a:endCxn id="554" idx="0"/>
          </p:cNvCxnSpPr>
          <p:nvPr/>
        </p:nvCxnSpPr>
        <p:spPr>
          <a:xfrm rot="5400000">
            <a:off x="6752047" y="5310188"/>
            <a:ext cx="405010" cy="34936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그룹 165"/>
          <p:cNvGrpSpPr/>
          <p:nvPr/>
        </p:nvGrpSpPr>
        <p:grpSpPr>
          <a:xfrm>
            <a:off x="7012056" y="3747070"/>
            <a:ext cx="234360" cy="200055"/>
            <a:chOff x="1156433" y="11706839"/>
            <a:chExt cx="234360" cy="200055"/>
          </a:xfrm>
        </p:grpSpPr>
        <p:sp>
          <p:nvSpPr>
            <p:cNvPr id="167" name="모서리가 둥근 직사각형 16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69" name="그룹 168"/>
          <p:cNvGrpSpPr/>
          <p:nvPr/>
        </p:nvGrpSpPr>
        <p:grpSpPr>
          <a:xfrm>
            <a:off x="6821136" y="4927857"/>
            <a:ext cx="234360" cy="200055"/>
            <a:chOff x="1156433" y="11706839"/>
            <a:chExt cx="234360" cy="200055"/>
          </a:xfrm>
        </p:grpSpPr>
        <p:sp>
          <p:nvSpPr>
            <p:cNvPr id="170" name="모서리가 둥근 직사각형 16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1" name="직사각형 17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267594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9033155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일반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기관회원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비밀번호등록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17885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123570"/>
              </p:ext>
            </p:extLst>
          </p:nvPr>
        </p:nvGraphicFramePr>
        <p:xfrm>
          <a:off x="9496933" y="1494927"/>
          <a:ext cx="1404156" cy="36546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등록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KNOU_MN_A04030000_01</a:t>
            </a:r>
            <a:endParaRPr lang="ko-KR" altLang="en-US" sz="800" spc="-60" dirty="0">
              <a:latin typeface="+mn-ea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224808" y="1854348"/>
            <a:ext cx="3456384" cy="2419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129537" y="2911227"/>
            <a:ext cx="1697084" cy="953212"/>
            <a:chOff x="6289777" y="3356992"/>
            <a:chExt cx="1697084" cy="953212"/>
          </a:xfrm>
        </p:grpSpPr>
        <p:grpSp>
          <p:nvGrpSpPr>
            <p:cNvPr id="80" name="그룹 79"/>
            <p:cNvGrpSpPr/>
            <p:nvPr/>
          </p:nvGrpSpPr>
          <p:grpSpPr>
            <a:xfrm>
              <a:off x="6291261" y="3356992"/>
              <a:ext cx="1695600" cy="698962"/>
              <a:chOff x="4121496" y="2970445"/>
              <a:chExt cx="1695600" cy="698962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21496" y="2970445"/>
                <a:ext cx="1695600" cy="432048"/>
                <a:chOff x="4140546" y="2970445"/>
                <a:chExt cx="1695600" cy="432048"/>
              </a:xfrm>
            </p:grpSpPr>
            <p:sp>
              <p:nvSpPr>
                <p:cNvPr id="88" name="직사각형 87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89" name="직사각형 88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87" name="모서리가 둥근 직사각형 86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6289777" y="4086597"/>
              <a:ext cx="1695048" cy="223607"/>
              <a:chOff x="3267377" y="4473116"/>
              <a:chExt cx="1695048" cy="22360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 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90" name="직사각형 89"/>
          <p:cNvSpPr/>
          <p:nvPr/>
        </p:nvSpPr>
        <p:spPr>
          <a:xfrm>
            <a:off x="3224808" y="5147667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3224808" y="1556792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3224808" y="4293096"/>
            <a:ext cx="3456384" cy="819809"/>
            <a:chOff x="5385048" y="4637346"/>
            <a:chExt cx="3456384" cy="819809"/>
          </a:xfrm>
        </p:grpSpPr>
        <p:sp>
          <p:nvSpPr>
            <p:cNvPr id="109" name="직사각형 108"/>
            <p:cNvSpPr/>
            <p:nvPr/>
          </p:nvSpPr>
          <p:spPr>
            <a:xfrm>
              <a:off x="5385048" y="4643611"/>
              <a:ext cx="3456384" cy="813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5699061" y="4637346"/>
              <a:ext cx="2880000" cy="404405"/>
              <a:chOff x="5699061" y="4637346"/>
              <a:chExt cx="2880000" cy="404405"/>
            </a:xfrm>
          </p:grpSpPr>
          <p:sp>
            <p:nvSpPr>
              <p:cNvPr id="112" name="TextBox 111"/>
              <p:cNvSpPr txBox="1"/>
              <p:nvPr/>
            </p:nvSpPr>
            <p:spPr>
              <a:xfrm>
                <a:off x="5699061" y="4824316"/>
                <a:ext cx="2880000" cy="21743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회원가입을 하신 후 </a:t>
                </a:r>
                <a:r>
                  <a:rPr lang="en-US" altLang="ko-KR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SNS</a:t>
                </a: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계정으로 로그인 하세요</a:t>
                </a:r>
                <a:endParaRPr lang="ko-KR" altLang="en-US" sz="800" kern="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6746799" y="4637346"/>
                <a:ext cx="726481" cy="25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SNS </a:t>
                </a:r>
                <a:r>
                  <a:rPr lang="ko-KR" altLang="en-US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로그인</a:t>
                </a:r>
                <a:endParaRPr lang="en-US" altLang="ko-KR" sz="800" b="1" kern="0" dirty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56" name="TextBox 55"/>
          <p:cNvSpPr txBox="1"/>
          <p:nvPr/>
        </p:nvSpPr>
        <p:spPr>
          <a:xfrm>
            <a:off x="3516786" y="2281064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 로그인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한국방송통신대학교에 오신 것을 환영합니다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2685" y="1981257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일반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89" y="4725176"/>
            <a:ext cx="559543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5" name="그룹 104"/>
          <p:cNvGrpSpPr/>
          <p:nvPr/>
        </p:nvGrpSpPr>
        <p:grpSpPr>
          <a:xfrm>
            <a:off x="4132457" y="3991347"/>
            <a:ext cx="1718547" cy="180000"/>
            <a:chOff x="6283052" y="4113096"/>
            <a:chExt cx="1718547" cy="180000"/>
          </a:xfrm>
        </p:grpSpPr>
        <p:sp>
          <p:nvSpPr>
            <p:cNvPr id="106" name="모서리가 둥근 직사각형 105"/>
            <p:cNvSpPr/>
            <p:nvPr/>
          </p:nvSpPr>
          <p:spPr>
            <a:xfrm>
              <a:off x="6283052" y="4113096"/>
              <a:ext cx="612000" cy="18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회원가입</a:t>
              </a:r>
              <a:endParaRPr lang="ko-KR" alt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7" name="모서리가 둥근 직사각형 106"/>
            <p:cNvSpPr/>
            <p:nvPr/>
          </p:nvSpPr>
          <p:spPr>
            <a:xfrm>
              <a:off x="6921599" y="4113096"/>
              <a:ext cx="1080000" cy="18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아이디</a:t>
              </a:r>
              <a:r>
                <a:rPr lang="en-US" altLang="ko-KR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찾기</a:t>
              </a:r>
              <a:endParaRPr lang="ko-KR" alt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3224808" y="5467201"/>
            <a:ext cx="3456384" cy="482079"/>
            <a:chOff x="5385048" y="4643611"/>
            <a:chExt cx="3456384" cy="482079"/>
          </a:xfrm>
        </p:grpSpPr>
        <p:sp>
          <p:nvSpPr>
            <p:cNvPr id="64" name="직사각형 63"/>
            <p:cNvSpPr/>
            <p:nvPr/>
          </p:nvSpPr>
          <p:spPr>
            <a:xfrm>
              <a:off x="5385048" y="4643611"/>
              <a:ext cx="3456384" cy="4820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418956" y="4684117"/>
              <a:ext cx="3403426" cy="3652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일반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/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기관 단체 등록 수강생 중 비밀번호를 등록하지 않은 경우 비밀번호 등록 후 이용하시기 바랍니다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rPr>
                <a:t>.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69" name="모서리가 둥근 직사각형 68"/>
          <p:cNvSpPr/>
          <p:nvPr/>
        </p:nvSpPr>
        <p:spPr>
          <a:xfrm>
            <a:off x="5665751" y="5718353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등록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5465299" y="5680298"/>
            <a:ext cx="234360" cy="200055"/>
            <a:chOff x="1156433" y="11706839"/>
            <a:chExt cx="234360" cy="20005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53383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674203"/>
              </p:ext>
            </p:extLst>
          </p:nvPr>
        </p:nvGraphicFramePr>
        <p:xfrm>
          <a:off x="9496933" y="1494927"/>
          <a:ext cx="1404156" cy="34717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개인정보 찾기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직사각형 75"/>
          <p:cNvSpPr/>
          <p:nvPr/>
        </p:nvSpPr>
        <p:spPr>
          <a:xfrm>
            <a:off x="3224808" y="2161430"/>
            <a:ext cx="3456384" cy="2419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129537" y="3218309"/>
            <a:ext cx="1697084" cy="953212"/>
            <a:chOff x="6289777" y="3356992"/>
            <a:chExt cx="1697084" cy="953212"/>
          </a:xfrm>
        </p:grpSpPr>
        <p:grpSp>
          <p:nvGrpSpPr>
            <p:cNvPr id="80" name="그룹 79"/>
            <p:cNvGrpSpPr/>
            <p:nvPr/>
          </p:nvGrpSpPr>
          <p:grpSpPr>
            <a:xfrm>
              <a:off x="6291261" y="3356992"/>
              <a:ext cx="1695600" cy="698962"/>
              <a:chOff x="4121496" y="2970445"/>
              <a:chExt cx="1695600" cy="698962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21496" y="2970445"/>
                <a:ext cx="1695600" cy="432048"/>
                <a:chOff x="4140546" y="2970445"/>
                <a:chExt cx="1695600" cy="432048"/>
              </a:xfrm>
            </p:grpSpPr>
            <p:sp>
              <p:nvSpPr>
                <p:cNvPr id="88" name="직사각형 87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89" name="직사각형 88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87" name="모서리가 둥근 직사각형 86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6289777" y="4086597"/>
              <a:ext cx="1695048" cy="223607"/>
              <a:chOff x="3267377" y="4473116"/>
              <a:chExt cx="1695048" cy="22360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 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90" name="직사각형 89"/>
          <p:cNvSpPr/>
          <p:nvPr/>
        </p:nvSpPr>
        <p:spPr>
          <a:xfrm>
            <a:off x="3224808" y="5454749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3224808" y="1863874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3224808" y="4600178"/>
            <a:ext cx="3456384" cy="819809"/>
            <a:chOff x="5385048" y="4637346"/>
            <a:chExt cx="3456384" cy="819809"/>
          </a:xfrm>
        </p:grpSpPr>
        <p:sp>
          <p:nvSpPr>
            <p:cNvPr id="109" name="직사각형 108"/>
            <p:cNvSpPr/>
            <p:nvPr/>
          </p:nvSpPr>
          <p:spPr>
            <a:xfrm>
              <a:off x="5385048" y="4643611"/>
              <a:ext cx="3456384" cy="813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5699061" y="4637346"/>
              <a:ext cx="2880000" cy="404405"/>
              <a:chOff x="5699061" y="4637346"/>
              <a:chExt cx="2880000" cy="404405"/>
            </a:xfrm>
          </p:grpSpPr>
          <p:sp>
            <p:nvSpPr>
              <p:cNvPr id="112" name="TextBox 111"/>
              <p:cNvSpPr txBox="1"/>
              <p:nvPr/>
            </p:nvSpPr>
            <p:spPr>
              <a:xfrm>
                <a:off x="5699061" y="4824316"/>
                <a:ext cx="2880000" cy="21743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회원가입을 하신 후 </a:t>
                </a:r>
                <a:r>
                  <a:rPr lang="en-US" altLang="ko-KR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SNS</a:t>
                </a: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계정으로 로그인 하세요</a:t>
                </a:r>
                <a:endParaRPr lang="ko-KR" altLang="en-US" sz="800" kern="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6746799" y="4637346"/>
                <a:ext cx="726481" cy="25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SNS </a:t>
                </a:r>
                <a:r>
                  <a:rPr lang="ko-KR" altLang="en-US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로그인</a:t>
                </a:r>
                <a:endParaRPr lang="en-US" altLang="ko-KR" sz="800" b="1" kern="0" dirty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56" name="TextBox 55"/>
          <p:cNvSpPr txBox="1"/>
          <p:nvPr/>
        </p:nvSpPr>
        <p:spPr>
          <a:xfrm>
            <a:off x="3516786" y="2588146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 로그인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한국방송통신대학교에 오신 것을 환영합니다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2685" y="2288339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일반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89" y="5032258"/>
            <a:ext cx="559543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3757439" y="4293096"/>
            <a:ext cx="2467362" cy="185333"/>
            <a:chOff x="4122812" y="4293096"/>
            <a:chExt cx="2467362" cy="185333"/>
          </a:xfrm>
        </p:grpSpPr>
        <p:grpSp>
          <p:nvGrpSpPr>
            <p:cNvPr id="105" name="그룹 104"/>
            <p:cNvGrpSpPr/>
            <p:nvPr/>
          </p:nvGrpSpPr>
          <p:grpSpPr>
            <a:xfrm>
              <a:off x="4122812" y="4298429"/>
              <a:ext cx="1718547" cy="180000"/>
              <a:chOff x="6283052" y="4113096"/>
              <a:chExt cx="1718547" cy="180000"/>
            </a:xfrm>
          </p:grpSpPr>
          <p:sp>
            <p:nvSpPr>
              <p:cNvPr id="106" name="모서리가 둥근 직사각형 105"/>
              <p:cNvSpPr/>
              <p:nvPr/>
            </p:nvSpPr>
            <p:spPr>
              <a:xfrm>
                <a:off x="6283052" y="4113096"/>
                <a:ext cx="612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회원가입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7" name="모서리가 둥근 직사각형 106"/>
              <p:cNvSpPr/>
              <p:nvPr/>
            </p:nvSpPr>
            <p:spPr>
              <a:xfrm>
                <a:off x="6921599" y="4113096"/>
                <a:ext cx="1080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아이디</a:t>
                </a:r>
                <a:r>
                  <a:rPr lang="en-US" altLang="ko-KR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비밀번호 찾기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9" name="모서리가 둥근 직사각형 58"/>
            <p:cNvSpPr/>
            <p:nvPr/>
          </p:nvSpPr>
          <p:spPr>
            <a:xfrm>
              <a:off x="5870174" y="4293096"/>
              <a:ext cx="720000" cy="18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등록</a:t>
              </a:r>
              <a:endParaRPr lang="ko-KR" alt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3" name="직사각형 42"/>
          <p:cNvSpPr/>
          <p:nvPr/>
        </p:nvSpPr>
        <p:spPr bwMode="auto">
          <a:xfrm>
            <a:off x="421444" y="1492213"/>
            <a:ext cx="9059851" cy="4961123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2114420" y="1907307"/>
            <a:ext cx="5680800" cy="3835474"/>
            <a:chOff x="2792760" y="4221088"/>
            <a:chExt cx="5680800" cy="3835474"/>
          </a:xfrm>
        </p:grpSpPr>
        <p:sp>
          <p:nvSpPr>
            <p:cNvPr id="65" name="직사각형 64"/>
            <p:cNvSpPr/>
            <p:nvPr/>
          </p:nvSpPr>
          <p:spPr>
            <a:xfrm>
              <a:off x="2798191" y="4399013"/>
              <a:ext cx="5673600" cy="36575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506E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t"/>
            <a:lstStyle/>
            <a:p>
              <a:pPr>
                <a:lnSpc>
                  <a:spcPct val="200000"/>
                </a:lnSpc>
              </a:pP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792760" y="4221088"/>
              <a:ext cx="5680800" cy="180000"/>
            </a:xfrm>
            <a:prstGeom prst="rect">
              <a:avLst/>
            </a:prstGeom>
            <a:solidFill>
              <a:srgbClr val="506E92"/>
            </a:solidFill>
            <a:ln w="9525">
              <a:solidFill>
                <a:srgbClr val="506E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비밀번호 등록                                                                                                                                    </a:t>
              </a:r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2874292" y="4473116"/>
              <a:ext cx="5520233" cy="863681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>
                  <a:solidFill>
                    <a:srgbClr val="0070C0"/>
                  </a:solidFill>
                </a:rPr>
                <a:t>주의사항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비밀번호 등록 시 기존 비밀번호는 사용할 수 업습니다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사용중인 비밀번호를 잊은 경우는 로그인 화면 하단의 비밀번호 찾기를 이용하시기 바랍니다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일반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기관 회원에게만 제공되는 기능입니다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 </a:t>
              </a:r>
              <a:r>
                <a:rPr lang="ko-KR" altLang="en-US" sz="800" dirty="0" err="1" smtClean="0">
                  <a:solidFill>
                    <a:srgbClr val="0070C0"/>
                  </a:solidFill>
                  <a:latin typeface="+mn-ea"/>
                </a:rPr>
                <a:t>방송대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 학생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직원은 반영되지 않습니다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en-US" altLang="ko-KR" sz="8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5170717" y="7667947"/>
              <a:ext cx="90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74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641400"/>
              </p:ext>
            </p:extLst>
          </p:nvPr>
        </p:nvGraphicFramePr>
        <p:xfrm>
          <a:off x="2207171" y="3112393"/>
          <a:ext cx="5518539" cy="1039968"/>
        </p:xfrm>
        <a:graphic>
          <a:graphicData uri="http://schemas.openxmlformats.org/drawingml/2006/table">
            <a:tbl>
              <a:tblPr/>
              <a:tblGrid>
                <a:gridCol w="1194010"/>
                <a:gridCol w="4324529"/>
              </a:tblGrid>
              <a:tr h="25999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개인 정보 확인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6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                                                     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아이디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핸드폰번호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5" name="Rectangle 122"/>
          <p:cNvSpPr>
            <a:spLocks noChangeArrowheads="1"/>
          </p:cNvSpPr>
          <p:nvPr/>
        </p:nvSpPr>
        <p:spPr bwMode="auto">
          <a:xfrm>
            <a:off x="3438145" y="3409950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이름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7" name="Rectangle 122"/>
          <p:cNvSpPr>
            <a:spLocks noChangeArrowheads="1"/>
          </p:cNvSpPr>
          <p:nvPr/>
        </p:nvSpPr>
        <p:spPr bwMode="auto">
          <a:xfrm>
            <a:off x="3440832" y="3671523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아이디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1" name="Rectangle 122"/>
          <p:cNvSpPr>
            <a:spLocks noChangeArrowheads="1"/>
          </p:cNvSpPr>
          <p:nvPr/>
        </p:nvSpPr>
        <p:spPr bwMode="auto">
          <a:xfrm>
            <a:off x="3440832" y="3923531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아이디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4496569" y="4275112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 정보 찾기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5376237" y="4227532"/>
            <a:ext cx="234360" cy="200055"/>
            <a:chOff x="1156433" y="11706839"/>
            <a:chExt cx="234360" cy="200055"/>
          </a:xfrm>
        </p:grpSpPr>
        <p:sp>
          <p:nvSpPr>
            <p:cNvPr id="98" name="모서리가 둥근 직사각형 9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60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411117"/>
              </p:ext>
            </p:extLst>
          </p:nvPr>
        </p:nvGraphicFramePr>
        <p:xfrm>
          <a:off x="2207171" y="4653136"/>
          <a:ext cx="5518539" cy="504056"/>
        </p:xfrm>
        <a:graphic>
          <a:graphicData uri="http://schemas.openxmlformats.org/drawingml/2006/table">
            <a:tbl>
              <a:tblPr/>
              <a:tblGrid>
                <a:gridCol w="5518539"/>
              </a:tblGrid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핸드폰번호 입력 후 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개인 정보 찾기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버튼을 클릭하시면 됩니다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6EE"/>
                    </a:solidFill>
                  </a:tcPr>
                </a:tc>
              </a:tr>
            </a:tbl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 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KNOU_MN_A04030000_02</a:t>
            </a:r>
            <a:endParaRPr lang="ko-KR" altLang="en-US" sz="800" spc="-6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66804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510535"/>
              </p:ext>
            </p:extLst>
          </p:nvPr>
        </p:nvGraphicFramePr>
        <p:xfrm>
          <a:off x="9496933" y="836712"/>
          <a:ext cx="1404156" cy="4887651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개인정보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찾기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인증번호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6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자리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이메일로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발송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개인정보 찾기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성공시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동일한지 체크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저장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인증번호 맞으면 비밀번호 찾기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인증번호 틀리면 틀림 카운터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증가</a:t>
                      </a: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틀림 안내 문구 표시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직사각형 75"/>
          <p:cNvSpPr/>
          <p:nvPr/>
        </p:nvSpPr>
        <p:spPr>
          <a:xfrm>
            <a:off x="3224808" y="2161430"/>
            <a:ext cx="3456384" cy="2419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129537" y="3218309"/>
            <a:ext cx="1697084" cy="953212"/>
            <a:chOff x="6289777" y="3356992"/>
            <a:chExt cx="1697084" cy="953212"/>
          </a:xfrm>
        </p:grpSpPr>
        <p:grpSp>
          <p:nvGrpSpPr>
            <p:cNvPr id="80" name="그룹 79"/>
            <p:cNvGrpSpPr/>
            <p:nvPr/>
          </p:nvGrpSpPr>
          <p:grpSpPr>
            <a:xfrm>
              <a:off x="6291261" y="3356992"/>
              <a:ext cx="1695600" cy="698962"/>
              <a:chOff x="4121496" y="2970445"/>
              <a:chExt cx="1695600" cy="698962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21496" y="2970445"/>
                <a:ext cx="1695600" cy="432048"/>
                <a:chOff x="4140546" y="2970445"/>
                <a:chExt cx="1695600" cy="432048"/>
              </a:xfrm>
            </p:grpSpPr>
            <p:sp>
              <p:nvSpPr>
                <p:cNvPr id="88" name="직사각형 87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89" name="직사각형 88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87" name="모서리가 둥근 직사각형 86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6289777" y="4086597"/>
              <a:ext cx="1695048" cy="223607"/>
              <a:chOff x="3267377" y="4473116"/>
              <a:chExt cx="1695048" cy="22360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 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90" name="직사각형 89"/>
          <p:cNvSpPr/>
          <p:nvPr/>
        </p:nvSpPr>
        <p:spPr>
          <a:xfrm>
            <a:off x="3224808" y="5454749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3224808" y="1863874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3224808" y="4600178"/>
            <a:ext cx="3456384" cy="819809"/>
            <a:chOff x="5385048" y="4637346"/>
            <a:chExt cx="3456384" cy="819809"/>
          </a:xfrm>
        </p:grpSpPr>
        <p:sp>
          <p:nvSpPr>
            <p:cNvPr id="109" name="직사각형 108"/>
            <p:cNvSpPr/>
            <p:nvPr/>
          </p:nvSpPr>
          <p:spPr>
            <a:xfrm>
              <a:off x="5385048" y="4643611"/>
              <a:ext cx="3456384" cy="813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5699061" y="4637346"/>
              <a:ext cx="2880000" cy="404405"/>
              <a:chOff x="5699061" y="4637346"/>
              <a:chExt cx="2880000" cy="404405"/>
            </a:xfrm>
          </p:grpSpPr>
          <p:sp>
            <p:nvSpPr>
              <p:cNvPr id="112" name="TextBox 111"/>
              <p:cNvSpPr txBox="1"/>
              <p:nvPr/>
            </p:nvSpPr>
            <p:spPr>
              <a:xfrm>
                <a:off x="5699061" y="4824316"/>
                <a:ext cx="2880000" cy="21743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회원가입을 하신 후 </a:t>
                </a:r>
                <a:r>
                  <a:rPr lang="en-US" altLang="ko-KR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SNS</a:t>
                </a: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계정으로 로그인 하세요</a:t>
                </a:r>
                <a:endParaRPr lang="ko-KR" altLang="en-US" sz="800" kern="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6746799" y="4637346"/>
                <a:ext cx="726481" cy="25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SNS </a:t>
                </a:r>
                <a:r>
                  <a:rPr lang="ko-KR" altLang="en-US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로그인</a:t>
                </a:r>
                <a:endParaRPr lang="en-US" altLang="ko-KR" sz="800" b="1" kern="0" dirty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56" name="TextBox 55"/>
          <p:cNvSpPr txBox="1"/>
          <p:nvPr/>
        </p:nvSpPr>
        <p:spPr>
          <a:xfrm>
            <a:off x="3516786" y="2588146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 로그인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한국방송통신대학교에 오신 것을 환영합니다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2685" y="2288339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일반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89" y="5032258"/>
            <a:ext cx="559543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3757439" y="4293096"/>
            <a:ext cx="2467362" cy="185333"/>
            <a:chOff x="4122812" y="4293096"/>
            <a:chExt cx="2467362" cy="185333"/>
          </a:xfrm>
        </p:grpSpPr>
        <p:grpSp>
          <p:nvGrpSpPr>
            <p:cNvPr id="105" name="그룹 104"/>
            <p:cNvGrpSpPr/>
            <p:nvPr/>
          </p:nvGrpSpPr>
          <p:grpSpPr>
            <a:xfrm>
              <a:off x="4122812" y="4298429"/>
              <a:ext cx="1718547" cy="180000"/>
              <a:chOff x="6283052" y="4113096"/>
              <a:chExt cx="1718547" cy="180000"/>
            </a:xfrm>
          </p:grpSpPr>
          <p:sp>
            <p:nvSpPr>
              <p:cNvPr id="106" name="모서리가 둥근 직사각형 105"/>
              <p:cNvSpPr/>
              <p:nvPr/>
            </p:nvSpPr>
            <p:spPr>
              <a:xfrm>
                <a:off x="6283052" y="4113096"/>
                <a:ext cx="612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회원가입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7" name="모서리가 둥근 직사각형 106"/>
              <p:cNvSpPr/>
              <p:nvPr/>
            </p:nvSpPr>
            <p:spPr>
              <a:xfrm>
                <a:off x="6921599" y="4113096"/>
                <a:ext cx="1080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아이디</a:t>
                </a:r>
                <a:r>
                  <a:rPr lang="en-US" altLang="ko-KR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비밀번호 찾기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9" name="모서리가 둥근 직사각형 58"/>
            <p:cNvSpPr/>
            <p:nvPr/>
          </p:nvSpPr>
          <p:spPr>
            <a:xfrm>
              <a:off x="5870174" y="4293096"/>
              <a:ext cx="720000" cy="18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등록</a:t>
              </a:r>
              <a:endParaRPr lang="ko-KR" alt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3" name="직사각형 42"/>
          <p:cNvSpPr/>
          <p:nvPr/>
        </p:nvSpPr>
        <p:spPr bwMode="auto">
          <a:xfrm>
            <a:off x="421444" y="1492213"/>
            <a:ext cx="9059851" cy="4961123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2114420" y="1907307"/>
            <a:ext cx="5680800" cy="4297605"/>
            <a:chOff x="2792760" y="4221088"/>
            <a:chExt cx="5680800" cy="4297605"/>
          </a:xfrm>
        </p:grpSpPr>
        <p:sp>
          <p:nvSpPr>
            <p:cNvPr id="65" name="직사각형 64"/>
            <p:cNvSpPr/>
            <p:nvPr/>
          </p:nvSpPr>
          <p:spPr>
            <a:xfrm>
              <a:off x="2798191" y="4399012"/>
              <a:ext cx="5673600" cy="4119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506E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t"/>
            <a:lstStyle/>
            <a:p>
              <a:pPr>
                <a:lnSpc>
                  <a:spcPct val="200000"/>
                </a:lnSpc>
              </a:pP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792760" y="4221088"/>
              <a:ext cx="5680800" cy="180000"/>
            </a:xfrm>
            <a:prstGeom prst="rect">
              <a:avLst/>
            </a:prstGeom>
            <a:solidFill>
              <a:srgbClr val="506E92"/>
            </a:solidFill>
            <a:ln w="9525">
              <a:solidFill>
                <a:srgbClr val="506E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비밀번호 등록                                                                                                                                    </a:t>
              </a:r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4700569" y="8193169"/>
              <a:ext cx="90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2874292" y="4473116"/>
              <a:ext cx="5520233" cy="863681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>
                  <a:solidFill>
                    <a:srgbClr val="0070C0"/>
                  </a:solidFill>
                </a:rPr>
                <a:t>주의사항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비밀번호 등록 시 기존 비밀번호는 사용할 수 업습니다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사용중인 비밀번호를 잊은 경우는 로그인 화면 하단의 비밀번호 찾기를 이용하시기 바랍니다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일반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기관 회원에게만 제공되는 기능입니다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 </a:t>
              </a:r>
              <a:r>
                <a:rPr lang="ko-KR" altLang="en-US" sz="800" dirty="0" err="1" smtClean="0">
                  <a:solidFill>
                    <a:srgbClr val="0070C0"/>
                  </a:solidFill>
                  <a:latin typeface="+mn-ea"/>
                </a:rPr>
                <a:t>방송대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 학생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직원은 반영되지 않습니다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en-US" altLang="ko-KR" sz="8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5638869" y="8191053"/>
              <a:ext cx="90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74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537556"/>
              </p:ext>
            </p:extLst>
          </p:nvPr>
        </p:nvGraphicFramePr>
        <p:xfrm>
          <a:off x="2207171" y="3112393"/>
          <a:ext cx="5518539" cy="1039968"/>
        </p:xfrm>
        <a:graphic>
          <a:graphicData uri="http://schemas.openxmlformats.org/drawingml/2006/table">
            <a:tbl>
              <a:tblPr/>
              <a:tblGrid>
                <a:gridCol w="1194010"/>
                <a:gridCol w="4324529"/>
              </a:tblGrid>
              <a:tr h="25999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개인 정보 확인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6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                                                     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아이디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핸드폰번호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5" name="Rectangle 122"/>
          <p:cNvSpPr>
            <a:spLocks noChangeArrowheads="1"/>
          </p:cNvSpPr>
          <p:nvPr/>
        </p:nvSpPr>
        <p:spPr bwMode="auto">
          <a:xfrm>
            <a:off x="3438145" y="3409950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이름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7" name="Rectangle 122"/>
          <p:cNvSpPr>
            <a:spLocks noChangeArrowheads="1"/>
          </p:cNvSpPr>
          <p:nvPr/>
        </p:nvSpPr>
        <p:spPr bwMode="auto">
          <a:xfrm>
            <a:off x="3440832" y="3671523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아이디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1" name="Rectangle 122"/>
          <p:cNvSpPr>
            <a:spLocks noChangeArrowheads="1"/>
          </p:cNvSpPr>
          <p:nvPr/>
        </p:nvSpPr>
        <p:spPr bwMode="auto">
          <a:xfrm>
            <a:off x="3440832" y="3923531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아이디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4496569" y="4275112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 정보 찾기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3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647098"/>
              </p:ext>
            </p:extLst>
          </p:nvPr>
        </p:nvGraphicFramePr>
        <p:xfrm>
          <a:off x="2207171" y="4653136"/>
          <a:ext cx="5518539" cy="1024040"/>
        </p:xfrm>
        <a:graphic>
          <a:graphicData uri="http://schemas.openxmlformats.org/drawingml/2006/table">
            <a:tbl>
              <a:tblPr/>
              <a:tblGrid>
                <a:gridCol w="1194010"/>
                <a:gridCol w="4324529"/>
              </a:tblGrid>
              <a:tr h="5040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 testid0215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)</a:t>
                      </a:r>
                      <a:r>
                        <a:rPr lang="ko-KR" altLang="en-US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님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비밀번호 등록이 가능합니다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사용할 비밀번호 입력 후 저장 후 로그인하시면 서비스를 이용하실 수 있습니다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6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비밀번호 입력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                                                     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비밀번호 재입력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4" name="Rectangle 122"/>
          <p:cNvSpPr>
            <a:spLocks noChangeArrowheads="1"/>
          </p:cNvSpPr>
          <p:nvPr/>
        </p:nvSpPr>
        <p:spPr bwMode="auto">
          <a:xfrm>
            <a:off x="3441032" y="5195292"/>
            <a:ext cx="18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비밀번호 </a:t>
            </a: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5" name="Rectangle 122"/>
          <p:cNvSpPr>
            <a:spLocks noChangeArrowheads="1"/>
          </p:cNvSpPr>
          <p:nvPr/>
        </p:nvSpPr>
        <p:spPr bwMode="auto">
          <a:xfrm>
            <a:off x="3440832" y="5459900"/>
            <a:ext cx="18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비밀번호 </a:t>
            </a: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5376237" y="4227532"/>
            <a:ext cx="234360" cy="200055"/>
            <a:chOff x="1156433" y="11706839"/>
            <a:chExt cx="234360" cy="200055"/>
          </a:xfrm>
        </p:grpSpPr>
        <p:sp>
          <p:nvSpPr>
            <p:cNvPr id="98" name="모서리가 둥근 직사각형 97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2110326" y="4535016"/>
            <a:ext cx="234360" cy="200055"/>
            <a:chOff x="1156433" y="11706839"/>
            <a:chExt cx="234360" cy="200055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3203785" y="5300710"/>
            <a:ext cx="234360" cy="200055"/>
            <a:chOff x="1156433" y="11706839"/>
            <a:chExt cx="234360" cy="200055"/>
          </a:xfrm>
        </p:grpSpPr>
        <p:sp>
          <p:nvSpPr>
            <p:cNvPr id="111" name="모서리가 둥근 직사각형 11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3917027" y="5771418"/>
            <a:ext cx="234360" cy="200055"/>
            <a:chOff x="1156433" y="11706839"/>
            <a:chExt cx="234360" cy="200055"/>
          </a:xfrm>
        </p:grpSpPr>
        <p:sp>
          <p:nvSpPr>
            <p:cNvPr id="116" name="모서리가 둥근 직사각형 115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8123022" y="4502446"/>
            <a:ext cx="3289335" cy="1107665"/>
            <a:chOff x="10921809" y="3789759"/>
            <a:chExt cx="3289335" cy="1107665"/>
          </a:xfrm>
        </p:grpSpPr>
        <p:grpSp>
          <p:nvGrpSpPr>
            <p:cNvPr id="119" name="그룹 118"/>
            <p:cNvGrpSpPr/>
            <p:nvPr/>
          </p:nvGrpSpPr>
          <p:grpSpPr>
            <a:xfrm>
              <a:off x="10921809" y="3789759"/>
              <a:ext cx="3289335" cy="1107665"/>
              <a:chOff x="-692625" y="294998"/>
              <a:chExt cx="3289335" cy="1107665"/>
            </a:xfrm>
          </p:grpSpPr>
          <p:grpSp>
            <p:nvGrpSpPr>
              <p:cNvPr id="121" name="그룹 120"/>
              <p:cNvGrpSpPr/>
              <p:nvPr/>
            </p:nvGrpSpPr>
            <p:grpSpPr>
              <a:xfrm>
                <a:off x="-692625" y="294998"/>
                <a:ext cx="3289335" cy="1107665"/>
                <a:chOff x="1061816" y="3176972"/>
                <a:chExt cx="3289335" cy="1107665"/>
              </a:xfrm>
            </p:grpSpPr>
            <p:sp>
              <p:nvSpPr>
                <p:cNvPr id="123" name="직사각형 122"/>
                <p:cNvSpPr/>
                <p:nvPr/>
              </p:nvSpPr>
              <p:spPr>
                <a:xfrm>
                  <a:off x="1100571" y="3176972"/>
                  <a:ext cx="3240000" cy="110766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4E6A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   </a:t>
                  </a:r>
                  <a:r>
                    <a:rPr lang="ko-KR" altLang="en-US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endParaRPr lang="en-US" altLang="ko-KR" sz="8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124" name="직사각형 123"/>
                <p:cNvSpPr/>
                <p:nvPr/>
              </p:nvSpPr>
              <p:spPr>
                <a:xfrm>
                  <a:off x="1110097" y="3177813"/>
                  <a:ext cx="3222000" cy="216000"/>
                </a:xfrm>
                <a:prstGeom prst="rect">
                  <a:avLst/>
                </a:prstGeom>
                <a:solidFill>
                  <a:srgbClr val="4E6A8C"/>
                </a:solidFill>
                <a:ln w="9525">
                  <a:solidFill>
                    <a:srgbClr val="4E6A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   </a:t>
                  </a:r>
                  <a:r>
                    <a:rPr lang="ko-KR" altLang="en-US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endParaRPr lang="en-US" altLang="ko-KR" sz="8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125" name="직사각형 124"/>
                <p:cNvSpPr/>
                <p:nvPr/>
              </p:nvSpPr>
              <p:spPr>
                <a:xfrm>
                  <a:off x="1061816" y="3203190"/>
                  <a:ext cx="529312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ko-KR" altLang="en-US" sz="800" dirty="0" smtClean="0">
                      <a:solidFill>
                        <a:schemeClr val="bg1"/>
                      </a:solidFill>
                      <a:latin typeface="+mn-ea"/>
                      <a:ea typeface="+mn-ea"/>
                    </a:rPr>
                    <a:t> 메시지</a:t>
                  </a:r>
                  <a:endParaRPr lang="ko-KR" altLang="en-US" sz="800" dirty="0">
                    <a:solidFill>
                      <a:schemeClr val="bg1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6" name="직사각형 125"/>
                <p:cNvSpPr/>
                <p:nvPr/>
              </p:nvSpPr>
              <p:spPr>
                <a:xfrm>
                  <a:off x="4099159" y="3177414"/>
                  <a:ext cx="251992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800" b="1" dirty="0" smtClean="0">
                      <a:solidFill>
                        <a:schemeClr val="bg1"/>
                      </a:solidFill>
                      <a:latin typeface="+mn-ea"/>
                    </a:rPr>
                    <a:t>X</a:t>
                  </a:r>
                  <a:endParaRPr lang="ko-KR" altLang="en-US" sz="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2" name="직사각형 121"/>
              <p:cNvSpPr/>
              <p:nvPr/>
            </p:nvSpPr>
            <p:spPr>
              <a:xfrm>
                <a:off x="241351" y="666797"/>
                <a:ext cx="1511952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정상적으로 저장되었습니다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. 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20" name="모서리가 둥근 직사각형 119"/>
            <p:cNvSpPr/>
            <p:nvPr/>
          </p:nvSpPr>
          <p:spPr>
            <a:xfrm>
              <a:off x="12184571" y="4509839"/>
              <a:ext cx="900000" cy="180000"/>
            </a:xfrm>
            <a:prstGeom prst="roundRect">
              <a:avLst/>
            </a:prstGeom>
            <a:solidFill>
              <a:srgbClr val="4E6A8C"/>
            </a:solidFill>
            <a:ln w="317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7" name="그룹 126"/>
          <p:cNvGrpSpPr/>
          <p:nvPr/>
        </p:nvGrpSpPr>
        <p:grpSpPr>
          <a:xfrm>
            <a:off x="8121352" y="3356992"/>
            <a:ext cx="3289335" cy="1107665"/>
            <a:chOff x="10960564" y="1312622"/>
            <a:chExt cx="3289335" cy="1107665"/>
          </a:xfrm>
        </p:grpSpPr>
        <p:grpSp>
          <p:nvGrpSpPr>
            <p:cNvPr id="128" name="그룹 127"/>
            <p:cNvGrpSpPr/>
            <p:nvPr/>
          </p:nvGrpSpPr>
          <p:grpSpPr>
            <a:xfrm>
              <a:off x="10960564" y="1312622"/>
              <a:ext cx="3289335" cy="1107665"/>
              <a:chOff x="-692625" y="294998"/>
              <a:chExt cx="3289335" cy="1107665"/>
            </a:xfrm>
          </p:grpSpPr>
          <p:grpSp>
            <p:nvGrpSpPr>
              <p:cNvPr id="130" name="그룹 129"/>
              <p:cNvGrpSpPr/>
              <p:nvPr/>
            </p:nvGrpSpPr>
            <p:grpSpPr>
              <a:xfrm>
                <a:off x="-692625" y="294998"/>
                <a:ext cx="3289335" cy="1107665"/>
                <a:chOff x="1061816" y="3176972"/>
                <a:chExt cx="3289335" cy="1107665"/>
              </a:xfrm>
            </p:grpSpPr>
            <p:sp>
              <p:nvSpPr>
                <p:cNvPr id="132" name="직사각형 131"/>
                <p:cNvSpPr/>
                <p:nvPr/>
              </p:nvSpPr>
              <p:spPr>
                <a:xfrm>
                  <a:off x="1100571" y="3176972"/>
                  <a:ext cx="3240000" cy="110766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4E6A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   </a:t>
                  </a:r>
                  <a:r>
                    <a:rPr lang="ko-KR" altLang="en-US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endParaRPr lang="en-US" altLang="ko-KR" sz="8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133" name="직사각형 132"/>
                <p:cNvSpPr/>
                <p:nvPr/>
              </p:nvSpPr>
              <p:spPr>
                <a:xfrm>
                  <a:off x="1110097" y="3177813"/>
                  <a:ext cx="3222000" cy="216000"/>
                </a:xfrm>
                <a:prstGeom prst="rect">
                  <a:avLst/>
                </a:prstGeom>
                <a:solidFill>
                  <a:srgbClr val="4E6A8C"/>
                </a:solidFill>
                <a:ln w="9525">
                  <a:solidFill>
                    <a:srgbClr val="4E6A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   </a:t>
                  </a:r>
                  <a:r>
                    <a:rPr lang="ko-KR" altLang="en-US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endParaRPr lang="en-US" altLang="ko-KR" sz="8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134" name="직사각형 133"/>
                <p:cNvSpPr/>
                <p:nvPr/>
              </p:nvSpPr>
              <p:spPr>
                <a:xfrm>
                  <a:off x="1061816" y="3203190"/>
                  <a:ext cx="529312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ko-KR" altLang="en-US" sz="800" dirty="0" smtClean="0">
                      <a:solidFill>
                        <a:schemeClr val="bg1"/>
                      </a:solidFill>
                      <a:latin typeface="+mn-ea"/>
                      <a:ea typeface="+mn-ea"/>
                    </a:rPr>
                    <a:t> 메시지</a:t>
                  </a:r>
                  <a:endParaRPr lang="ko-KR" altLang="en-US" sz="800" dirty="0">
                    <a:solidFill>
                      <a:schemeClr val="bg1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5" name="직사각형 134"/>
                <p:cNvSpPr/>
                <p:nvPr/>
              </p:nvSpPr>
              <p:spPr>
                <a:xfrm>
                  <a:off x="4099159" y="3177414"/>
                  <a:ext cx="251992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800" b="1" dirty="0" smtClean="0">
                      <a:solidFill>
                        <a:schemeClr val="bg1"/>
                      </a:solidFill>
                      <a:latin typeface="+mn-ea"/>
                    </a:rPr>
                    <a:t>X</a:t>
                  </a:r>
                  <a:endParaRPr lang="ko-KR" altLang="en-US" sz="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31" name="직사각형 130"/>
              <p:cNvSpPr/>
              <p:nvPr/>
            </p:nvSpPr>
            <p:spPr>
              <a:xfrm>
                <a:off x="325507" y="666797"/>
                <a:ext cx="1343638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이름은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필수 항목입니다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. 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29" name="모서리가 둥근 직사각형 128"/>
            <p:cNvSpPr/>
            <p:nvPr/>
          </p:nvSpPr>
          <p:spPr>
            <a:xfrm>
              <a:off x="12177371" y="2032702"/>
              <a:ext cx="900000" cy="180000"/>
            </a:xfrm>
            <a:prstGeom prst="roundRect">
              <a:avLst/>
            </a:prstGeom>
            <a:solidFill>
              <a:srgbClr val="4E6A8C"/>
            </a:solidFill>
            <a:ln w="317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8130877" y="5654574"/>
            <a:ext cx="3289335" cy="1107665"/>
            <a:chOff x="10921809" y="3789759"/>
            <a:chExt cx="3289335" cy="1107665"/>
          </a:xfrm>
        </p:grpSpPr>
        <p:grpSp>
          <p:nvGrpSpPr>
            <p:cNvPr id="137" name="그룹 136"/>
            <p:cNvGrpSpPr/>
            <p:nvPr/>
          </p:nvGrpSpPr>
          <p:grpSpPr>
            <a:xfrm>
              <a:off x="10921809" y="3789759"/>
              <a:ext cx="3289335" cy="1107665"/>
              <a:chOff x="-692625" y="294998"/>
              <a:chExt cx="3289335" cy="1107665"/>
            </a:xfrm>
          </p:grpSpPr>
          <p:grpSp>
            <p:nvGrpSpPr>
              <p:cNvPr id="139" name="그룹 138"/>
              <p:cNvGrpSpPr/>
              <p:nvPr/>
            </p:nvGrpSpPr>
            <p:grpSpPr>
              <a:xfrm>
                <a:off x="-692625" y="294998"/>
                <a:ext cx="3289335" cy="1107665"/>
                <a:chOff x="1061816" y="3176972"/>
                <a:chExt cx="3289335" cy="1107665"/>
              </a:xfrm>
            </p:grpSpPr>
            <p:sp>
              <p:nvSpPr>
                <p:cNvPr id="141" name="직사각형 140"/>
                <p:cNvSpPr/>
                <p:nvPr/>
              </p:nvSpPr>
              <p:spPr>
                <a:xfrm>
                  <a:off x="1100571" y="3176972"/>
                  <a:ext cx="3240000" cy="110766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4E6A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   </a:t>
                  </a:r>
                  <a:r>
                    <a:rPr lang="ko-KR" altLang="en-US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endParaRPr lang="en-US" altLang="ko-KR" sz="8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142" name="직사각형 141"/>
                <p:cNvSpPr/>
                <p:nvPr/>
              </p:nvSpPr>
              <p:spPr>
                <a:xfrm>
                  <a:off x="1110097" y="3177813"/>
                  <a:ext cx="3222000" cy="216000"/>
                </a:xfrm>
                <a:prstGeom prst="rect">
                  <a:avLst/>
                </a:prstGeom>
                <a:solidFill>
                  <a:srgbClr val="4E6A8C"/>
                </a:solidFill>
                <a:ln w="9525">
                  <a:solidFill>
                    <a:srgbClr val="4E6A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   </a:t>
                  </a:r>
                  <a:r>
                    <a:rPr lang="ko-KR" altLang="en-US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r>
                    <a:rPr lang="en-US" altLang="ko-KR" sz="800" dirty="0" smtClean="0">
                      <a:solidFill>
                        <a:schemeClr val="tx1"/>
                      </a:solidFill>
                      <a:latin typeface="+mn-ea"/>
                      <a:sym typeface="Wingdings" pitchFamily="2" charset="2"/>
                    </a:rPr>
                    <a:t> </a:t>
                  </a:r>
                  <a:endParaRPr lang="en-US" altLang="ko-KR" sz="8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  <p:sp>
              <p:nvSpPr>
                <p:cNvPr id="143" name="직사각형 142"/>
                <p:cNvSpPr/>
                <p:nvPr/>
              </p:nvSpPr>
              <p:spPr>
                <a:xfrm>
                  <a:off x="1061816" y="3203190"/>
                  <a:ext cx="529312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ko-KR" altLang="en-US" sz="800" dirty="0" smtClean="0">
                      <a:solidFill>
                        <a:schemeClr val="bg1"/>
                      </a:solidFill>
                      <a:latin typeface="+mn-ea"/>
                      <a:ea typeface="+mn-ea"/>
                    </a:rPr>
                    <a:t> 메시지</a:t>
                  </a:r>
                  <a:endParaRPr lang="ko-KR" altLang="en-US" sz="800" dirty="0">
                    <a:solidFill>
                      <a:schemeClr val="bg1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4" name="직사각형 143"/>
                <p:cNvSpPr/>
                <p:nvPr/>
              </p:nvSpPr>
              <p:spPr>
                <a:xfrm>
                  <a:off x="4099159" y="3177414"/>
                  <a:ext cx="251992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800" b="1" dirty="0" smtClean="0">
                      <a:solidFill>
                        <a:schemeClr val="bg1"/>
                      </a:solidFill>
                      <a:latin typeface="+mn-ea"/>
                    </a:rPr>
                    <a:t>X</a:t>
                  </a:r>
                  <a:endParaRPr lang="ko-KR" altLang="en-US" sz="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0" name="직사각형 139"/>
              <p:cNvSpPr/>
              <p:nvPr/>
            </p:nvSpPr>
            <p:spPr>
              <a:xfrm>
                <a:off x="-433512" y="666797"/>
                <a:ext cx="2861681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저장 중 오류가 발생했습니다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. </a:t>
                </a:r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잠시 후 다시 진행해 주세요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38" name="모서리가 둥근 직사각형 137"/>
            <p:cNvSpPr/>
            <p:nvPr/>
          </p:nvSpPr>
          <p:spPr>
            <a:xfrm>
              <a:off x="12184571" y="4509839"/>
              <a:ext cx="900000" cy="180000"/>
            </a:xfrm>
            <a:prstGeom prst="roundRect">
              <a:avLst/>
            </a:prstGeom>
            <a:solidFill>
              <a:srgbClr val="4E6A8C"/>
            </a:solidFill>
            <a:ln w="317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5" name="TextBox 144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 </a:t>
            </a:r>
            <a:r>
              <a:rPr lang="en-US" altLang="ko-KR" sz="800" spc="-60" dirty="0" smtClean="0">
                <a:latin typeface="+mn-ea"/>
                <a:ea typeface="+mn-ea"/>
              </a:rPr>
              <a:t>: </a:t>
            </a:r>
            <a:r>
              <a:rPr lang="ko-KR" altLang="en-US" sz="800" spc="-60" dirty="0" smtClean="0">
                <a:latin typeface="+mn-ea"/>
                <a:ea typeface="+mn-ea"/>
              </a:rPr>
              <a:t>개인 정보 찾기 성공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KNOU_MN_A04030000_03</a:t>
            </a:r>
            <a:endParaRPr lang="ko-KR" altLang="en-US" sz="800" spc="-60" dirty="0">
              <a:latin typeface="+mn-ea"/>
            </a:endParaRPr>
          </a:p>
        </p:txBody>
      </p:sp>
      <p:grpSp>
        <p:nvGrpSpPr>
          <p:cNvPr id="148" name="그룹 147"/>
          <p:cNvGrpSpPr/>
          <p:nvPr/>
        </p:nvGrpSpPr>
        <p:grpSpPr>
          <a:xfrm>
            <a:off x="-1320845" y="4149080"/>
            <a:ext cx="3393525" cy="900000"/>
            <a:chOff x="5015859" y="5157192"/>
            <a:chExt cx="3393525" cy="900000"/>
          </a:xfrm>
        </p:grpSpPr>
        <p:sp>
          <p:nvSpPr>
            <p:cNvPr id="150" name="직사각형 149"/>
            <p:cNvSpPr/>
            <p:nvPr/>
          </p:nvSpPr>
          <p:spPr>
            <a:xfrm>
              <a:off x="5015859" y="5157192"/>
              <a:ext cx="3384000" cy="90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endPara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en-US" altLang="ko-KR" sz="800" dirty="0">
                <a:solidFill>
                  <a:schemeClr val="accent1"/>
                </a:solidFill>
                <a:latin typeface="+mn-ea"/>
                <a:ea typeface="+mn-ea"/>
              </a:endParaRPr>
            </a:p>
            <a:p>
              <a:endParaRPr lang="ko-KR" altLang="en-US" sz="8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cxnSp>
          <p:nvCxnSpPr>
            <p:cNvPr id="151" name="직선 연결선 150"/>
            <p:cNvCxnSpPr/>
            <p:nvPr/>
          </p:nvCxnSpPr>
          <p:spPr>
            <a:xfrm>
              <a:off x="5025384" y="5517232"/>
              <a:ext cx="338400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직사각형 151"/>
            <p:cNvSpPr/>
            <p:nvPr/>
          </p:nvSpPr>
          <p:spPr>
            <a:xfrm>
              <a:off x="5028254" y="5219675"/>
              <a:ext cx="69762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인증번호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>
              <a:off x="5034909" y="5579715"/>
              <a:ext cx="1718547" cy="215444"/>
              <a:chOff x="848544" y="3095439"/>
              <a:chExt cx="1718547" cy="215444"/>
            </a:xfrm>
          </p:grpSpPr>
          <p:sp>
            <p:nvSpPr>
              <p:cNvPr id="156" name="직사각형 155"/>
              <p:cNvSpPr/>
              <p:nvPr/>
            </p:nvSpPr>
            <p:spPr>
              <a:xfrm>
                <a:off x="1487091" y="3104964"/>
                <a:ext cx="1080000" cy="183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인증번호 </a:t>
                </a:r>
                <a:r>
                  <a:rPr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</a:rPr>
                  <a:t>입력</a:t>
                </a:r>
                <a:endPara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7" name="직사각형 156"/>
              <p:cNvSpPr/>
              <p:nvPr/>
            </p:nvSpPr>
            <p:spPr>
              <a:xfrm>
                <a:off x="848544" y="3095439"/>
                <a:ext cx="862080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인증번호 </a:t>
                </a:r>
                <a:r>
                  <a:rPr lang="en-US" altLang="ko-KR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:</a:t>
                </a:r>
                <a:endParaRPr lang="ko-KR" altLang="en-US" sz="80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54" name="모서리가 둥근 직사각형 153"/>
            <p:cNvSpPr/>
            <p:nvPr/>
          </p:nvSpPr>
          <p:spPr>
            <a:xfrm>
              <a:off x="6787604" y="5594573"/>
              <a:ext cx="540000" cy="1728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5" name="직사각형 154"/>
            <p:cNvSpPr/>
            <p:nvPr/>
          </p:nvSpPr>
          <p:spPr>
            <a:xfrm>
              <a:off x="5986585" y="5229550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58" name="직사각형 157"/>
          <p:cNvSpPr/>
          <p:nvPr/>
        </p:nvSpPr>
        <p:spPr>
          <a:xfrm>
            <a:off x="-1218167" y="4801319"/>
            <a:ext cx="3207593" cy="215444"/>
          </a:xfrm>
          <a:prstGeom prst="rect">
            <a:avLst/>
          </a:prstGeom>
        </p:spPr>
        <p:txBody>
          <a:bodyPr wrap="square" lIns="36000">
            <a:spAutoFit/>
          </a:bodyPr>
          <a:lstStyle/>
          <a:p>
            <a:r>
              <a:rPr lang="en-US" altLang="ko-KR" sz="800" dirty="0" smtClean="0">
                <a:solidFill>
                  <a:srgbClr val="C00000"/>
                </a:solidFill>
                <a:latin typeface="+mn-ea"/>
                <a:ea typeface="+mn-ea"/>
              </a:rPr>
              <a:t>! 1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회 틀렸습니다</a:t>
            </a:r>
            <a:r>
              <a:rPr lang="en-US" altLang="ko-KR" sz="800" dirty="0" smtClean="0">
                <a:solidFill>
                  <a:srgbClr val="C00000"/>
                </a:solidFill>
                <a:latin typeface="+mn-ea"/>
                <a:ea typeface="+mn-ea"/>
              </a:rPr>
              <a:t>. 5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회 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이상 틀릴 경우 사용 불가합니다</a:t>
            </a:r>
            <a:r>
              <a:rPr lang="en-US" altLang="ko-KR" sz="800" dirty="0" smtClean="0">
                <a:solidFill>
                  <a:srgbClr val="C00000"/>
                </a:solidFill>
                <a:latin typeface="+mn-ea"/>
                <a:ea typeface="+mn-ea"/>
              </a:rPr>
              <a:t>.</a:t>
            </a:r>
            <a:r>
              <a:rPr lang="ko-KR" altLang="en-US" sz="800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cxnSp>
        <p:nvCxnSpPr>
          <p:cNvPr id="159" name="꺾인 연결선 158"/>
          <p:cNvCxnSpPr>
            <a:stCxn id="92" idx="0"/>
            <a:endCxn id="150" idx="0"/>
          </p:cNvCxnSpPr>
          <p:nvPr/>
        </p:nvCxnSpPr>
        <p:spPr>
          <a:xfrm rot="16200000" flipV="1">
            <a:off x="2595846" y="1924389"/>
            <a:ext cx="126032" cy="4575414"/>
          </a:xfrm>
          <a:prstGeom prst="bentConnector3">
            <a:avLst>
              <a:gd name="adj1" fmla="val 28138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그룹 159"/>
          <p:cNvGrpSpPr/>
          <p:nvPr/>
        </p:nvGrpSpPr>
        <p:grpSpPr>
          <a:xfrm>
            <a:off x="412800" y="4404751"/>
            <a:ext cx="234360" cy="200055"/>
            <a:chOff x="1156433" y="11706839"/>
            <a:chExt cx="234360" cy="200055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63" name="꺾인 연결선 162"/>
          <p:cNvCxnSpPr>
            <a:stCxn id="154" idx="3"/>
            <a:endCxn id="93" idx="1"/>
          </p:cNvCxnSpPr>
          <p:nvPr/>
        </p:nvCxnSpPr>
        <p:spPr>
          <a:xfrm>
            <a:off x="990900" y="4672861"/>
            <a:ext cx="1216271" cy="49229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3308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377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129441"/>
              </p:ext>
            </p:extLst>
          </p:nvPr>
        </p:nvGraphicFramePr>
        <p:xfrm>
          <a:off x="9496933" y="1494927"/>
          <a:ext cx="1404156" cy="365460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등록 </a:t>
                      </a:r>
                      <a:r>
                        <a:rPr lang="ko-KR" altLang="en-US" sz="8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직사각형 75"/>
          <p:cNvSpPr/>
          <p:nvPr/>
        </p:nvSpPr>
        <p:spPr>
          <a:xfrm>
            <a:off x="3224808" y="2161430"/>
            <a:ext cx="3456384" cy="24196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129537" y="3218309"/>
            <a:ext cx="1697084" cy="953212"/>
            <a:chOff x="6289777" y="3356992"/>
            <a:chExt cx="1697084" cy="953212"/>
          </a:xfrm>
        </p:grpSpPr>
        <p:grpSp>
          <p:nvGrpSpPr>
            <p:cNvPr id="80" name="그룹 79"/>
            <p:cNvGrpSpPr/>
            <p:nvPr/>
          </p:nvGrpSpPr>
          <p:grpSpPr>
            <a:xfrm>
              <a:off x="6291261" y="3356992"/>
              <a:ext cx="1695600" cy="698962"/>
              <a:chOff x="4121496" y="2970445"/>
              <a:chExt cx="1695600" cy="698962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21496" y="2970445"/>
                <a:ext cx="1695600" cy="432048"/>
                <a:chOff x="4140546" y="2970445"/>
                <a:chExt cx="1695600" cy="432048"/>
              </a:xfrm>
            </p:grpSpPr>
            <p:sp>
              <p:nvSpPr>
                <p:cNvPr id="88" name="직사각형 87"/>
                <p:cNvSpPr/>
                <p:nvPr/>
              </p:nvSpPr>
              <p:spPr>
                <a:xfrm>
                  <a:off x="4140546" y="2970445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아이디를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89" name="직사각형 88"/>
                <p:cNvSpPr/>
                <p:nvPr/>
              </p:nvSpPr>
              <p:spPr>
                <a:xfrm>
                  <a:off x="4140546" y="3218893"/>
                  <a:ext cx="1695600" cy="183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800" dirty="0" smtClean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</a:rPr>
                    <a:t>비밀번호를 입력하세요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87" name="모서리가 둥근 직사각형 86"/>
              <p:cNvSpPr/>
              <p:nvPr/>
            </p:nvSpPr>
            <p:spPr>
              <a:xfrm>
                <a:off x="4121496" y="3489407"/>
                <a:ext cx="1695600" cy="180000"/>
              </a:xfrm>
              <a:prstGeom prst="roundRect">
                <a:avLst/>
              </a:prstGeom>
              <a:solidFill>
                <a:srgbClr val="435C7A"/>
              </a:solidFill>
              <a:ln w="3175">
                <a:solidFill>
                  <a:srgbClr val="435C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로그인</a:t>
                </a:r>
                <a:endPara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1" name="그룹 80"/>
            <p:cNvGrpSpPr/>
            <p:nvPr/>
          </p:nvGrpSpPr>
          <p:grpSpPr>
            <a:xfrm>
              <a:off x="6289777" y="4086597"/>
              <a:ext cx="1695048" cy="223607"/>
              <a:chOff x="3267377" y="4473116"/>
              <a:chExt cx="1695048" cy="22360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3342425" y="4473116"/>
                <a:ext cx="1620000" cy="22360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800" kern="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자동 로그인 </a:t>
                </a:r>
                <a:endParaRPr lang="ko-KR" altLang="en-US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3267377" y="4521043"/>
                <a:ext cx="116381" cy="10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90" name="직사각형 89"/>
          <p:cNvSpPr/>
          <p:nvPr/>
        </p:nvSpPr>
        <p:spPr>
          <a:xfrm>
            <a:off x="3224808" y="5454749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3224808" y="1863874"/>
            <a:ext cx="3456384" cy="288032"/>
          </a:xfrm>
          <a:prstGeom prst="rect">
            <a:avLst/>
          </a:prstGeom>
          <a:solidFill>
            <a:srgbClr val="435C7A"/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bg1"/>
                </a:solidFill>
                <a:latin typeface="+mn-ea"/>
              </a:rPr>
              <a:t>로그인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3224808" y="4600178"/>
            <a:ext cx="3456384" cy="819809"/>
            <a:chOff x="5385048" y="4637346"/>
            <a:chExt cx="3456384" cy="819809"/>
          </a:xfrm>
        </p:grpSpPr>
        <p:sp>
          <p:nvSpPr>
            <p:cNvPr id="109" name="직사각형 108"/>
            <p:cNvSpPr/>
            <p:nvPr/>
          </p:nvSpPr>
          <p:spPr>
            <a:xfrm>
              <a:off x="5385048" y="4643611"/>
              <a:ext cx="3456384" cy="8135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5699061" y="4637346"/>
              <a:ext cx="2880000" cy="404405"/>
              <a:chOff x="5699061" y="4637346"/>
              <a:chExt cx="2880000" cy="404405"/>
            </a:xfrm>
          </p:grpSpPr>
          <p:sp>
            <p:nvSpPr>
              <p:cNvPr id="112" name="TextBox 111"/>
              <p:cNvSpPr txBox="1"/>
              <p:nvPr/>
            </p:nvSpPr>
            <p:spPr>
              <a:xfrm>
                <a:off x="5699061" y="4824316"/>
                <a:ext cx="2880000" cy="21743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회원가입을 하신 후 </a:t>
                </a:r>
                <a:r>
                  <a:rPr lang="en-US" altLang="ko-KR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SNS</a:t>
                </a:r>
                <a:r>
                  <a:rPr lang="ko-KR" altLang="en-US" sz="800" kern="0" dirty="0" smtClean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  <a:cs typeface="Arial" charset="0"/>
                  </a:rPr>
                  <a:t>계정으로 로그인 하세요</a:t>
                </a:r>
                <a:endParaRPr lang="ko-KR" altLang="en-US" sz="800" kern="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6746799" y="4637346"/>
                <a:ext cx="726481" cy="25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SNS </a:t>
                </a:r>
                <a:r>
                  <a:rPr lang="ko-KR" altLang="en-US" sz="800" b="1" kern="0" dirty="0" smtClean="0">
                    <a:solidFill>
                      <a:srgbClr val="0070C0"/>
                    </a:solidFill>
                    <a:latin typeface="+mn-ea"/>
                    <a:ea typeface="+mn-ea"/>
                    <a:cs typeface="Arial" charset="0"/>
                  </a:rPr>
                  <a:t>로그인</a:t>
                </a:r>
                <a:endParaRPr lang="en-US" altLang="ko-KR" sz="800" b="1" kern="0" dirty="0">
                  <a:solidFill>
                    <a:srgbClr val="0070C0"/>
                  </a:solidFill>
                  <a:latin typeface="+mn-ea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56" name="TextBox 55"/>
          <p:cNvSpPr txBox="1"/>
          <p:nvPr/>
        </p:nvSpPr>
        <p:spPr>
          <a:xfrm>
            <a:off x="3516786" y="2588146"/>
            <a:ext cx="2880000" cy="4348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한국방송통신대학교 로그인</a:t>
            </a:r>
            <a:endParaRPr lang="en-US" altLang="ko-KR" sz="800" b="1" kern="0" dirty="0" smtClean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한국방송통신대학교에 오신 것을 환영합니다</a:t>
            </a:r>
            <a:r>
              <a:rPr lang="en-US" altLang="ko-KR" sz="800" kern="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.</a:t>
            </a:r>
            <a:endParaRPr lang="ko-KR" altLang="en-US" sz="800" kern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2685" y="2288339"/>
            <a:ext cx="2880000" cy="22360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" b="1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방송대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 학생</a:t>
            </a:r>
            <a:r>
              <a:rPr lang="en-US" altLang="ko-KR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charset="0"/>
              </a:rPr>
              <a:t>직원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 </a:t>
            </a:r>
            <a:r>
              <a:rPr lang="en-US" altLang="ko-KR" sz="800" b="1" kern="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charset="0"/>
              </a:rPr>
              <a:t>| 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 일반</a:t>
            </a:r>
            <a:r>
              <a:rPr lang="en-US" altLang="ko-KR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/</a:t>
            </a:r>
            <a:r>
              <a:rPr lang="ko-KR" altLang="en-US" sz="800" b="1" kern="0" dirty="0" smtClean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기관회원</a:t>
            </a:r>
            <a:endParaRPr lang="ko-KR" altLang="en-US" sz="800" b="1" kern="0" dirty="0">
              <a:solidFill>
                <a:srgbClr val="0070C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89" y="5032258"/>
            <a:ext cx="559543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3757439" y="4293096"/>
            <a:ext cx="2467362" cy="185333"/>
            <a:chOff x="4122812" y="4293096"/>
            <a:chExt cx="2467362" cy="185333"/>
          </a:xfrm>
        </p:grpSpPr>
        <p:grpSp>
          <p:nvGrpSpPr>
            <p:cNvPr id="105" name="그룹 104"/>
            <p:cNvGrpSpPr/>
            <p:nvPr/>
          </p:nvGrpSpPr>
          <p:grpSpPr>
            <a:xfrm>
              <a:off x="4122812" y="4298429"/>
              <a:ext cx="1718547" cy="180000"/>
              <a:chOff x="6283052" y="4113096"/>
              <a:chExt cx="1718547" cy="180000"/>
            </a:xfrm>
          </p:grpSpPr>
          <p:sp>
            <p:nvSpPr>
              <p:cNvPr id="106" name="모서리가 둥근 직사각형 105"/>
              <p:cNvSpPr/>
              <p:nvPr/>
            </p:nvSpPr>
            <p:spPr>
              <a:xfrm>
                <a:off x="6283052" y="4113096"/>
                <a:ext cx="612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rIns="1800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회원가입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7" name="모서리가 둥근 직사각형 106"/>
              <p:cNvSpPr/>
              <p:nvPr/>
            </p:nvSpPr>
            <p:spPr>
              <a:xfrm>
                <a:off x="6921599" y="4113096"/>
                <a:ext cx="1080000" cy="18000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아이디</a:t>
                </a:r>
                <a:r>
                  <a:rPr lang="en-US" altLang="ko-KR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en-US" sz="75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비밀번호 찾기</a:t>
                </a:r>
                <a:endParaRPr lang="ko-KR" altLang="en-US" sz="7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9" name="모서리가 둥근 직사각형 58"/>
            <p:cNvSpPr/>
            <p:nvPr/>
          </p:nvSpPr>
          <p:spPr>
            <a:xfrm>
              <a:off x="5870174" y="4293096"/>
              <a:ext cx="720000" cy="18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등록</a:t>
              </a:r>
              <a:endParaRPr lang="ko-KR" alt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3" name="직사각형 42"/>
          <p:cNvSpPr/>
          <p:nvPr/>
        </p:nvSpPr>
        <p:spPr bwMode="auto">
          <a:xfrm>
            <a:off x="421444" y="1492213"/>
            <a:ext cx="9059851" cy="4961123"/>
          </a:xfrm>
          <a:prstGeom prst="rect">
            <a:avLst/>
          </a:prstGeom>
          <a:solidFill>
            <a:schemeClr val="tx1">
              <a:alpha val="70000"/>
            </a:schemeClr>
          </a:solidFill>
          <a:ln w="317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84701" tIns="42350" rIns="84701" bIns="42350" rtlCol="0" anchor="ctr">
            <a:noAutofit/>
          </a:bodyPr>
          <a:lstStyle/>
          <a:p>
            <a:pPr algn="ctr" defTabSz="9144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kern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2114420" y="1907307"/>
            <a:ext cx="5680800" cy="3835475"/>
            <a:chOff x="2792760" y="4221088"/>
            <a:chExt cx="5680800" cy="3835475"/>
          </a:xfrm>
        </p:grpSpPr>
        <p:sp>
          <p:nvSpPr>
            <p:cNvPr id="65" name="직사각형 64"/>
            <p:cNvSpPr/>
            <p:nvPr/>
          </p:nvSpPr>
          <p:spPr>
            <a:xfrm>
              <a:off x="2798191" y="4399013"/>
              <a:ext cx="5673600" cy="36575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506E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t"/>
            <a:lstStyle/>
            <a:p>
              <a:pPr>
                <a:lnSpc>
                  <a:spcPct val="200000"/>
                </a:lnSpc>
              </a:pPr>
              <a:endParaRPr lang="ko-KR" altLang="en-US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792760" y="4221088"/>
              <a:ext cx="5680800" cy="180000"/>
            </a:xfrm>
            <a:prstGeom prst="rect">
              <a:avLst/>
            </a:prstGeom>
            <a:solidFill>
              <a:srgbClr val="506E92"/>
            </a:solidFill>
            <a:ln w="9525">
              <a:solidFill>
                <a:srgbClr val="506E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비밀번호 등록                                                                                                                                    </a:t>
              </a:r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en-US" altLang="ko-KR" sz="8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2874292" y="4473116"/>
              <a:ext cx="5520233" cy="863681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>
                  <a:solidFill>
                    <a:srgbClr val="0070C0"/>
                  </a:solidFill>
                </a:rPr>
                <a:t>주의사항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비밀번호 등록 시 기존 비밀번호는 사용할 수 업습니다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사용중인 비밀번호를 잊은 경우는 로그인 화면 하단의 비밀번호 찾기를 이용하시기 바랍니다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• 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일반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기관 회원에게만 제공되는 기능입니다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 </a:t>
              </a:r>
              <a:r>
                <a:rPr lang="ko-KR" altLang="en-US" sz="800" dirty="0" err="1" smtClean="0">
                  <a:solidFill>
                    <a:srgbClr val="0070C0"/>
                  </a:solidFill>
                  <a:latin typeface="+mn-ea"/>
                </a:rPr>
                <a:t>방송대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 학생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/</a:t>
              </a:r>
              <a:r>
                <a:rPr lang="ko-KR" altLang="en-US" sz="800" dirty="0" smtClean="0">
                  <a:solidFill>
                    <a:srgbClr val="0070C0"/>
                  </a:solidFill>
                  <a:latin typeface="+mn-ea"/>
                </a:rPr>
                <a:t>직원은 반영되지 않습니다</a:t>
              </a:r>
              <a:r>
                <a:rPr lang="en-US" altLang="ko-KR" sz="8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en-US" altLang="ko-KR" sz="8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5180242" y="7686997"/>
              <a:ext cx="900000" cy="180000"/>
            </a:xfrm>
            <a:prstGeom prst="roundRect">
              <a:avLst/>
            </a:prstGeom>
            <a:solidFill>
              <a:srgbClr val="435C7A"/>
            </a:solidFill>
            <a:ln w="3175">
              <a:solidFill>
                <a:srgbClr val="435C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18000"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74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079218"/>
              </p:ext>
            </p:extLst>
          </p:nvPr>
        </p:nvGraphicFramePr>
        <p:xfrm>
          <a:off x="2207171" y="3112393"/>
          <a:ext cx="5518539" cy="1039968"/>
        </p:xfrm>
        <a:graphic>
          <a:graphicData uri="http://schemas.openxmlformats.org/drawingml/2006/table">
            <a:tbl>
              <a:tblPr/>
              <a:tblGrid>
                <a:gridCol w="1194010"/>
                <a:gridCol w="4324529"/>
              </a:tblGrid>
              <a:tr h="25999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개인 정보 확인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6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                                                     </a:t>
                      </a: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아이디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9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핸드폰번호 </a:t>
                      </a:r>
                      <a:r>
                        <a:rPr lang="en-US" altLang="ko-KR" sz="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5" name="Rectangle 122"/>
          <p:cNvSpPr>
            <a:spLocks noChangeArrowheads="1"/>
          </p:cNvSpPr>
          <p:nvPr/>
        </p:nvSpPr>
        <p:spPr bwMode="auto">
          <a:xfrm>
            <a:off x="3438145" y="3409950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이름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7" name="Rectangle 122"/>
          <p:cNvSpPr>
            <a:spLocks noChangeArrowheads="1"/>
          </p:cNvSpPr>
          <p:nvPr/>
        </p:nvSpPr>
        <p:spPr bwMode="auto">
          <a:xfrm>
            <a:off x="3440832" y="3671523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아이디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1" name="Rectangle 122"/>
          <p:cNvSpPr>
            <a:spLocks noChangeArrowheads="1"/>
          </p:cNvSpPr>
          <p:nvPr/>
        </p:nvSpPr>
        <p:spPr bwMode="auto">
          <a:xfrm>
            <a:off x="3440832" y="3923531"/>
            <a:ext cx="3600000" cy="1800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3924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kern="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아이디 입력</a:t>
            </a:r>
            <a:endParaRPr lang="ko-KR" altLang="en-US" sz="800" kern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4496569" y="4275112"/>
            <a:ext cx="900000" cy="162000"/>
          </a:xfrm>
          <a:prstGeom prst="roundRect">
            <a:avLst/>
          </a:prstGeom>
          <a:solidFill>
            <a:srgbClr val="6786AD"/>
          </a:solidFill>
          <a:ln w="3175">
            <a:solidFill>
              <a:srgbClr val="678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 정보 찾기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3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714085"/>
              </p:ext>
            </p:extLst>
          </p:nvPr>
        </p:nvGraphicFramePr>
        <p:xfrm>
          <a:off x="2207171" y="4653136"/>
          <a:ext cx="5518539" cy="504056"/>
        </p:xfrm>
        <a:graphic>
          <a:graphicData uri="http://schemas.openxmlformats.org/drawingml/2006/table">
            <a:tbl>
              <a:tblPr/>
              <a:tblGrid>
                <a:gridCol w="5518539"/>
              </a:tblGrid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 testid0215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)</a:t>
                      </a:r>
                      <a:r>
                        <a:rPr lang="ko-KR" altLang="en-US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님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일치하는 정보가 없습니다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입력 정보 다시 확인 후 진행해 주세요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8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6752" marR="86752" marT="38249" marB="38249" anchor="ctr" horzOverflow="overflow">
                    <a:lnL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1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6EE"/>
                    </a:solidFill>
                  </a:tcPr>
                </a:tc>
              </a:tr>
            </a:tbl>
          </a:graphicData>
        </a:graphic>
      </p:graphicFrame>
      <p:cxnSp>
        <p:nvCxnSpPr>
          <p:cNvPr id="55" name="꺾인 연결선 54"/>
          <p:cNvCxnSpPr>
            <a:stCxn id="92" idx="2"/>
            <a:endCxn id="93" idx="0"/>
          </p:cNvCxnSpPr>
          <p:nvPr/>
        </p:nvCxnSpPr>
        <p:spPr>
          <a:xfrm rot="16200000" flipH="1">
            <a:off x="4848492" y="4535188"/>
            <a:ext cx="216024" cy="1987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 </a:t>
            </a:r>
            <a:r>
              <a:rPr lang="en-US" altLang="ko-KR" sz="800" spc="-60" dirty="0" smtClean="0">
                <a:latin typeface="+mn-ea"/>
                <a:ea typeface="+mn-ea"/>
              </a:rPr>
              <a:t>: </a:t>
            </a:r>
            <a:r>
              <a:rPr lang="ko-KR" altLang="en-US" sz="800" spc="-60" dirty="0" smtClean="0">
                <a:latin typeface="+mn-ea"/>
                <a:ea typeface="+mn-ea"/>
              </a:rPr>
              <a:t>개인 정보 찾기 실패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로그인 </a:t>
            </a:r>
            <a:r>
              <a:rPr lang="en-US" altLang="ko-KR" sz="800" spc="-60" dirty="0" smtClean="0">
                <a:latin typeface="+mn-ea"/>
                <a:ea typeface="+mn-ea"/>
              </a:rPr>
              <a:t>&gt; </a:t>
            </a:r>
            <a:r>
              <a:rPr lang="ko-KR" altLang="en-US" sz="800" spc="-60" dirty="0" smtClean="0">
                <a:latin typeface="+mn-ea"/>
                <a:ea typeface="+mn-ea"/>
              </a:rPr>
              <a:t>비밀번호 등록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KNOU_MN_A04030000_04</a:t>
            </a:r>
            <a:endParaRPr lang="ko-KR" altLang="en-US" sz="800" spc="-6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7301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xmlns="" id="{8DE003C0-9934-45A4-9E6C-20CA63A95B6F}"/>
              </a:ext>
            </a:extLst>
          </p:cNvPr>
          <p:cNvSpPr txBox="1">
            <a:spLocks/>
          </p:cNvSpPr>
          <p:nvPr/>
        </p:nvSpPr>
        <p:spPr>
          <a:xfrm>
            <a:off x="528357" y="2952294"/>
            <a:ext cx="6944923" cy="910929"/>
          </a:xfrm>
          <a:prstGeom prst="rect">
            <a:avLst/>
          </a:prstGeom>
        </p:spPr>
        <p:txBody>
          <a:bodyPr/>
          <a:lstStyle/>
          <a:p>
            <a:pPr defTabSz="614302">
              <a:defRPr/>
            </a:pP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공통 </a:t>
            </a:r>
            <a:r>
              <a:rPr lang="en-US" altLang="ko-KR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 </a:t>
            </a:r>
            <a:r>
              <a:rPr lang="ko-KR" altLang="en-US" sz="2957" b="1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강의맛보기</a:t>
            </a:r>
            <a:endParaRPr lang="en-US" altLang="ko-KR" sz="1625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1750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강의맛보기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강의맛보기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강의맛보</a:t>
            </a:r>
            <a:r>
              <a:rPr lang="ko-KR" altLang="en-US" sz="800" spc="-60" dirty="0">
                <a:latin typeface="+mn-ea"/>
                <a:ea typeface="+mn-ea"/>
              </a:rPr>
              <a:t>기</a:t>
            </a:r>
          </a:p>
        </p:txBody>
      </p:sp>
      <p:pic>
        <p:nvPicPr>
          <p:cNvPr id="58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2" name="TextBox 521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KNOU_MN_A05000000_01</a:t>
            </a:r>
            <a:endParaRPr lang="ko-KR" altLang="en-US" sz="800" spc="-60" dirty="0">
              <a:latin typeface="+mn-ea"/>
            </a:endParaRPr>
          </a:p>
        </p:txBody>
      </p:sp>
      <p:grpSp>
        <p:nvGrpSpPr>
          <p:cNvPr id="523" name="그룹 522"/>
          <p:cNvGrpSpPr/>
          <p:nvPr/>
        </p:nvGrpSpPr>
        <p:grpSpPr>
          <a:xfrm>
            <a:off x="508268" y="1861821"/>
            <a:ext cx="8892000" cy="223200"/>
            <a:chOff x="559370" y="2267346"/>
            <a:chExt cx="8892000" cy="223200"/>
          </a:xfrm>
        </p:grpSpPr>
        <p:sp>
          <p:nvSpPr>
            <p:cNvPr id="524" name="직사각형 523"/>
            <p:cNvSpPr/>
            <p:nvPr/>
          </p:nvSpPr>
          <p:spPr>
            <a:xfrm>
              <a:off x="559370" y="2267346"/>
              <a:ext cx="8892000" cy="223200"/>
            </a:xfrm>
            <a:prstGeom prst="rect">
              <a:avLst/>
            </a:prstGeom>
            <a:solidFill>
              <a:srgbClr val="E0E6E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grpSp>
          <p:nvGrpSpPr>
            <p:cNvPr id="525" name="그룹 524"/>
            <p:cNvGrpSpPr/>
            <p:nvPr/>
          </p:nvGrpSpPr>
          <p:grpSpPr>
            <a:xfrm>
              <a:off x="596648" y="2286397"/>
              <a:ext cx="1188000" cy="180000"/>
              <a:chOff x="524640" y="2276872"/>
              <a:chExt cx="1188000" cy="180000"/>
            </a:xfrm>
          </p:grpSpPr>
          <p:sp>
            <p:nvSpPr>
              <p:cNvPr id="526" name="모서리가 둥근 직사각형 525"/>
              <p:cNvSpPr/>
              <p:nvPr/>
            </p:nvSpPr>
            <p:spPr bwMode="auto">
              <a:xfrm>
                <a:off x="524640" y="2276872"/>
                <a:ext cx="1188000" cy="180000"/>
              </a:xfrm>
              <a:prstGeom prst="roundRect">
                <a:avLst/>
              </a:prstGeom>
              <a:noFill/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defTabSz="851489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itchFamily="34" charset="0"/>
                  </a:rPr>
                  <a:t>   강의맛보기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Calibri" pitchFamily="34" charset="0"/>
                </a:endParaRPr>
              </a:p>
            </p:txBody>
          </p:sp>
          <p:pic>
            <p:nvPicPr>
              <p:cNvPr id="579" name="Picture 5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952" y="2308159"/>
                <a:ext cx="132000" cy="108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aphicFrame>
        <p:nvGraphicFramePr>
          <p:cNvPr id="713" name="표 7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474361"/>
              </p:ext>
            </p:extLst>
          </p:nvPr>
        </p:nvGraphicFramePr>
        <p:xfrm>
          <a:off x="517795" y="2438019"/>
          <a:ext cx="8882476" cy="2523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358"/>
                <a:gridCol w="2512480"/>
                <a:gridCol w="2512480"/>
                <a:gridCol w="816091"/>
                <a:gridCol w="816091"/>
                <a:gridCol w="816091"/>
                <a:gridCol w="990885"/>
              </a:tblGrid>
              <a:tr h="2314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과목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목차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담당교수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학사년도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강의맛보기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고전문학의창작관습과문예미학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분석의 전제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박영민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창작세미나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현대성과 시적 인식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이영주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문학의 언어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문학과 언어학 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송정근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소설창작연습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소설창작방법론의 허와 실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김종광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예술로만나는아프리카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정체성 찾기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박재연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영어의 역사와 영어교육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게르만어로서의 영어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이동국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TESOL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오프라인 출석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박윤주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영상영어세미나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영상매체의 특징 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영화 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You’ve Got Mail(1)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이원주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미디어영어세미나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COVID-19 [1]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손향숙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영국문화론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The History of Western Theater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한예림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503362" y="2161431"/>
            <a:ext cx="8887595" cy="188148"/>
            <a:chOff x="503362" y="2161431"/>
            <a:chExt cx="8887595" cy="188148"/>
          </a:xfrm>
        </p:grpSpPr>
        <p:grpSp>
          <p:nvGrpSpPr>
            <p:cNvPr id="701" name="그룹 700"/>
            <p:cNvGrpSpPr/>
            <p:nvPr/>
          </p:nvGrpSpPr>
          <p:grpSpPr>
            <a:xfrm>
              <a:off x="4901187" y="2162379"/>
              <a:ext cx="2002503" cy="187200"/>
              <a:chOff x="6363052" y="391134"/>
              <a:chExt cx="2002503" cy="187200"/>
            </a:xfrm>
          </p:grpSpPr>
          <p:sp>
            <p:nvSpPr>
              <p:cNvPr id="702" name="직사각형 701"/>
              <p:cNvSpPr/>
              <p:nvPr/>
            </p:nvSpPr>
            <p:spPr>
              <a:xfrm>
                <a:off x="6363052" y="395519"/>
                <a:ext cx="1800000" cy="180000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과목</a:t>
                </a:r>
                <a:r>
                  <a:rPr lang="en-US" altLang="ko-KR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목차</a:t>
                </a:r>
                <a:r>
                  <a:rPr lang="en-US" altLang="ko-KR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담당교수 입력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703" name="Picture 4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60525" y="391134"/>
                <a:ext cx="205030" cy="18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34" name="Rectangle 122"/>
            <p:cNvSpPr>
              <a:spLocks noChangeArrowheads="1"/>
            </p:cNvSpPr>
            <p:nvPr/>
          </p:nvSpPr>
          <p:spPr bwMode="auto">
            <a:xfrm>
              <a:off x="8426382" y="2161431"/>
              <a:ext cx="396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10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5" name="Rectangle 122"/>
            <p:cNvSpPr>
              <a:spLocks noChangeArrowheads="1"/>
            </p:cNvSpPr>
            <p:nvPr/>
          </p:nvSpPr>
          <p:spPr bwMode="auto">
            <a:xfrm>
              <a:off x="503362" y="2161431"/>
              <a:ext cx="14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기관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선택        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6" name="Rectangle 122"/>
            <p:cNvSpPr>
              <a:spLocks noChangeArrowheads="1"/>
            </p:cNvSpPr>
            <p:nvPr/>
          </p:nvSpPr>
          <p:spPr bwMode="auto">
            <a:xfrm>
              <a:off x="3436640" y="2161431"/>
              <a:ext cx="14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과목 선택                  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7" name="Rectangle 122"/>
            <p:cNvSpPr>
              <a:spLocks noChangeArrowheads="1"/>
            </p:cNvSpPr>
            <p:nvPr/>
          </p:nvSpPr>
          <p:spPr bwMode="auto">
            <a:xfrm>
              <a:off x="8850957" y="2166764"/>
              <a:ext cx="5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보기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8" name="Rectangle 122"/>
            <p:cNvSpPr>
              <a:spLocks noChangeArrowheads="1"/>
            </p:cNvSpPr>
            <p:nvPr/>
          </p:nvSpPr>
          <p:spPr bwMode="auto">
            <a:xfrm>
              <a:off x="1972257" y="2166764"/>
              <a:ext cx="14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학과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선택                  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39" name="직사각형 738"/>
          <p:cNvSpPr/>
          <p:nvPr/>
        </p:nvSpPr>
        <p:spPr>
          <a:xfrm>
            <a:off x="8289871" y="1889323"/>
            <a:ext cx="1080000" cy="162000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년도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▼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40" name="그룹 74"/>
          <p:cNvGrpSpPr>
            <a:grpSpLocks/>
          </p:cNvGrpSpPr>
          <p:nvPr/>
        </p:nvGrpSpPr>
        <p:grpSpPr bwMode="auto">
          <a:xfrm>
            <a:off x="4107954" y="5042331"/>
            <a:ext cx="1678948" cy="215444"/>
            <a:chOff x="5843761" y="3953547"/>
            <a:chExt cx="1769478" cy="256728"/>
          </a:xfrm>
        </p:grpSpPr>
        <p:sp>
          <p:nvSpPr>
            <p:cNvPr id="741" name="TextBox 40"/>
            <p:cNvSpPr txBox="1">
              <a:spLocks noChangeArrowheads="1"/>
            </p:cNvSpPr>
            <p:nvPr/>
          </p:nvSpPr>
          <p:spPr bwMode="auto">
            <a:xfrm>
              <a:off x="5843761" y="3953547"/>
              <a:ext cx="302747" cy="256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◀</a:t>
              </a:r>
            </a:p>
          </p:txBody>
        </p:sp>
        <p:grpSp>
          <p:nvGrpSpPr>
            <p:cNvPr id="742" name="그룹 86"/>
            <p:cNvGrpSpPr>
              <a:grpSpLocks/>
            </p:cNvGrpSpPr>
            <p:nvPr/>
          </p:nvGrpSpPr>
          <p:grpSpPr bwMode="auto">
            <a:xfrm>
              <a:off x="5889794" y="3953547"/>
              <a:ext cx="1723445" cy="256728"/>
              <a:chOff x="5889794" y="3953547"/>
              <a:chExt cx="1723445" cy="256728"/>
            </a:xfrm>
          </p:grpSpPr>
          <p:sp>
            <p:nvSpPr>
              <p:cNvPr id="743" name="TextBox 41"/>
              <p:cNvSpPr txBox="1">
                <a:spLocks noChangeArrowheads="1"/>
              </p:cNvSpPr>
              <p:nvPr/>
            </p:nvSpPr>
            <p:spPr bwMode="auto">
              <a:xfrm>
                <a:off x="5889794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◀</a:t>
                </a:r>
              </a:p>
            </p:txBody>
          </p:sp>
          <p:sp>
            <p:nvSpPr>
              <p:cNvPr id="744" name="TextBox 43"/>
              <p:cNvSpPr txBox="1">
                <a:spLocks noChangeArrowheads="1"/>
              </p:cNvSpPr>
              <p:nvPr/>
            </p:nvSpPr>
            <p:spPr bwMode="auto">
              <a:xfrm>
                <a:off x="6321558" y="3953547"/>
                <a:ext cx="804512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ko-KR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1</a:t>
                </a:r>
                <a:r>
                  <a:rPr lang="en-US" altLang="ko-KR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  2  3  4  5</a:t>
                </a:r>
                <a:endPara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745" name="TextBox 44"/>
              <p:cNvSpPr txBox="1">
                <a:spLocks noChangeArrowheads="1"/>
              </p:cNvSpPr>
              <p:nvPr/>
            </p:nvSpPr>
            <p:spPr bwMode="auto">
              <a:xfrm>
                <a:off x="6034245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◀</a:t>
                </a:r>
              </a:p>
            </p:txBody>
          </p:sp>
          <p:sp>
            <p:nvSpPr>
              <p:cNvPr id="746" name="TextBox 45"/>
              <p:cNvSpPr txBox="1">
                <a:spLocks noChangeArrowheads="1"/>
              </p:cNvSpPr>
              <p:nvPr/>
            </p:nvSpPr>
            <p:spPr bwMode="auto">
              <a:xfrm>
                <a:off x="7118419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▶</a:t>
                </a:r>
              </a:p>
            </p:txBody>
          </p:sp>
          <p:sp>
            <p:nvSpPr>
              <p:cNvPr id="747" name="TextBox 46"/>
              <p:cNvSpPr txBox="1">
                <a:spLocks noChangeArrowheads="1"/>
              </p:cNvSpPr>
              <p:nvPr/>
            </p:nvSpPr>
            <p:spPr bwMode="auto">
              <a:xfrm>
                <a:off x="7270806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▶</a:t>
                </a:r>
              </a:p>
            </p:txBody>
          </p:sp>
          <p:sp>
            <p:nvSpPr>
              <p:cNvPr id="748" name="TextBox 47"/>
              <p:cNvSpPr txBox="1">
                <a:spLocks noChangeArrowheads="1"/>
              </p:cNvSpPr>
              <p:nvPr/>
            </p:nvSpPr>
            <p:spPr bwMode="auto">
              <a:xfrm>
                <a:off x="7310492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▶</a:t>
                </a:r>
              </a:p>
            </p:txBody>
          </p:sp>
        </p:grpSp>
      </p:grpSp>
      <p:sp>
        <p:nvSpPr>
          <p:cNvPr id="749" name="직사각형 748"/>
          <p:cNvSpPr/>
          <p:nvPr/>
        </p:nvSpPr>
        <p:spPr>
          <a:xfrm>
            <a:off x="8559807" y="2699395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0" name="직사각형 749"/>
          <p:cNvSpPr/>
          <p:nvPr/>
        </p:nvSpPr>
        <p:spPr>
          <a:xfrm>
            <a:off x="8562925" y="2926010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1" name="직사각형 750"/>
          <p:cNvSpPr/>
          <p:nvPr/>
        </p:nvSpPr>
        <p:spPr>
          <a:xfrm>
            <a:off x="8562925" y="3155826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2" name="직사각형 751"/>
          <p:cNvSpPr/>
          <p:nvPr/>
        </p:nvSpPr>
        <p:spPr>
          <a:xfrm>
            <a:off x="8566043" y="3382441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3" name="직사각형 752"/>
          <p:cNvSpPr/>
          <p:nvPr/>
        </p:nvSpPr>
        <p:spPr>
          <a:xfrm>
            <a:off x="8562925" y="3620641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4" name="직사각형 753"/>
          <p:cNvSpPr/>
          <p:nvPr/>
        </p:nvSpPr>
        <p:spPr>
          <a:xfrm>
            <a:off x="8566043" y="3847256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5" name="직사각형 754"/>
          <p:cNvSpPr/>
          <p:nvPr/>
        </p:nvSpPr>
        <p:spPr>
          <a:xfrm>
            <a:off x="8566043" y="4077072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6" name="직사각형 755"/>
          <p:cNvSpPr/>
          <p:nvPr/>
        </p:nvSpPr>
        <p:spPr>
          <a:xfrm>
            <a:off x="8569161" y="4303687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7" name="직사각형 756"/>
          <p:cNvSpPr/>
          <p:nvPr/>
        </p:nvSpPr>
        <p:spPr>
          <a:xfrm>
            <a:off x="8562925" y="4533503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8" name="직사각형 757"/>
          <p:cNvSpPr/>
          <p:nvPr/>
        </p:nvSpPr>
        <p:spPr>
          <a:xfrm>
            <a:off x="8566043" y="4760118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59" name="그룹 758"/>
          <p:cNvGrpSpPr/>
          <p:nvPr/>
        </p:nvGrpSpPr>
        <p:grpSpPr>
          <a:xfrm>
            <a:off x="1922363" y="1991077"/>
            <a:ext cx="234360" cy="200055"/>
            <a:chOff x="1156433" y="11706839"/>
            <a:chExt cx="234360" cy="200055"/>
          </a:xfrm>
        </p:grpSpPr>
        <p:sp>
          <p:nvSpPr>
            <p:cNvPr id="760" name="모서리가 둥근 직사각형 75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1" name="직사각형 76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762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785906"/>
              </p:ext>
            </p:extLst>
          </p:nvPr>
        </p:nvGraphicFramePr>
        <p:xfrm>
          <a:off x="9496933" y="1494927"/>
          <a:ext cx="1404156" cy="420324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현재 학사년도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학기 기본 선택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학과가 없는 경우 숨김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10, 20, 30, 50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통합관리자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수업운영도구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콘텐츠관리 </a:t>
                      </a:r>
                      <a:r>
                        <a:rPr lang="en-US" altLang="ko-KR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학습목차연동에서 설정한 목차  목록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강의 맛보기 팝업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763" name="그룹 762"/>
          <p:cNvGrpSpPr/>
          <p:nvPr/>
        </p:nvGrpSpPr>
        <p:grpSpPr>
          <a:xfrm>
            <a:off x="8241859" y="1715576"/>
            <a:ext cx="234360" cy="200055"/>
            <a:chOff x="1156433" y="11706839"/>
            <a:chExt cx="234360" cy="200055"/>
          </a:xfrm>
        </p:grpSpPr>
        <p:sp>
          <p:nvSpPr>
            <p:cNvPr id="764" name="모서리가 둥근 직사각형 76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5" name="직사각형 76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66" name="그룹 765"/>
          <p:cNvGrpSpPr/>
          <p:nvPr/>
        </p:nvGrpSpPr>
        <p:grpSpPr>
          <a:xfrm>
            <a:off x="8319436" y="2060026"/>
            <a:ext cx="234360" cy="200055"/>
            <a:chOff x="1156433" y="11706839"/>
            <a:chExt cx="234360" cy="200055"/>
          </a:xfrm>
        </p:grpSpPr>
        <p:sp>
          <p:nvSpPr>
            <p:cNvPr id="767" name="모서리가 둥근 직사각형 76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68" name="직사각형 76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69" name="그룹 768"/>
          <p:cNvGrpSpPr/>
          <p:nvPr/>
        </p:nvGrpSpPr>
        <p:grpSpPr>
          <a:xfrm>
            <a:off x="4798988" y="2451715"/>
            <a:ext cx="234360" cy="200055"/>
            <a:chOff x="1156433" y="11706839"/>
            <a:chExt cx="234360" cy="200055"/>
          </a:xfrm>
        </p:grpSpPr>
        <p:sp>
          <p:nvSpPr>
            <p:cNvPr id="770" name="모서리가 둥근 직사각형 76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1" name="직사각형 77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72" name="그룹 771"/>
          <p:cNvGrpSpPr/>
          <p:nvPr/>
        </p:nvGrpSpPr>
        <p:grpSpPr>
          <a:xfrm>
            <a:off x="8451944" y="2599390"/>
            <a:ext cx="234360" cy="200055"/>
            <a:chOff x="1156433" y="11706839"/>
            <a:chExt cx="234360" cy="200055"/>
          </a:xfrm>
        </p:grpSpPr>
        <p:sp>
          <p:nvSpPr>
            <p:cNvPr id="773" name="모서리가 둥근 직사각형 77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4" name="직사각형 77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23485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제목 8"/>
          <p:cNvSpPr txBox="1">
            <a:spLocks/>
          </p:cNvSpPr>
          <p:nvPr/>
        </p:nvSpPr>
        <p:spPr>
          <a:xfrm>
            <a:off x="406400" y="177121"/>
            <a:ext cx="9026525" cy="33178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en-US" altLang="ko-KR" sz="1400" b="1" dirty="0" smtClean="0">
                <a:latin typeface="+mn-ea"/>
                <a:ea typeface="+mn-ea"/>
              </a:rPr>
              <a:t>. UI </a:t>
            </a:r>
            <a:r>
              <a:rPr lang="ko-KR" altLang="en-US" sz="1400" b="1" dirty="0" smtClean="0">
                <a:latin typeface="+mn-ea"/>
                <a:ea typeface="+mn-ea"/>
              </a:rPr>
              <a:t>설계서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47512" y="868304"/>
            <a:ext cx="2683319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강의맛보기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248412" y="1086644"/>
            <a:ext cx="320001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강의맛보기</a:t>
            </a:r>
            <a:endParaRPr lang="ko-KR" altLang="en-US" sz="800" spc="-60" dirty="0">
              <a:latin typeface="+mn-ea"/>
              <a:ea typeface="+mn-ea"/>
            </a:endParaRPr>
          </a:p>
        </p:txBody>
      </p:sp>
      <p:sp>
        <p:nvSpPr>
          <p:cNvPr id="457" name="슬라이드 번호 개체 틀 5"/>
          <p:cNvSpPr txBox="1">
            <a:spLocks/>
          </p:cNvSpPr>
          <p:nvPr/>
        </p:nvSpPr>
        <p:spPr>
          <a:xfrm>
            <a:off x="9442450" y="-905"/>
            <a:ext cx="473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9B6A1E78-535E-4C4C-9FBF-3AAF332AFC10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4" name="그룹 333"/>
          <p:cNvGrpSpPr/>
          <p:nvPr/>
        </p:nvGrpSpPr>
        <p:grpSpPr>
          <a:xfrm>
            <a:off x="416496" y="5942469"/>
            <a:ext cx="9064800" cy="510867"/>
            <a:chOff x="416496" y="8966805"/>
            <a:chExt cx="9064800" cy="510867"/>
          </a:xfrm>
        </p:grpSpPr>
        <p:sp>
          <p:nvSpPr>
            <p:cNvPr id="336" name="직사각형 335"/>
            <p:cNvSpPr/>
            <p:nvPr/>
          </p:nvSpPr>
          <p:spPr>
            <a:xfrm>
              <a:off x="416496" y="8966805"/>
              <a:ext cx="9064800" cy="5108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7" name="직사각형 336"/>
            <p:cNvSpPr/>
            <p:nvPr/>
          </p:nvSpPr>
          <p:spPr>
            <a:xfrm>
              <a:off x="433450" y="8998416"/>
              <a:ext cx="69960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(03087)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서울시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종로구 대학로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86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동숭동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한국방송통신대학교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/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대표전화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1577-9995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COPYRIGHT ©KOREA NATIONAL OPEN UNIVERSITY. ALL RIGHTS RESERVED.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직사각형 337"/>
            <p:cNvSpPr/>
            <p:nvPr/>
          </p:nvSpPr>
          <p:spPr>
            <a:xfrm>
              <a:off x="8193360" y="9253189"/>
              <a:ext cx="1152000" cy="16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개인정보처리방침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97" y="9050807"/>
              <a:ext cx="360000" cy="3548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4" name="TextBox 373"/>
          <p:cNvSpPr txBox="1"/>
          <p:nvPr/>
        </p:nvSpPr>
        <p:spPr>
          <a:xfrm>
            <a:off x="6147526" y="868304"/>
            <a:ext cx="3206588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800" spc="-60" dirty="0" smtClean="0">
                <a:latin typeface="+mn-ea"/>
                <a:ea typeface="+mn-ea"/>
              </a:rPr>
              <a:t>강의맛보</a:t>
            </a:r>
            <a:r>
              <a:rPr lang="ko-KR" altLang="en-US" sz="800" spc="-60" dirty="0">
                <a:latin typeface="+mn-ea"/>
                <a:ea typeface="+mn-ea"/>
              </a:rPr>
              <a:t>기</a:t>
            </a:r>
          </a:p>
        </p:txBody>
      </p:sp>
      <p:pic>
        <p:nvPicPr>
          <p:cNvPr id="58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4" y="1537742"/>
            <a:ext cx="1696153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2" name="TextBox 521"/>
          <p:cNvSpPr txBox="1"/>
          <p:nvPr/>
        </p:nvSpPr>
        <p:spPr>
          <a:xfrm>
            <a:off x="2257038" y="648606"/>
            <a:ext cx="1603292" cy="2164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spc="-60" dirty="0" smtClean="0">
                <a:latin typeface="+mn-ea"/>
              </a:rPr>
              <a:t>KNOU_MN_A05000000_02</a:t>
            </a:r>
            <a:endParaRPr lang="ko-KR" altLang="en-US" sz="800" spc="-60" dirty="0">
              <a:latin typeface="+mn-ea"/>
            </a:endParaRPr>
          </a:p>
        </p:txBody>
      </p:sp>
      <p:grpSp>
        <p:nvGrpSpPr>
          <p:cNvPr id="523" name="그룹 522"/>
          <p:cNvGrpSpPr/>
          <p:nvPr/>
        </p:nvGrpSpPr>
        <p:grpSpPr>
          <a:xfrm>
            <a:off x="508268" y="1861821"/>
            <a:ext cx="8892000" cy="223200"/>
            <a:chOff x="559370" y="2267346"/>
            <a:chExt cx="8892000" cy="223200"/>
          </a:xfrm>
        </p:grpSpPr>
        <p:sp>
          <p:nvSpPr>
            <p:cNvPr id="524" name="직사각형 523"/>
            <p:cNvSpPr/>
            <p:nvPr/>
          </p:nvSpPr>
          <p:spPr>
            <a:xfrm>
              <a:off x="559370" y="2267346"/>
              <a:ext cx="8892000" cy="223200"/>
            </a:xfrm>
            <a:prstGeom prst="rect">
              <a:avLst/>
            </a:prstGeom>
            <a:solidFill>
              <a:srgbClr val="E0E6E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grpSp>
          <p:nvGrpSpPr>
            <p:cNvPr id="525" name="그룹 524"/>
            <p:cNvGrpSpPr/>
            <p:nvPr/>
          </p:nvGrpSpPr>
          <p:grpSpPr>
            <a:xfrm>
              <a:off x="596648" y="2286397"/>
              <a:ext cx="1188000" cy="180000"/>
              <a:chOff x="524640" y="2276872"/>
              <a:chExt cx="1188000" cy="180000"/>
            </a:xfrm>
          </p:grpSpPr>
          <p:sp>
            <p:nvSpPr>
              <p:cNvPr id="526" name="모서리가 둥근 직사각형 525"/>
              <p:cNvSpPr/>
              <p:nvPr/>
            </p:nvSpPr>
            <p:spPr bwMode="auto">
              <a:xfrm>
                <a:off x="524640" y="2276872"/>
                <a:ext cx="1188000" cy="180000"/>
              </a:xfrm>
              <a:prstGeom prst="roundRect">
                <a:avLst/>
              </a:prstGeom>
              <a:noFill/>
              <a:ln w="63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defTabSz="851489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Calibri" pitchFamily="34" charset="0"/>
                  </a:rPr>
                  <a:t>   강의맛보기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Calibri" pitchFamily="34" charset="0"/>
                </a:endParaRPr>
              </a:p>
            </p:txBody>
          </p:sp>
          <p:pic>
            <p:nvPicPr>
              <p:cNvPr id="579" name="Picture 5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952" y="2308159"/>
                <a:ext cx="132000" cy="108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aphicFrame>
        <p:nvGraphicFramePr>
          <p:cNvPr id="713" name="표 7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580273"/>
              </p:ext>
            </p:extLst>
          </p:nvPr>
        </p:nvGraphicFramePr>
        <p:xfrm>
          <a:off x="517795" y="2438019"/>
          <a:ext cx="8882476" cy="2523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358"/>
                <a:gridCol w="2512480"/>
                <a:gridCol w="2512480"/>
                <a:gridCol w="816091"/>
                <a:gridCol w="816091"/>
                <a:gridCol w="816091"/>
                <a:gridCol w="990885"/>
              </a:tblGrid>
              <a:tr h="2314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과목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목차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담당교수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학사년도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강의맛보기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고전문학의창작관습과문예미학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분석의 전제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박영민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창작세미나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현대성과 시적 인식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이영주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문학의 언어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문학과 언어학 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송정근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소설창작연습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소설창작방법론의 허와 실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김종광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예술로만나는아프리카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정체성 찾기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박재연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영어의 역사와 영어교육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게르만어로서의 영어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이동국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TESOL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오프라인 출석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박윤주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영상영어세미나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영상매체의 특징 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영화 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You’ve Got Mail(1)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이원주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미디어영어세미나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COVID-19 [1]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손향숙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227"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영국문화론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1"/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강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The History of Western Theater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ko-KR" altLang="en-US" sz="8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한예림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 smtClean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학기</a:t>
                      </a:r>
                      <a:endParaRPr lang="ko-KR" altLang="en-US" sz="800" dirty="0"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503362" y="2161431"/>
            <a:ext cx="8887595" cy="188148"/>
            <a:chOff x="503362" y="2161431"/>
            <a:chExt cx="8887595" cy="188148"/>
          </a:xfrm>
        </p:grpSpPr>
        <p:grpSp>
          <p:nvGrpSpPr>
            <p:cNvPr id="701" name="그룹 700"/>
            <p:cNvGrpSpPr/>
            <p:nvPr/>
          </p:nvGrpSpPr>
          <p:grpSpPr>
            <a:xfrm>
              <a:off x="4901187" y="2162379"/>
              <a:ext cx="2002503" cy="187200"/>
              <a:chOff x="6363052" y="391134"/>
              <a:chExt cx="2002503" cy="187200"/>
            </a:xfrm>
          </p:grpSpPr>
          <p:sp>
            <p:nvSpPr>
              <p:cNvPr id="702" name="직사각형 701"/>
              <p:cNvSpPr/>
              <p:nvPr/>
            </p:nvSpPr>
            <p:spPr>
              <a:xfrm>
                <a:off x="6363052" y="395519"/>
                <a:ext cx="1800000" cy="180000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과목</a:t>
                </a:r>
                <a:r>
                  <a:rPr lang="en-US" altLang="ko-KR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목차</a:t>
                </a:r>
                <a:r>
                  <a:rPr lang="en-US" altLang="ko-KR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/</a:t>
                </a:r>
                <a:r>
                  <a:rPr lang="ko-KR" altLang="en-US" sz="8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담당교수 입력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703" name="Picture 4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60525" y="391134"/>
                <a:ext cx="205030" cy="18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34" name="Rectangle 122"/>
            <p:cNvSpPr>
              <a:spLocks noChangeArrowheads="1"/>
            </p:cNvSpPr>
            <p:nvPr/>
          </p:nvSpPr>
          <p:spPr bwMode="auto">
            <a:xfrm>
              <a:off x="8426382" y="2161431"/>
              <a:ext cx="396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10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5" name="Rectangle 122"/>
            <p:cNvSpPr>
              <a:spLocks noChangeArrowheads="1"/>
            </p:cNvSpPr>
            <p:nvPr/>
          </p:nvSpPr>
          <p:spPr bwMode="auto">
            <a:xfrm>
              <a:off x="503362" y="2161431"/>
              <a:ext cx="14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기관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선택        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6" name="Rectangle 122"/>
            <p:cNvSpPr>
              <a:spLocks noChangeArrowheads="1"/>
            </p:cNvSpPr>
            <p:nvPr/>
          </p:nvSpPr>
          <p:spPr bwMode="auto">
            <a:xfrm>
              <a:off x="3436640" y="2161431"/>
              <a:ext cx="14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과목 선택                  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7" name="Rectangle 122"/>
            <p:cNvSpPr>
              <a:spLocks noChangeArrowheads="1"/>
            </p:cNvSpPr>
            <p:nvPr/>
          </p:nvSpPr>
          <p:spPr bwMode="auto">
            <a:xfrm>
              <a:off x="8850957" y="2166764"/>
              <a:ext cx="5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보기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38" name="Rectangle 122"/>
            <p:cNvSpPr>
              <a:spLocks noChangeArrowheads="1"/>
            </p:cNvSpPr>
            <p:nvPr/>
          </p:nvSpPr>
          <p:spPr bwMode="auto">
            <a:xfrm>
              <a:off x="1972257" y="2166764"/>
              <a:ext cx="1440000" cy="180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3924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학과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선택                  </a:t>
              </a:r>
              <a:r>
                <a:rPr lang="en-US" altLang="ko-KR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</a:t>
              </a:r>
              <a:r>
                <a:rPr lang="ko-KR" altLang="en-US" sz="8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 </a:t>
              </a:r>
              <a:endPara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39" name="직사각형 738"/>
          <p:cNvSpPr/>
          <p:nvPr/>
        </p:nvSpPr>
        <p:spPr>
          <a:xfrm>
            <a:off x="8289871" y="1889323"/>
            <a:ext cx="1080000" cy="162000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년도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   ▼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40" name="그룹 74"/>
          <p:cNvGrpSpPr>
            <a:grpSpLocks/>
          </p:cNvGrpSpPr>
          <p:nvPr/>
        </p:nvGrpSpPr>
        <p:grpSpPr bwMode="auto">
          <a:xfrm>
            <a:off x="4107954" y="5042331"/>
            <a:ext cx="1678948" cy="215444"/>
            <a:chOff x="5843761" y="3953547"/>
            <a:chExt cx="1769478" cy="256728"/>
          </a:xfrm>
        </p:grpSpPr>
        <p:sp>
          <p:nvSpPr>
            <p:cNvPr id="741" name="TextBox 40"/>
            <p:cNvSpPr txBox="1">
              <a:spLocks noChangeArrowheads="1"/>
            </p:cNvSpPr>
            <p:nvPr/>
          </p:nvSpPr>
          <p:spPr bwMode="auto">
            <a:xfrm>
              <a:off x="5843761" y="3953547"/>
              <a:ext cx="302747" cy="256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돋움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◀</a:t>
              </a:r>
            </a:p>
          </p:txBody>
        </p:sp>
        <p:grpSp>
          <p:nvGrpSpPr>
            <p:cNvPr id="742" name="그룹 86"/>
            <p:cNvGrpSpPr>
              <a:grpSpLocks/>
            </p:cNvGrpSpPr>
            <p:nvPr/>
          </p:nvGrpSpPr>
          <p:grpSpPr bwMode="auto">
            <a:xfrm>
              <a:off x="5889794" y="3953547"/>
              <a:ext cx="1723445" cy="256728"/>
              <a:chOff x="5889794" y="3953547"/>
              <a:chExt cx="1723445" cy="256728"/>
            </a:xfrm>
          </p:grpSpPr>
          <p:sp>
            <p:nvSpPr>
              <p:cNvPr id="743" name="TextBox 41"/>
              <p:cNvSpPr txBox="1">
                <a:spLocks noChangeArrowheads="1"/>
              </p:cNvSpPr>
              <p:nvPr/>
            </p:nvSpPr>
            <p:spPr bwMode="auto">
              <a:xfrm>
                <a:off x="5889794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◀</a:t>
                </a:r>
              </a:p>
            </p:txBody>
          </p:sp>
          <p:sp>
            <p:nvSpPr>
              <p:cNvPr id="744" name="TextBox 43"/>
              <p:cNvSpPr txBox="1">
                <a:spLocks noChangeArrowheads="1"/>
              </p:cNvSpPr>
              <p:nvPr/>
            </p:nvSpPr>
            <p:spPr bwMode="auto">
              <a:xfrm>
                <a:off x="6321558" y="3953547"/>
                <a:ext cx="804512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ko-KR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1</a:t>
                </a:r>
                <a:r>
                  <a:rPr lang="en-US" altLang="ko-KR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  2  3  4  5</a:t>
                </a:r>
                <a:endPara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745" name="TextBox 44"/>
              <p:cNvSpPr txBox="1">
                <a:spLocks noChangeArrowheads="1"/>
              </p:cNvSpPr>
              <p:nvPr/>
            </p:nvSpPr>
            <p:spPr bwMode="auto">
              <a:xfrm>
                <a:off x="6034245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◀</a:t>
                </a:r>
              </a:p>
            </p:txBody>
          </p:sp>
          <p:sp>
            <p:nvSpPr>
              <p:cNvPr id="746" name="TextBox 45"/>
              <p:cNvSpPr txBox="1">
                <a:spLocks noChangeArrowheads="1"/>
              </p:cNvSpPr>
              <p:nvPr/>
            </p:nvSpPr>
            <p:spPr bwMode="auto">
              <a:xfrm>
                <a:off x="7118419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▶</a:t>
                </a:r>
              </a:p>
            </p:txBody>
          </p:sp>
          <p:sp>
            <p:nvSpPr>
              <p:cNvPr id="747" name="TextBox 46"/>
              <p:cNvSpPr txBox="1">
                <a:spLocks noChangeArrowheads="1"/>
              </p:cNvSpPr>
              <p:nvPr/>
            </p:nvSpPr>
            <p:spPr bwMode="auto">
              <a:xfrm>
                <a:off x="7270806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▶</a:t>
                </a:r>
              </a:p>
            </p:txBody>
          </p:sp>
          <p:sp>
            <p:nvSpPr>
              <p:cNvPr id="748" name="TextBox 47"/>
              <p:cNvSpPr txBox="1">
                <a:spLocks noChangeArrowheads="1"/>
              </p:cNvSpPr>
              <p:nvPr/>
            </p:nvSpPr>
            <p:spPr bwMode="auto">
              <a:xfrm>
                <a:off x="7310492" y="3953547"/>
                <a:ext cx="302747" cy="256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돋움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lang="ko-KR" alt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▶</a:t>
                </a:r>
              </a:p>
            </p:txBody>
          </p:sp>
        </p:grpSp>
      </p:grpSp>
      <p:sp>
        <p:nvSpPr>
          <p:cNvPr id="749" name="직사각형 748"/>
          <p:cNvSpPr/>
          <p:nvPr/>
        </p:nvSpPr>
        <p:spPr>
          <a:xfrm>
            <a:off x="8559807" y="2699395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0" name="직사각형 749"/>
          <p:cNvSpPr/>
          <p:nvPr/>
        </p:nvSpPr>
        <p:spPr>
          <a:xfrm>
            <a:off x="8562925" y="2926010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1" name="직사각형 750"/>
          <p:cNvSpPr/>
          <p:nvPr/>
        </p:nvSpPr>
        <p:spPr>
          <a:xfrm>
            <a:off x="8562925" y="3155826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2" name="직사각형 751"/>
          <p:cNvSpPr/>
          <p:nvPr/>
        </p:nvSpPr>
        <p:spPr>
          <a:xfrm>
            <a:off x="8566043" y="3382441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3" name="직사각형 752"/>
          <p:cNvSpPr/>
          <p:nvPr/>
        </p:nvSpPr>
        <p:spPr>
          <a:xfrm>
            <a:off x="8562925" y="3620641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4" name="직사각형 753"/>
          <p:cNvSpPr/>
          <p:nvPr/>
        </p:nvSpPr>
        <p:spPr>
          <a:xfrm>
            <a:off x="8566043" y="3847256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5" name="직사각형 754"/>
          <p:cNvSpPr/>
          <p:nvPr/>
        </p:nvSpPr>
        <p:spPr>
          <a:xfrm>
            <a:off x="8566043" y="4077072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6" name="직사각형 755"/>
          <p:cNvSpPr/>
          <p:nvPr/>
        </p:nvSpPr>
        <p:spPr>
          <a:xfrm>
            <a:off x="8569161" y="4303687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7" name="직사각형 756"/>
          <p:cNvSpPr/>
          <p:nvPr/>
        </p:nvSpPr>
        <p:spPr>
          <a:xfrm>
            <a:off x="8562925" y="4533503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8" name="직사각형 757"/>
          <p:cNvSpPr/>
          <p:nvPr/>
        </p:nvSpPr>
        <p:spPr>
          <a:xfrm>
            <a:off x="8566043" y="4760118"/>
            <a:ext cx="720000" cy="162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강의 맛보기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471104" y="1672233"/>
            <a:ext cx="7010288" cy="44210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 </a:t>
            </a:r>
            <a:r>
              <a:rPr lang="ko-KR" altLang="en-US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7488282" y="2166764"/>
            <a:ext cx="900000" cy="180000"/>
          </a:xfrm>
          <a:prstGeom prst="roundRect">
            <a:avLst/>
          </a:prstGeom>
          <a:solidFill>
            <a:srgbClr val="435C7A"/>
          </a:solidFill>
          <a:ln w="3175">
            <a:solidFill>
              <a:srgbClr val="435C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학습종료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1477566" y="1672233"/>
            <a:ext cx="7013351" cy="246221"/>
            <a:chOff x="1477566" y="2093134"/>
            <a:chExt cx="7013351" cy="246221"/>
          </a:xfrm>
        </p:grpSpPr>
        <p:sp>
          <p:nvSpPr>
            <p:cNvPr id="52" name="직사각형 51"/>
            <p:cNvSpPr/>
            <p:nvPr/>
          </p:nvSpPr>
          <p:spPr>
            <a:xfrm>
              <a:off x="1477566" y="2107438"/>
              <a:ext cx="6994800" cy="216000"/>
            </a:xfrm>
            <a:prstGeom prst="rect">
              <a:avLst/>
            </a:prstGeom>
            <a:solidFill>
              <a:srgbClr val="4E6A8C"/>
            </a:solidFill>
            <a:ln w="9525">
              <a:solidFill>
                <a:srgbClr val="4E6A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+mn-ea"/>
                  <a:sym typeface="Wingdings" pitchFamily="2" charset="2"/>
                </a:rPr>
                <a:t> </a:t>
              </a:r>
              <a:endParaRPr lang="en-US" altLang="ko-KR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8222895" y="2093134"/>
              <a:ext cx="26802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+mn-ea"/>
                </a:rPr>
                <a:t>X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487091" y="2114386"/>
              <a:ext cx="122341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학습하기 </a:t>
              </a:r>
              <a:r>
                <a:rPr lang="en-US" altLang="ko-KR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- </a:t>
              </a: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강의맛보기</a:t>
              </a:r>
              <a:endParaRPr lang="ko-KR" altLang="en-US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5" name="직사각형 54"/>
          <p:cNvSpPr/>
          <p:nvPr/>
        </p:nvSpPr>
        <p:spPr>
          <a:xfrm>
            <a:off x="1475470" y="1926357"/>
            <a:ext cx="472604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• </a:t>
            </a:r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고전문학의창작관습과문예미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학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1468520" y="2420888"/>
            <a:ext cx="700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2241079" y="2502421"/>
            <a:ext cx="2131465" cy="215444"/>
            <a:chOff x="1568624" y="2636912"/>
            <a:chExt cx="2131465" cy="215444"/>
          </a:xfrm>
        </p:grpSpPr>
        <p:sp>
          <p:nvSpPr>
            <p:cNvPr id="57" name="직사각형 56"/>
            <p:cNvSpPr/>
            <p:nvPr/>
          </p:nvSpPr>
          <p:spPr>
            <a:xfrm>
              <a:off x="1900089" y="2636912"/>
              <a:ext cx="1800000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콘텐츠제목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8" name="순서도: 대체 처리 57"/>
            <p:cNvSpPr/>
            <p:nvPr/>
          </p:nvSpPr>
          <p:spPr bwMode="auto">
            <a:xfrm>
              <a:off x="1568624" y="2675542"/>
              <a:ext cx="360000" cy="126000"/>
            </a:xfrm>
            <a:prstGeom prst="flowChartAlternateProcess">
              <a:avLst/>
            </a:prstGeom>
            <a:noFill/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bIns="36000" rtlCol="0" anchor="ctr"/>
            <a:lstStyle/>
            <a:p>
              <a:pPr algn="ctr" defTabSz="851489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Calibri" pitchFamily="34" charset="0"/>
                </a:rPr>
                <a:t>동영상</a:t>
              </a:r>
              <a:endParaRPr kumimoji="1" lang="ko-KR" altLang="en-US" sz="7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Calibri" pitchFamily="34" charset="0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477566" y="2146092"/>
            <a:ext cx="472604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[ 1</a:t>
            </a:r>
            <a:r>
              <a:rPr lang="ko-KR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차시 </a:t>
            </a:r>
            <a:r>
              <a: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 </a:t>
            </a:r>
            <a:r>
              <a:rPr lang="ko-KR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분석의 전제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834" y="2780928"/>
            <a:ext cx="5495903" cy="309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2" name="Group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625816"/>
              </p:ext>
            </p:extLst>
          </p:nvPr>
        </p:nvGraphicFramePr>
        <p:xfrm>
          <a:off x="9496933" y="1494927"/>
          <a:ext cx="1404156" cy="3471727"/>
        </p:xfrm>
        <a:graphic>
          <a:graphicData uri="http://schemas.openxmlformats.org/drawingml/2006/table">
            <a:tbl>
              <a:tblPr/>
              <a:tblGrid>
                <a:gridCol w="187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6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과목명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차시명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콘텐츠 제목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창 닫기</a:t>
                      </a: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7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kern="12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28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00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8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프로토타입의 </a:t>
                      </a:r>
                      <a:r>
                        <a:rPr lang="ko-KR" altLang="en-US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메인 </a:t>
                      </a:r>
                      <a:r>
                        <a:rPr lang="en-US" altLang="ko-KR" sz="8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구성이며 실제 구현단계에서 디자인에 따라 변경이 있을 수 있습니다</a:t>
                      </a:r>
                      <a:r>
                        <a:rPr lang="en-US" altLang="ko-KR" sz="8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8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63" name="그룹 62"/>
          <p:cNvGrpSpPr/>
          <p:nvPr/>
        </p:nvGrpSpPr>
        <p:grpSpPr>
          <a:xfrm>
            <a:off x="1341815" y="1913541"/>
            <a:ext cx="234360" cy="200055"/>
            <a:chOff x="1156433" y="11706839"/>
            <a:chExt cx="234360" cy="200055"/>
          </a:xfrm>
        </p:grpSpPr>
        <p:sp>
          <p:nvSpPr>
            <p:cNvPr id="64" name="모서리가 둥근 직사각형 63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1343075" y="2148825"/>
            <a:ext cx="234360" cy="200055"/>
            <a:chOff x="1156433" y="11706839"/>
            <a:chExt cx="234360" cy="200055"/>
          </a:xfrm>
        </p:grpSpPr>
        <p:sp>
          <p:nvSpPr>
            <p:cNvPr id="67" name="모서리가 둥근 직사각형 66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2010911" y="2502421"/>
            <a:ext cx="234360" cy="200055"/>
            <a:chOff x="1156433" y="11706839"/>
            <a:chExt cx="234360" cy="200055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7429847" y="1984297"/>
            <a:ext cx="234360" cy="200055"/>
            <a:chOff x="1156433" y="11706839"/>
            <a:chExt cx="234360" cy="200055"/>
          </a:xfrm>
        </p:grpSpPr>
        <p:sp>
          <p:nvSpPr>
            <p:cNvPr id="73" name="모서리가 둥근 직사각형 72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8236229" y="1554189"/>
            <a:ext cx="234360" cy="200055"/>
            <a:chOff x="1156433" y="11706839"/>
            <a:chExt cx="234360" cy="200055"/>
          </a:xfrm>
        </p:grpSpPr>
        <p:sp>
          <p:nvSpPr>
            <p:cNvPr id="76" name="모서리가 둥근 직사각형 75"/>
            <p:cNvSpPr/>
            <p:nvPr/>
          </p:nvSpPr>
          <p:spPr>
            <a:xfrm>
              <a:off x="1208584" y="11754308"/>
              <a:ext cx="118457" cy="113790"/>
            </a:xfrm>
            <a:prstGeom prst="roundRect">
              <a:avLst/>
            </a:prstGeom>
            <a:solidFill>
              <a:srgbClr val="FF0000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156433" y="11706839"/>
              <a:ext cx="234360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2667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heme/theme1.xml><?xml version="1.0" encoding="utf-8"?>
<a:theme xmlns:a="http://schemas.openxmlformats.org/drawingml/2006/main" name="KT PPT">
  <a:themeElements>
    <a:clrScheme name="Custom 5">
      <a:dk1>
        <a:sysClr val="windowText" lastClr="000000"/>
      </a:dk1>
      <a:lt1>
        <a:sysClr val="window" lastClr="FFFFFF"/>
      </a:lt1>
      <a:dk2>
        <a:srgbClr val="313231"/>
      </a:dk2>
      <a:lt2>
        <a:srgbClr val="E7E6E6"/>
      </a:lt2>
      <a:accent1>
        <a:srgbClr val="FF0000"/>
      </a:accent1>
      <a:accent2>
        <a:srgbClr val="00C0AA"/>
      </a:accent2>
      <a:accent3>
        <a:srgbClr val="A5A5A5"/>
      </a:accent3>
      <a:accent4>
        <a:srgbClr val="7D7D7D"/>
      </a:accent4>
      <a:accent5>
        <a:srgbClr val="4B4B4B"/>
      </a:accent5>
      <a:accent6>
        <a:srgbClr val="323232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1C1D5"/>
        </a:solidFill>
        <a:ln w="9525">
          <a:noFill/>
        </a:ln>
      </a:spPr>
      <a:bodyPr rtlCol="0" anchor="ctr"/>
      <a:lstStyle>
        <a:defPPr>
          <a:lnSpc>
            <a:spcPct val="150000"/>
          </a:lnSpc>
          <a:defRPr sz="800" dirty="0">
            <a:solidFill>
              <a:schemeClr val="tx1">
                <a:lumMod val="75000"/>
                <a:lumOff val="25000"/>
              </a:schemeClr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ct val="130000"/>
          </a:lnSpc>
          <a:defRPr sz="900" spc="-6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5">
    <a:dk1>
      <a:sysClr val="windowText" lastClr="000000"/>
    </a:dk1>
    <a:lt1>
      <a:sysClr val="window" lastClr="FFFFFF"/>
    </a:lt1>
    <a:dk2>
      <a:srgbClr val="313231"/>
    </a:dk2>
    <a:lt2>
      <a:srgbClr val="E7E6E6"/>
    </a:lt2>
    <a:accent1>
      <a:srgbClr val="FF0000"/>
    </a:accent1>
    <a:accent2>
      <a:srgbClr val="00C0AA"/>
    </a:accent2>
    <a:accent3>
      <a:srgbClr val="A5A5A5"/>
    </a:accent3>
    <a:accent4>
      <a:srgbClr val="7D7D7D"/>
    </a:accent4>
    <a:accent5>
      <a:srgbClr val="4B4B4B"/>
    </a:accent5>
    <a:accent6>
      <a:srgbClr val="323232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19911</TotalTime>
  <Words>4938</Words>
  <Application>Microsoft Office PowerPoint</Application>
  <PresentationFormat>A4 용지(210x297mm)</PresentationFormat>
  <Paragraphs>1863</Paragraphs>
  <Slides>40</Slides>
  <Notes>27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1" baseType="lpstr">
      <vt:lpstr>KT PPT</vt:lpstr>
      <vt:lpstr>UI 설계서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설계서</dc:title>
  <dc:creator>dong-suk Park</dc:creator>
  <cp:lastModifiedBy>parkds001@gmail.com</cp:lastModifiedBy>
  <cp:revision>1110</cp:revision>
  <dcterms:modified xsi:type="dcterms:W3CDTF">2026-03-13T05:12:45Z</dcterms:modified>
</cp:coreProperties>
</file>